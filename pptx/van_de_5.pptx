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457200"/>
          </a:xfrm>
          <a:prstGeom prst="rect">
            <a:avLst/>
          </a:prstGeom>
          <a:noFill/>
        </p:spPr>
        <p:txBody>
          <a:bodyPr wrap="none">
            <a:spAutoFit/>
          </a:bodyPr>
          <a:lstStyle/>
          <a:p>
            <a:pPr algn="ctr">
              <a:defRPr sz="1400" b="1">
                <a:solidFill>
                  <a:srgbClr val="F37021"/>
                </a:solidFill>
                <a:latin typeface="Times New Roman"/>
              </a:defRPr>
            </a:pPr>
            <a:r>
              <a:t>TRƯỜNG ĐẠI HỌC ĐẠI NAM  •  HỌC ĐỂ THAY ĐỔI</a:t>
            </a:r>
          </a:p>
        </p:txBody>
      </p:sp>
      <p:sp>
        <p:nvSpPr>
          <p:cNvPr id="4" name="TextBox 3"/>
          <p:cNvSpPr txBox="1"/>
          <p:nvPr/>
        </p:nvSpPr>
        <p:spPr>
          <a:xfrm>
            <a:off x="1371600" y="1371600"/>
            <a:ext cx="9448495" cy="548640"/>
          </a:xfrm>
          <a:prstGeom prst="rect">
            <a:avLst/>
          </a:prstGeom>
          <a:noFill/>
        </p:spPr>
        <p:txBody>
          <a:bodyPr wrap="none">
            <a:spAutoFit/>
          </a:bodyPr>
          <a:lstStyle/>
          <a:p>
            <a:pPr algn="ctr">
              <a:defRPr sz="1500" b="1">
                <a:solidFill>
                  <a:srgbClr val="FFFFFF"/>
                </a:solidFill>
                <a:latin typeface="Times New Roman"/>
              </a:defRPr>
            </a:pPr>
            <a:r>
              <a:t>GIÁO DỤC QUỐC PHÒNG &amp; AN NINH (HỌC PHẦN 2) • VẤN ĐỀ 05</a:t>
            </a:r>
          </a:p>
        </p:txBody>
      </p:sp>
      <p:sp>
        <p:nvSpPr>
          <p:cNvPr id="5" name="TextBox 4"/>
          <p:cNvSpPr txBox="1"/>
          <p:nvPr/>
        </p:nvSpPr>
        <p:spPr>
          <a:xfrm>
            <a:off x="914400" y="2103120"/>
            <a:ext cx="10362895" cy="2560320"/>
          </a:xfrm>
          <a:prstGeom prst="rect">
            <a:avLst/>
          </a:prstGeom>
          <a:noFill/>
        </p:spPr>
        <p:txBody>
          <a:bodyPr wrap="square">
            <a:spAutoFit/>
          </a:bodyPr>
          <a:lstStyle/>
          <a:p>
            <a:pPr algn="ctr">
              <a:defRPr sz="3000" b="1">
                <a:solidFill>
                  <a:srgbClr val="F37021"/>
                </a:solidFill>
                <a:latin typeface="Times New Roman"/>
              </a:defRPr>
            </a:pPr>
            <a:r>
              <a:t>ÂM MƯU, THỦ ĐOẠN LỢI DỤNG VẤN ĐỀ DÂN TỘC VÀ CÁC GIẢI PHÁP CƠ BẢN PHÒNG, CHỐNG</a:t>
            </a:r>
          </a:p>
        </p:txBody>
      </p:sp>
      <p:sp>
        <p:nvSpPr>
          <p:cNvPr id="6" name="TextBox 5"/>
          <p:cNvSpPr txBox="1"/>
          <p:nvPr/>
        </p:nvSpPr>
        <p:spPr>
          <a:xfrm>
            <a:off x="914400" y="5303520"/>
            <a:ext cx="10362895" cy="731520"/>
          </a:xfrm>
          <a:prstGeom prst="rect">
            <a:avLst/>
          </a:prstGeom>
          <a:noFill/>
        </p:spPr>
        <p:txBody>
          <a:bodyPr wrap="none">
            <a:spAutoFit/>
          </a:bodyPr>
          <a:lstStyle/>
          <a:p>
            <a:pPr algn="ctr">
              <a:defRPr sz="1900" b="1">
                <a:solidFill>
                  <a:srgbClr val="FFFFFF"/>
                </a:solidFill>
                <a:latin typeface="Times New Roman"/>
              </a:defRPr>
            </a:pPr>
            <a:r>
              <a:t>Nhóm thực hiện: Nhóm 5 (Lớp GDQP-AN)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02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TỔNG QUAN BÀI HỌC</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Mục tiêu &amp; Khung nội dung thuyết trình</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01. Âm mưu &amp; 4 Thủ đoạn</a:t>
            </a:r>
          </a:p>
          <a:p>
            <a:pPr>
              <a:defRPr sz="1700">
                <a:solidFill>
                  <a:srgbClr val="1E293B"/>
                </a:solidFill>
                <a:latin typeface="Times New Roman"/>
              </a:defRPr>
            </a:pPr>
            <a:r>
              <a:t>• Âm mưu: Dùng vấn đề dân tộc làm 'ngòi nổ' Diễn biến hòa bình, kích động ly khai, tự trị.</a:t>
            </a:r>
          </a:p>
          <a:p>
            <a:pPr>
              <a:defRPr sz="1700">
                <a:solidFill>
                  <a:srgbClr val="1E293B"/>
                </a:solidFill>
                <a:latin typeface="Times New Roman"/>
              </a:defRPr>
            </a:pPr>
            <a:r>
              <a:t>• 4 thủ đoạn: Xuyên tạc lịch sử; kích động tranh chấp đất đai; tài trợ FULRO; quốc tế hóa nhân quyền.</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02. 4 Giải pháp Chiến lược</a:t>
            </a:r>
          </a:p>
          <a:p>
            <a:pPr>
              <a:defRPr sz="1700">
                <a:solidFill>
                  <a:srgbClr val="1E293B"/>
                </a:solidFill>
                <a:latin typeface="Times New Roman"/>
              </a:defRPr>
            </a:pPr>
            <a:r>
              <a:t>• GP1: Đẩy mạnh tuyên truyền tạo 'miễn dịch tư tưởng'.</a:t>
            </a:r>
          </a:p>
          <a:p>
            <a:pPr>
              <a:defRPr sz="1700">
                <a:solidFill>
                  <a:srgbClr val="1E293B"/>
                </a:solidFill>
                <a:latin typeface="Times New Roman"/>
              </a:defRPr>
            </a:pPr>
            <a:r>
              <a:t>• GP2: Phát triển KT-XH tăng 'nội lực xã hội'.</a:t>
            </a:r>
          </a:p>
          <a:p>
            <a:pPr>
              <a:defRPr sz="1700">
                <a:solidFill>
                  <a:srgbClr val="1E293B"/>
                </a:solidFill>
                <a:latin typeface="Times New Roman"/>
              </a:defRPr>
            </a:pPr>
            <a:r>
              <a:t>• GP3: Xây dựng hệ thống chính trị cơ sở vững mạnh (then chốt).</a:t>
            </a:r>
          </a:p>
          <a:p>
            <a:pPr>
              <a:defRPr sz="1700">
                <a:solidFill>
                  <a:srgbClr val="1E293B"/>
                </a:solidFill>
                <a:latin typeface="Times New Roman"/>
              </a:defRPr>
            </a:pPr>
            <a:r>
              <a:t>• GP4: Chủ động đấu tranh và xử lý dứt điểm điểm nóng.</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03. Trách nhiệm Sinh viên DNU</a:t>
            </a:r>
          </a:p>
          <a:p>
            <a:pPr>
              <a:defRPr sz="1700">
                <a:solidFill>
                  <a:srgbClr val="1E293B"/>
                </a:solidFill>
                <a:latin typeface="Times New Roman"/>
              </a:defRPr>
            </a:pPr>
            <a:r>
              <a:t>• Tuyệt đối trung thành với Đảng, tu dưỡng đạo đức, nâng cao cảnh giác, xung kích bảo vệ Tổ quốc.</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defense.jpg"/>
          <p:cNvPicPr>
            <a:picLocks noChangeAspect="1"/>
          </p:cNvPicPr>
          <p:nvPr/>
        </p:nvPicPr>
        <p:blipFill>
          <a:blip r:embed="rId3"/>
          <a:stretch>
            <a:fillRect/>
          </a:stretch>
        </p:blipFill>
        <p:spPr>
          <a:xfrm>
            <a:off x="7040880" y="1630485"/>
            <a:ext cx="4602175" cy="3313566"/>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Giữ vững thế trận lòng dân: Nhận diện chuẩn xác âm mưu và thực hiện đồng bộ 4 giải pháp là chìa khóa giữ vững bình yên Tổ quốc.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03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NHẬN DIỆN ÂM MƯU</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Âm mưu thù địch: Lấy vấn đề dân tộc làm “Ngòi nổ”</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Vị trí 'Ngòi nổ' trong Diễn biến hòa bình</a:t>
            </a:r>
          </a:p>
          <a:p>
            <a:pPr>
              <a:defRPr sz="1700">
                <a:solidFill>
                  <a:srgbClr val="1E293B"/>
                </a:solidFill>
                <a:latin typeface="Times New Roman"/>
              </a:defRPr>
            </a:pPr>
            <a:r>
              <a:t>• Kẻ địch coi dân tộc là mũi nhọn dễ kích động nhất để gây mất ổn định chính trị từ bên trong.</a:t>
            </a:r>
          </a:p>
          <a:p>
            <a:pPr>
              <a:defRPr sz="1700">
                <a:solidFill>
                  <a:srgbClr val="1E293B"/>
                </a:solidFill>
                <a:latin typeface="Times New Roman"/>
              </a:defRPr>
            </a:pPr>
            <a:r>
              <a:t>• Mục tiêu cốt lõi: Phá vỡ khối đại đoàn kết toàn dân tộc, cô lập Đảng với nhân dân.</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Hai Mục tiêu Chiến lược của Địch</a:t>
            </a:r>
          </a:p>
          <a:p>
            <a:pPr>
              <a:defRPr sz="1700">
                <a:solidFill>
                  <a:srgbClr val="1E293B"/>
                </a:solidFill>
                <a:latin typeface="Times New Roman"/>
              </a:defRPr>
            </a:pPr>
            <a:r>
              <a:t>• Trong nước: Tạo các 'điểm nóng chính trị', kích động bạo loạn, làm suy yếu chính quyền.</a:t>
            </a:r>
          </a:p>
          <a:p>
            <a:pPr>
              <a:defRPr sz="1700">
                <a:solidFill>
                  <a:srgbClr val="1E293B"/>
                </a:solidFill>
                <a:latin typeface="Times New Roman"/>
              </a:defRPr>
            </a:pPr>
            <a:r>
              <a:t>• Quốc tế: Quốc tế hóa vấn đề dân tộc, vu cáo vi phạm nhân quyền, tạo cớ can thiệp ngoại giao.</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highland.jpg"/>
          <p:cNvPicPr>
            <a:picLocks noChangeAspect="1"/>
          </p:cNvPicPr>
          <p:nvPr/>
        </p:nvPicPr>
        <p:blipFill>
          <a:blip r:embed="rId3"/>
          <a:stretch>
            <a:fillRect/>
          </a:stretch>
        </p:blipFill>
        <p:spPr>
          <a:xfrm>
            <a:off x="7040880" y="1751292"/>
            <a:ext cx="4602175" cy="3071951"/>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Địa bàn trọng điểm: Tây Nguyên, Tây Bắc và Tây Nam Bộ là 3 địa bàn bị kẻ xấu tập trung chống phá do vị trí biên giới hiểm trở và đời sống còn khó khăn.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04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THỦ ĐOẠN CHỐNG PHÁ</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Bốn thủ đoạn chống phá Cực kỳ tinh vi &amp; nguy hiểm</a:t>
            </a:r>
          </a:p>
        </p:txBody>
      </p:sp>
      <p:sp>
        <p:nvSpPr>
          <p:cNvPr id="11" name="Rounded Rectangle 10"/>
          <p:cNvSpPr/>
          <p:nvPr/>
        </p:nvSpPr>
        <p:spPr>
          <a:xfrm>
            <a:off x="548640" y="1572768"/>
            <a:ext cx="6217920" cy="1037844"/>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Xuyên tạc lịch sử &amp; Kích động hằn thù</a:t>
            </a:r>
          </a:p>
          <a:p>
            <a:pPr>
              <a:defRPr sz="1700">
                <a:solidFill>
                  <a:srgbClr val="1E293B"/>
                </a:solidFill>
                <a:latin typeface="Times New Roman"/>
              </a:defRPr>
            </a:pPr>
            <a:r>
              <a:t>• Kích động tư tưởng dân tộc hẹp hòi, rêu rao luận điệu người Kinh 'xâm chiếm đất đai, đồng hóa văn hóa'.</a:t>
            </a:r>
          </a:p>
        </p:txBody>
      </p:sp>
      <p:sp>
        <p:nvSpPr>
          <p:cNvPr id="12" name="Rounded Rectangle 11"/>
          <p:cNvSpPr/>
          <p:nvPr/>
        </p:nvSpPr>
        <p:spPr>
          <a:xfrm>
            <a:off x="548640" y="2720340"/>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Lợi dụng tôn giáo lập tà đạo</a:t>
            </a:r>
          </a:p>
          <a:p>
            <a:pPr>
              <a:defRPr sz="1700">
                <a:solidFill>
                  <a:srgbClr val="1E293B"/>
                </a:solidFill>
                <a:latin typeface="Times New Roman"/>
              </a:defRPr>
            </a:pPr>
            <a:r>
              <a:t>• Thành lập 'Tin lành Đề Ga', 'Hà Mòn' để tập hợp lực lượng, lén lút sinh hoạt chính trị dưới vỏ bọc tôn giáo.</a:t>
            </a:r>
          </a:p>
        </p:txBody>
      </p:sp>
      <p:sp>
        <p:nvSpPr>
          <p:cNvPr id="13" name="Rounded Rectangle 12"/>
          <p:cNvSpPr/>
          <p:nvPr/>
        </p:nvSpPr>
        <p:spPr>
          <a:xfrm>
            <a:off x="548640" y="3867912"/>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3. Nuôi dưỡng tổ chức phản động lưu vong</a:t>
            </a:r>
          </a:p>
          <a:p>
            <a:pPr>
              <a:defRPr sz="1700">
                <a:solidFill>
                  <a:srgbClr val="1E293B"/>
                </a:solidFill>
                <a:latin typeface="Times New Roman"/>
              </a:defRPr>
            </a:pPr>
            <a:r>
              <a:t>• Duy trì tàn dư FULRO, tổ chức 'Người Thượng vì Công lý' ở nước ngoài tài trợ tiền, vũ khí kích động bạo loạn.</a:t>
            </a:r>
          </a:p>
        </p:txBody>
      </p:sp>
      <p:sp>
        <p:nvSpPr>
          <p:cNvPr id="14" name="Rounded Rectangle 13"/>
          <p:cNvSpPr/>
          <p:nvPr/>
        </p:nvSpPr>
        <p:spPr>
          <a:xfrm>
            <a:off x="548640" y="5015484"/>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4. Triệt để lợi dụng mạng xã hội</a:t>
            </a:r>
          </a:p>
          <a:p>
            <a:pPr>
              <a:defRPr sz="1700">
                <a:solidFill>
                  <a:srgbClr val="1E293B"/>
                </a:solidFill>
                <a:latin typeface="Times New Roman"/>
              </a:defRPr>
            </a:pPr>
            <a:r>
              <a:t>• Lập trang mạng giả mạo phát tán video cắt ghép, kích động khiếu kiện đông người và chống chính quyền.</a:t>
            </a:r>
          </a:p>
        </p:txBody>
      </p:sp>
      <p:sp>
        <p:nvSpPr>
          <p:cNvPr id="15" name="Rounded Rectangle 14"/>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vietnam_cyber.jpg"/>
          <p:cNvPicPr>
            <a:picLocks noChangeAspect="1"/>
          </p:cNvPicPr>
          <p:nvPr/>
        </p:nvPicPr>
        <p:blipFill>
          <a:blip r:embed="rId3"/>
          <a:stretch>
            <a:fillRect/>
          </a:stretch>
        </p:blipFill>
        <p:spPr>
          <a:xfrm>
            <a:off x="7040880" y="1751292"/>
            <a:ext cx="4602175" cy="3071951"/>
          </a:xfrm>
          <a:prstGeom prst="rect">
            <a:avLst/>
          </a:prstGeom>
        </p:spPr>
      </p:pic>
      <p:sp>
        <p:nvSpPr>
          <p:cNvPr id="17" name="TextBox 16"/>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Mặt trận không gian mạng: Kẻ xấu triệt để khai thác Internet để lôi kéo thanh niên nhẹ dạ. Nâng cao kỹ năng nhận diện thông tin độc hại là yêu cầu bức thiết.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05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BÀI HỌC THỰC TIỄN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Case Study: Bạo loạn Tây Nguyên (2001, 2004) &amp; Bài học</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Bản chất &amp; Diễn biến Vụ việc</a:t>
            </a:r>
          </a:p>
          <a:p>
            <a:pPr>
              <a:defRPr sz="1700">
                <a:solidFill>
                  <a:srgbClr val="1E293B"/>
                </a:solidFill>
                <a:latin typeface="Times New Roman"/>
              </a:defRPr>
            </a:pPr>
            <a:r>
              <a:t>• Tháng 2/2001 và 4/2004: FULRO lưu vong (Ksor Kơk) xúi giục hàng ngàn đồng bào biểu tình tại Gia Lai, Đắk Lắk, đòi lập 'Nhà nước Đề Ga'.</a:t>
            </a:r>
          </a:p>
          <a:p>
            <a:pPr>
              <a:defRPr sz="1700">
                <a:solidFill>
                  <a:srgbClr val="1E293B"/>
                </a:solidFill>
                <a:latin typeface="Times New Roman"/>
              </a:defRPr>
            </a:pPr>
            <a:r>
              <a:t>• Ngày 11/6/2023: Nhóm vũ trang tấn công 2 trụ sở xã tại Đắk Lắk sát hại dã man cán bộ và người dân.</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Ba Bài học Xương máu</a:t>
            </a:r>
          </a:p>
          <a:p>
            <a:pPr>
              <a:defRPr sz="1700">
                <a:solidFill>
                  <a:srgbClr val="1E293B"/>
                </a:solidFill>
                <a:latin typeface="Times New Roman"/>
              </a:defRPr>
            </a:pPr>
            <a:r>
              <a:t>• Không để bị động bất ngờ: Nắm chắc tình hình buôn làng, lắng nghe tâm tư nguyện vọng của dân.</a:t>
            </a:r>
          </a:p>
          <a:p>
            <a:pPr>
              <a:defRPr sz="1700">
                <a:solidFill>
                  <a:srgbClr val="1E293B"/>
                </a:solidFill>
                <a:latin typeface="Times New Roman"/>
              </a:defRPr>
            </a:pPr>
            <a:r>
              <a:t>• Phát huy vai trò người có uy tín: Già làng, Trưởng bản là cầu nối tin cậy giúp bà con nhận rõ lẽ phải.</a:t>
            </a:r>
          </a:p>
          <a:p>
            <a:pPr>
              <a:defRPr sz="1700">
                <a:solidFill>
                  <a:srgbClr val="1E293B"/>
                </a:solidFill>
                <a:latin typeface="Times New Roman"/>
              </a:defRPr>
            </a:pPr>
            <a:r>
              <a:t>• Chăm lo sinh kế bền vững: Giải quyết căn bản vấn đề đất sản xuất, nước sinh hoạt và việc làm.</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nature.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Bài học cảnh giác: Khi kinh tế phát triển, đời sống bà con được nâng cao và hệ thống chính trị vững mạnh thì không âm mưu nào chia rẽ được lòng dân.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06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GIẢI PHÁP CHIẾN LƯỢC</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Giải pháp 1 &amp; 2: Tạo “Miễn dịch tư tưởng” &amp; Tăng “Nội lực xã hội”</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Giải pháp 1: Tuyên truyền tạo 'Miễn dịch tư tưởng'</a:t>
            </a:r>
          </a:p>
          <a:p>
            <a:pPr>
              <a:defRPr sz="1700">
                <a:solidFill>
                  <a:srgbClr val="1E293B"/>
                </a:solidFill>
                <a:latin typeface="Times New Roman"/>
              </a:defRPr>
            </a:pPr>
            <a:r>
              <a:t>• Tuyên truyền sâu rộng chủ trương dân tộc của Đảng và pháp luật Nhà nước.</a:t>
            </a:r>
          </a:p>
          <a:p>
            <a:pPr>
              <a:defRPr sz="1700">
                <a:solidFill>
                  <a:srgbClr val="1E293B"/>
                </a:solidFill>
                <a:latin typeface="Times New Roman"/>
              </a:defRPr>
            </a:pPr>
            <a:r>
              <a:t>• Vạch trần bản chất phản động của FULRO, 'Nhà nước Đề Ga', 'Tin lành Đề Ga'.</a:t>
            </a:r>
          </a:p>
          <a:p>
            <a:pPr>
              <a:defRPr sz="1700">
                <a:solidFill>
                  <a:srgbClr val="1E293B"/>
                </a:solidFill>
                <a:latin typeface="Times New Roman"/>
              </a:defRPr>
            </a:pPr>
            <a:r>
              <a:t>• Đổi mới phương thức: Dùng tiếng mẹ đẻ của đồng bào, phát thanh truyền hình tiếng dân tộc.</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Giải pháp 2: Phát triển KT-XH tăng 'Nội lực xã hội'</a:t>
            </a:r>
          </a:p>
          <a:p>
            <a:pPr>
              <a:defRPr sz="1700">
                <a:solidFill>
                  <a:srgbClr val="1E293B"/>
                </a:solidFill>
                <a:latin typeface="Times New Roman"/>
              </a:defRPr>
            </a:pPr>
            <a:r>
              <a:t>• Đẩy mạnh giảm nghèo bền vững, xây dựng nông thôn mới vùng sâu vùng xa.</a:t>
            </a:r>
          </a:p>
          <a:p>
            <a:pPr>
              <a:defRPr sz="1700">
                <a:solidFill>
                  <a:srgbClr val="1E293B"/>
                </a:solidFill>
                <a:latin typeface="Times New Roman"/>
              </a:defRPr>
            </a:pPr>
            <a:r>
              <a:t>• Giải quyết đất ở, đất sản xuất, nước sinh hoạt và đào tạo nghề cho thanh niên DTTS.</a:t>
            </a:r>
          </a:p>
          <a:p>
            <a:pPr>
              <a:defRPr sz="1700">
                <a:solidFill>
                  <a:srgbClr val="1E293B"/>
                </a:solidFill>
                <a:latin typeface="Times New Roman"/>
              </a:defRPr>
            </a:pPr>
            <a:r>
              <a:t>• Bảo tồn và phát huy bản sắc văn hóa truyền thống tốt đẹp.</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highland.jpg"/>
          <p:cNvPicPr>
            <a:picLocks noChangeAspect="1"/>
          </p:cNvPicPr>
          <p:nvPr/>
        </p:nvPicPr>
        <p:blipFill>
          <a:blip r:embed="rId3"/>
          <a:stretch>
            <a:fillRect/>
          </a:stretch>
        </p:blipFill>
        <p:spPr>
          <a:xfrm>
            <a:off x="7040880" y="1751292"/>
            <a:ext cx="4602175" cy="3071951"/>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Phát triển kinh tế là nền tảng: No ấm, bình yên chính là bức tường thành vững chắc nhất. Đời sống no đủ thì kẻ xấu không còn đất kích động.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07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GIẢI PHÁP THEN CHỐT</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Giải pháp 3: Xây dựng hệ thống chính trị cơ sở Vững mạnh</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Vị trí Then chốt của Hệ thống Cơ sở</a:t>
            </a:r>
          </a:p>
          <a:p>
            <a:pPr>
              <a:defRPr sz="1700">
                <a:solidFill>
                  <a:srgbClr val="1E293B"/>
                </a:solidFill>
                <a:latin typeface="Times New Roman"/>
              </a:defRPr>
            </a:pPr>
            <a:r>
              <a:t>• Cơ sở (xã, thôn, buôn làng) là nơi trực tiếp đưa chủ trương đến với nhân dân.</a:t>
            </a:r>
          </a:p>
          <a:p>
            <a:pPr>
              <a:defRPr sz="1700">
                <a:solidFill>
                  <a:srgbClr val="1E293B"/>
                </a:solidFill>
                <a:latin typeface="Times New Roman"/>
              </a:defRPr>
            </a:pPr>
            <a:r>
              <a:t>• Tuyến đầu phát hiện và ngăn chặn mọi biểu hiện mất ổn định an ninh trật tự.</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3. Ba Nhiệm vụ Trọng tâm Cần thực hiện</a:t>
            </a:r>
          </a:p>
          <a:p>
            <a:pPr>
              <a:defRPr sz="1700">
                <a:solidFill>
                  <a:srgbClr val="1E293B"/>
                </a:solidFill>
                <a:latin typeface="Times New Roman"/>
              </a:defRPr>
            </a:pPr>
            <a:r>
              <a:t>• Kiện toàn tổ chức: Nâng cao sức chiến đấu của chi bộ Đảng thôn buôn; xóa thôn buôn 'trắng đảng viên'.</a:t>
            </a:r>
          </a:p>
          <a:p>
            <a:pPr>
              <a:defRPr sz="1700">
                <a:solidFill>
                  <a:srgbClr val="1E293B"/>
                </a:solidFill>
                <a:latin typeface="Times New Roman"/>
              </a:defRPr>
            </a:pPr>
            <a:r>
              <a:t>• Đào tạo cán bộ DTTS: Bố trí cán bộ là người bản địa am hiểu phong tục tập quán.</a:t>
            </a:r>
          </a:p>
          <a:p>
            <a:pPr>
              <a:defRPr sz="1700">
                <a:solidFill>
                  <a:srgbClr val="1E293B"/>
                </a:solidFill>
                <a:latin typeface="Times New Roman"/>
              </a:defRPr>
            </a:pPr>
            <a:r>
              <a:t>• Phát huy Già làng, Trưởng bản: Tôn vinh và phát huy vai trò người có uy tín trong hòa giải cơ sở.</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unity.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Gần dân, hiểu dân: Cán bộ cơ sở thực hiện tốt 'Cùng ăn, cùng ở, cùng làm, cùng nói tiếng dân tộc' để củng cố vững chắc niềm tin của nhân dân.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08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ĐẤU TRANH &amp; XỬ LÝ</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Giải pháp 4: Chủ động đấu tranh tư tưởng &amp; Xử lý dứt điểm điểm nóng</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Chủ động Đấu tranh Tư tưởng - Lý luận</a:t>
            </a:r>
          </a:p>
          <a:p>
            <a:pPr>
              <a:defRPr sz="1700">
                <a:solidFill>
                  <a:srgbClr val="1E293B"/>
                </a:solidFill>
                <a:latin typeface="Times New Roman"/>
              </a:defRPr>
            </a:pPr>
            <a:r>
              <a:t>• Kịp thời vạch trần các luận điệu vu cáo, xuyên tạc của các thế lực thù địch.</a:t>
            </a:r>
          </a:p>
          <a:p>
            <a:pPr>
              <a:defRPr sz="1700">
                <a:solidFill>
                  <a:srgbClr val="1E293B"/>
                </a:solidFill>
                <a:latin typeface="Times New Roman"/>
              </a:defRPr>
            </a:pPr>
            <a:r>
              <a:t>• Vô hiệu hóa hoạt động của hội nhóm phản động lưu vong; cô lập phần tử kích động.</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Nguyên tắc Xử lý Điểm nóng Dân tộc</a:t>
            </a:r>
          </a:p>
          <a:p>
            <a:pPr>
              <a:defRPr sz="1700">
                <a:solidFill>
                  <a:srgbClr val="1E293B"/>
                </a:solidFill>
                <a:latin typeface="Times New Roman"/>
              </a:defRPr>
            </a:pPr>
            <a:r>
              <a:t>• Thực hiện phương châm '4 tại chỗ': Chỉ huy, lực lượng, phương tiện, hậu cần tại chỗ.</a:t>
            </a:r>
          </a:p>
          <a:p>
            <a:pPr>
              <a:defRPr sz="1700">
                <a:solidFill>
                  <a:srgbClr val="1E293B"/>
                </a:solidFill>
                <a:latin typeface="Times New Roman"/>
              </a:defRPr>
            </a:pPr>
            <a:r>
              <a:t>• Dập tắt mầm mống bất ổn ngay từ cơ sở, không để lan rộng hay quốc tế hóa.</a:t>
            </a:r>
          </a:p>
          <a:p>
            <a:pPr>
              <a:defRPr sz="1700">
                <a:solidFill>
                  <a:srgbClr val="1E293B"/>
                </a:solidFill>
                <a:latin typeface="Times New Roman"/>
              </a:defRPr>
            </a:pPr>
            <a:r>
              <a:t>• Phân hóa đối tượng: Trừng trị nghiêm kẻ chủ mưu; bao dung người bị lừa gạt.</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law.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Bình yên từ sự chủ động: Pháp luật nghiêm minh trừng trị kẻ phá hoại, song chính sách nhân văn luôn rộng mở đón người lầm đường trở về buôn làng.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09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Sơ đồ tư duy: Âm mưu của địch &amp; 4 Giải pháp phòng chống</a:t>
            </a:r>
          </a:p>
        </p:txBody>
      </p:sp>
      <p:sp>
        <p:nvSpPr>
          <p:cNvPr id="10" name="Rounded Rectangle 9"/>
          <p:cNvSpPr/>
          <p:nvPr/>
        </p:nvSpPr>
        <p:spPr>
          <a:xfrm>
            <a:off x="1294790" y="1389888"/>
            <a:ext cx="9601200" cy="777240"/>
          </a:xfrm>
          <a:prstGeom prst="roundRect">
            <a:avLst/>
          </a:prstGeom>
          <a:solidFill>
            <a:srgbClr val="00254A"/>
          </a:solidFill>
          <a:ln w="3175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latin typeface="Times New Roman"/>
              </a:defRPr>
            </a:pPr>
            <a:r>
              <a:t>PHÒNG CHỐNG ĐỊCH LỢI DỤNG VẤN ĐỀ DÂN TỘC CHỐNG PHÁ VIỆT NAM</a:t>
            </a:r>
          </a:p>
        </p:txBody>
      </p:sp>
      <p:sp>
        <p:nvSpPr>
          <p:cNvPr id="11" name="Rounded Rectangle 10"/>
          <p:cNvSpPr/>
          <p:nvPr/>
        </p:nvSpPr>
        <p:spPr>
          <a:xfrm>
            <a:off x="548640"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1. ÂM MƯU CỦA ĐỊCH</a:t>
            </a:r>
          </a:p>
          <a:p>
            <a:pPr>
              <a:defRPr sz="1600">
                <a:solidFill>
                  <a:srgbClr val="1E293B"/>
                </a:solidFill>
                <a:latin typeface="Times New Roman"/>
              </a:defRPr>
            </a:pPr>
            <a:r>
              <a:t>• Lấy dân tộc làm 'ngòi nổ'</a:t>
            </a:r>
          </a:p>
          <a:p>
            <a:pPr>
              <a:defRPr sz="1600">
                <a:solidFill>
                  <a:srgbClr val="1E293B"/>
                </a:solidFill>
                <a:latin typeface="Times New Roman"/>
              </a:defRPr>
            </a:pPr>
            <a:r>
              <a:t>• Xuyên tạc lịch sử, kích động ly khai</a:t>
            </a:r>
          </a:p>
          <a:p>
            <a:pPr>
              <a:defRPr sz="1600">
                <a:solidFill>
                  <a:srgbClr val="1E293B"/>
                </a:solidFill>
                <a:latin typeface="Times New Roman"/>
              </a:defRPr>
            </a:pPr>
            <a:r>
              <a:t>• Nuôi dưỡng FULRO bạo loạn</a:t>
            </a:r>
          </a:p>
          <a:p>
            <a:pPr>
              <a:defRPr sz="1600">
                <a:solidFill>
                  <a:srgbClr val="1E293B"/>
                </a:solidFill>
                <a:latin typeface="Times New Roman"/>
              </a:defRPr>
            </a:pPr>
            <a:r>
              <a:t>• Quốc tế hóa vấn đề nhân quyền</a:t>
            </a:r>
          </a:p>
        </p:txBody>
      </p:sp>
      <p:sp>
        <p:nvSpPr>
          <p:cNvPr id="12" name="Rounded Rectangle 11"/>
          <p:cNvSpPr/>
          <p:nvPr/>
        </p:nvSpPr>
        <p:spPr>
          <a:xfrm>
            <a:off x="3392424"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2. GP 1 &amp; 2 (NỘI LỰC)</a:t>
            </a:r>
          </a:p>
          <a:p>
            <a:pPr>
              <a:defRPr sz="1600">
                <a:solidFill>
                  <a:srgbClr val="1E293B"/>
                </a:solidFill>
                <a:latin typeface="Times New Roman"/>
              </a:defRPr>
            </a:pPr>
            <a:r>
              <a:t>• GP1: Tuyên truyền tạo miễn dịch tư tưởng</a:t>
            </a:r>
          </a:p>
          <a:p>
            <a:pPr>
              <a:defRPr sz="1600">
                <a:solidFill>
                  <a:srgbClr val="1E293B"/>
                </a:solidFill>
                <a:latin typeface="Times New Roman"/>
              </a:defRPr>
            </a:pPr>
            <a:r>
              <a:t>• GP2: Phát triển KT-XH tăng nội lực</a:t>
            </a:r>
          </a:p>
          <a:p>
            <a:pPr>
              <a:defRPr sz="1600">
                <a:solidFill>
                  <a:srgbClr val="1E293B"/>
                </a:solidFill>
                <a:latin typeface="Times New Roman"/>
              </a:defRPr>
            </a:pPr>
            <a:r>
              <a:t>• Chăm lo đất sản xuất, việc làm</a:t>
            </a:r>
          </a:p>
        </p:txBody>
      </p:sp>
      <p:sp>
        <p:nvSpPr>
          <p:cNvPr id="13" name="Rounded Rectangle 12"/>
          <p:cNvSpPr/>
          <p:nvPr/>
        </p:nvSpPr>
        <p:spPr>
          <a:xfrm>
            <a:off x="6236208"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3. GP 3 (THEN CHỐT)</a:t>
            </a:r>
          </a:p>
          <a:p>
            <a:pPr>
              <a:defRPr sz="1600">
                <a:solidFill>
                  <a:srgbClr val="1E293B"/>
                </a:solidFill>
                <a:latin typeface="Times New Roman"/>
              </a:defRPr>
            </a:pPr>
            <a:r>
              <a:t>• Xây dựng chính trị cơ sở vững chắc</a:t>
            </a:r>
          </a:p>
          <a:p>
            <a:pPr>
              <a:defRPr sz="1600">
                <a:solidFill>
                  <a:srgbClr val="1E293B"/>
                </a:solidFill>
                <a:latin typeface="Times New Roman"/>
              </a:defRPr>
            </a:pPr>
            <a:r>
              <a:t>• Đào tạo cán bộ là người DTTS</a:t>
            </a:r>
          </a:p>
          <a:p>
            <a:pPr>
              <a:defRPr sz="1600">
                <a:solidFill>
                  <a:srgbClr val="1E293B"/>
                </a:solidFill>
                <a:latin typeface="Times New Roman"/>
              </a:defRPr>
            </a:pPr>
            <a:r>
              <a:t>• Phát huy vai trò Già làng, Trưởng bản</a:t>
            </a:r>
          </a:p>
        </p:txBody>
      </p:sp>
      <p:sp>
        <p:nvSpPr>
          <p:cNvPr id="14" name="Rounded Rectangle 13"/>
          <p:cNvSpPr/>
          <p:nvPr/>
        </p:nvSpPr>
        <p:spPr>
          <a:xfrm>
            <a:off x="9079992"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4. GP 4 (ĐẤU TRANH)</a:t>
            </a:r>
          </a:p>
          <a:p>
            <a:pPr>
              <a:defRPr sz="1600">
                <a:solidFill>
                  <a:srgbClr val="1E293B"/>
                </a:solidFill>
                <a:latin typeface="Times New Roman"/>
              </a:defRPr>
            </a:pPr>
            <a:r>
              <a:t>• Chủ động đấu tranh tư tưởng</a:t>
            </a:r>
          </a:p>
          <a:p>
            <a:pPr>
              <a:defRPr sz="1600">
                <a:solidFill>
                  <a:srgbClr val="1E293B"/>
                </a:solidFill>
                <a:latin typeface="Times New Roman"/>
              </a:defRPr>
            </a:pPr>
            <a:r>
              <a:t>• Xử lý điểm nóng theo '4 tại chỗ'</a:t>
            </a:r>
          </a:p>
          <a:p>
            <a:pPr>
              <a:defRPr sz="1600">
                <a:solidFill>
                  <a:srgbClr val="1E293B"/>
                </a:solidFill>
                <a:latin typeface="Times New Roman"/>
              </a:defRPr>
            </a:pPr>
            <a:r>
              <a:t>• Trừng trị kẻ đầu sỏ, khoan hồng</a:t>
            </a:r>
          </a:p>
        </p:txBody>
      </p:sp>
      <p:sp>
        <p:nvSpPr>
          <p:cNvPr id="15" name="Rounded Rectangle 14"/>
          <p:cNvSpPr/>
          <p:nvPr/>
        </p:nvSpPr>
        <p:spPr>
          <a:xfrm>
            <a:off x="548640" y="5532120"/>
            <a:ext cx="11094415" cy="640080"/>
          </a:xfrm>
          <a:prstGeom prst="roundRect">
            <a:avLst/>
          </a:prstGeom>
          <a:solidFill>
            <a:srgbClr val="EBF3FA"/>
          </a:solidFill>
          <a:ln w="190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3B70"/>
                </a:solidFill>
                <a:latin typeface="Times New Roman"/>
              </a:defRPr>
            </a:pPr>
            <a:r>
              <a:t>★ Giữ vững an ninh chính trị và trật tự vùng dân tộc là trách nhiệm của cả hệ thống chính trị và toàn dân.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10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TRÁCH NHIỆM CÔNG DÂN - SINH VIÊN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Trách nhiệm của sinh viên Đại học Đại Nam (DNU)</a:t>
            </a:r>
          </a:p>
        </p:txBody>
      </p:sp>
      <p:sp>
        <p:nvSpPr>
          <p:cNvPr id="11" name="Rounded Rectangle 10"/>
          <p:cNvSpPr/>
          <p:nvPr/>
        </p:nvSpPr>
        <p:spPr>
          <a:xfrm>
            <a:off x="548640" y="1572768"/>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1. Tuyệt đối Trung thành với Đảng, Nhà nước &amp; Tổ quốc</a:t>
            </a:r>
          </a:p>
          <a:p>
            <a:pPr>
              <a:defRPr sz="1700">
                <a:solidFill>
                  <a:srgbClr val="1E293B"/>
                </a:solidFill>
                <a:latin typeface="Times New Roman"/>
              </a:defRPr>
            </a:pPr>
            <a:r>
              <a:t>Kiên định mục tiêu độc lập dân tộc gắn liền với Chủ nghĩa xã hội; chấp hành nghiêm chỉnh đường lối của Đảng, chính sách và pháp luật của Nhà nước.</a:t>
            </a:r>
          </a:p>
        </p:txBody>
      </p:sp>
      <p:sp>
        <p:nvSpPr>
          <p:cNvPr id="12" name="Rounded Rectangle 11"/>
          <p:cNvSpPr/>
          <p:nvPr/>
        </p:nvSpPr>
        <p:spPr>
          <a:xfrm>
            <a:off x="6248095" y="1572768"/>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2. Tích cực Học tập, Tu dưỡng Đạo đức Cách mạng</a:t>
            </a:r>
          </a:p>
          <a:p>
            <a:pPr>
              <a:defRPr sz="1700">
                <a:solidFill>
                  <a:srgbClr val="1E293B"/>
                </a:solidFill>
                <a:latin typeface="Times New Roman"/>
              </a:defRPr>
            </a:pPr>
            <a:r>
              <a:t>Rèn luyện bản lĩnh chính trị vững vàng, trau dồi tri thức khoa học, nâng cao trình độ chuyên môn; hoàn thành xuất sắc nhiệm vụ rèn luyện tại Nhà trường.</a:t>
            </a:r>
          </a:p>
        </p:txBody>
      </p:sp>
      <p:sp>
        <p:nvSpPr>
          <p:cNvPr id="13" name="Rounded Rectangle 12"/>
          <p:cNvSpPr/>
          <p:nvPr/>
        </p:nvSpPr>
        <p:spPr>
          <a:xfrm>
            <a:off x="548640" y="3977639"/>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3. Nêu cao Tinh thần Cảnh giác Cách mạng</a:t>
            </a:r>
          </a:p>
          <a:p>
            <a:pPr>
              <a:defRPr sz="1700">
                <a:solidFill>
                  <a:srgbClr val="1E293B"/>
                </a:solidFill>
                <a:latin typeface="Times New Roman"/>
              </a:defRPr>
            </a:pPr>
            <a:r>
              <a:t>Chủ động phòng ngừa và kiên quyết đấu tranh phản bác các quan điểm sai trái, thù địch; không chia sẻ thông tin xấu độc kích động chia rẽ dân tộc.</a:t>
            </a:r>
          </a:p>
        </p:txBody>
      </p:sp>
      <p:sp>
        <p:nvSpPr>
          <p:cNvPr id="14" name="Rounded Rectangle 13"/>
          <p:cNvSpPr/>
          <p:nvPr/>
        </p:nvSpPr>
        <p:spPr>
          <a:xfrm>
            <a:off x="6248095" y="3977639"/>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4. Xung kích Tham gia Bảo vệ An ninh Tổ quốc</a:t>
            </a:r>
          </a:p>
          <a:p>
            <a:pPr>
              <a:defRPr sz="1700">
                <a:solidFill>
                  <a:srgbClr val="1E293B"/>
                </a:solidFill>
                <a:latin typeface="Times New Roman"/>
              </a:defRPr>
            </a:pPr>
            <a:r>
              <a:t>Gương mẫu trong phong trào toàn dân bảo vệ an ninh Tổ quốc tại học đường và nơi cư trú; sẵn sàng thực hiện nghĩa vụ quân sự bảo vệ vững chắc Tổ quốc.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11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Mini Game: Đố vui củng cố kiến thức Vấn đề 5</a:t>
            </a:r>
          </a:p>
        </p:txBody>
      </p:sp>
      <p:sp>
        <p:nvSpPr>
          <p:cNvPr id="10" name="Rounded Rectangle 9"/>
          <p:cNvSpPr/>
          <p:nvPr/>
        </p:nvSpPr>
        <p:spPr>
          <a:xfrm>
            <a:off x="548640" y="1508760"/>
            <a:ext cx="11094415" cy="1051560"/>
          </a:xfrm>
          <a:prstGeom prst="roundRect">
            <a:avLst/>
          </a:prstGeom>
          <a:solidFill>
            <a:srgbClr val="EBF3FA"/>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0254A"/>
                </a:solidFill>
                <a:latin typeface="Times New Roman"/>
              </a:defRPr>
            </a:pPr>
            <a:r>
              <a:t>CÂU HỎI: Trong các giải pháp phòng chống địch lợi dụng vấn đề dân tộc, giải pháp nào giữ vị trí 'then chốt'?</a:t>
            </a:r>
          </a:p>
        </p:txBody>
      </p:sp>
      <p:sp>
        <p:nvSpPr>
          <p:cNvPr id="11" name="Rounded Rectangle 10"/>
          <p:cNvSpPr/>
          <p:nvPr/>
        </p:nvSpPr>
        <p:spPr>
          <a:xfrm>
            <a:off x="548640"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A. Tuyên truyền giáo dục truyền thông</a:t>
            </a:r>
          </a:p>
        </p:txBody>
      </p:sp>
      <p:sp>
        <p:nvSpPr>
          <p:cNvPr id="12" name="Rounded Rectangle 11"/>
          <p:cNvSpPr/>
          <p:nvPr/>
        </p:nvSpPr>
        <p:spPr>
          <a:xfrm>
            <a:off x="6248095"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B. Phát triển kinh tế - xã hội</a:t>
            </a:r>
          </a:p>
        </p:txBody>
      </p:sp>
      <p:sp>
        <p:nvSpPr>
          <p:cNvPr id="13" name="Rounded Rectangle 12"/>
          <p:cNvSpPr/>
          <p:nvPr/>
        </p:nvSpPr>
        <p:spPr>
          <a:xfrm>
            <a:off x="548640"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C. Xây dựng hệ thống chính trị cơ sở vững mạnh</a:t>
            </a:r>
          </a:p>
        </p:txBody>
      </p:sp>
      <p:sp>
        <p:nvSpPr>
          <p:cNvPr id="14" name="Rounded Rectangle 13"/>
          <p:cNvSpPr/>
          <p:nvPr/>
        </p:nvSpPr>
        <p:spPr>
          <a:xfrm>
            <a:off x="6248095"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D. Đấu tranh trên mặt trận ngoại giao</a:t>
            </a:r>
          </a:p>
        </p:txBody>
      </p:sp>
      <p:sp>
        <p:nvSpPr>
          <p:cNvPr id="15" name="Rounded Rectangle 14"/>
          <p:cNvSpPr/>
          <p:nvPr/>
        </p:nvSpPr>
        <p:spPr>
          <a:xfrm>
            <a:off x="548640" y="5257800"/>
            <a:ext cx="11094415" cy="960120"/>
          </a:xfrm>
          <a:prstGeom prst="roundRect">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65F46"/>
                </a:solidFill>
                <a:latin typeface="Times New Roman"/>
              </a:defRPr>
            </a:pPr>
            <a:r>
              <a:t>ĐÁP ÁN ĐÚNG &amp; GIẢI THÍCH: C. Xây dựng hệ thống chính trị cơ sở vững mạnh là giải pháp then chốt, quyết định sự thành bại trong việc bảo đảm an ninh chính trị và trật tự vùng dân tộc.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548640"/>
            <a:ext cx="10911535" cy="5760720"/>
          </a:xfrm>
          <a:prstGeom prst="roundRect">
            <a:avLst/>
          </a:prstGeom>
          <a:solidFill>
            <a:srgbClr val="FFFFFF"/>
          </a:solidFill>
          <a:ln w="381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i-nam-logo.png"/>
          <p:cNvPicPr>
            <a:picLocks noChangeAspect="1"/>
          </p:cNvPicPr>
          <p:nvPr/>
        </p:nvPicPr>
        <p:blipFill>
          <a:blip r:embed="rId2"/>
          <a:stretch>
            <a:fillRect/>
          </a:stretch>
        </p:blipFill>
        <p:spPr>
          <a:xfrm>
            <a:off x="9396374" y="777240"/>
            <a:ext cx="1850745" cy="502920"/>
          </a:xfrm>
          <a:prstGeom prst="rect">
            <a:avLst/>
          </a:prstGeom>
        </p:spPr>
      </p:pic>
      <p:sp>
        <p:nvSpPr>
          <p:cNvPr id="5" name="TextBox 4"/>
          <p:cNvSpPr txBox="1"/>
          <p:nvPr/>
        </p:nvSpPr>
        <p:spPr>
          <a:xfrm>
            <a:off x="1005840" y="777240"/>
            <a:ext cx="5486400" cy="411480"/>
          </a:xfrm>
          <a:prstGeom prst="rect">
            <a:avLst/>
          </a:prstGeom>
          <a:noFill/>
        </p:spPr>
        <p:txBody>
          <a:bodyPr wrap="none">
            <a:spAutoFit/>
          </a:bodyPr>
          <a:lstStyle/>
          <a:p>
            <a:pPr>
              <a:defRPr sz="1300" b="1">
                <a:solidFill>
                  <a:srgbClr val="F37021"/>
                </a:solidFill>
                <a:latin typeface="Times New Roman"/>
              </a:defRPr>
            </a:pPr>
            <a:r>
              <a:t>TRƯỜNG ĐẠI HỌC ĐẠI NAM  •  HỌC ĐỂ THAY ĐỔI</a:t>
            </a:r>
          </a:p>
        </p:txBody>
      </p:sp>
      <p:sp>
        <p:nvSpPr>
          <p:cNvPr id="6" name="TextBox 5"/>
          <p:cNvSpPr txBox="1"/>
          <p:nvPr/>
        </p:nvSpPr>
        <p:spPr>
          <a:xfrm>
            <a:off x="1005840" y="1371600"/>
            <a:ext cx="10180015" cy="731520"/>
          </a:xfrm>
          <a:prstGeom prst="rect">
            <a:avLst/>
          </a:prstGeom>
          <a:noFill/>
        </p:spPr>
        <p:txBody>
          <a:bodyPr wrap="none">
            <a:spAutoFit/>
          </a:bodyPr>
          <a:lstStyle/>
          <a:p>
            <a:pPr algn="ctr">
              <a:defRPr sz="3600" b="1">
                <a:solidFill>
                  <a:srgbClr val="F37021"/>
                </a:solidFill>
                <a:latin typeface="Times New Roman"/>
              </a:defRPr>
            </a:pPr>
            <a:r>
              <a:t>XIN TRÂN TRỌNG CẢM ƠN!</a:t>
            </a:r>
          </a:p>
        </p:txBody>
      </p:sp>
      <p:sp>
        <p:nvSpPr>
          <p:cNvPr id="7" name="TextBox 6"/>
          <p:cNvSpPr txBox="1"/>
          <p:nvPr/>
        </p:nvSpPr>
        <p:spPr>
          <a:xfrm>
            <a:off x="1005840" y="2148840"/>
            <a:ext cx="10180015" cy="548640"/>
          </a:xfrm>
          <a:prstGeom prst="rect">
            <a:avLst/>
          </a:prstGeom>
          <a:noFill/>
        </p:spPr>
        <p:txBody>
          <a:bodyPr wrap="none">
            <a:spAutoFit/>
          </a:bodyPr>
          <a:lstStyle/>
          <a:p>
            <a:pPr algn="ctr">
              <a:defRPr sz="2000" b="1">
                <a:solidFill>
                  <a:srgbClr val="00254A"/>
                </a:solidFill>
                <a:latin typeface="Times New Roman"/>
              </a:defRPr>
            </a:pPr>
            <a:r>
              <a:t>Kính chúc Thầy/Cô và các bạn sinh viên luôn dồi dào sức khỏe, hạnh phúc và thành công!</a:t>
            </a:r>
          </a:p>
        </p:txBody>
      </p:sp>
      <p:sp>
        <p:nvSpPr>
          <p:cNvPr id="8" name="TextBox 7"/>
          <p:cNvSpPr txBox="1"/>
          <p:nvPr/>
        </p:nvSpPr>
        <p:spPr>
          <a:xfrm>
            <a:off x="1371600" y="2697480"/>
            <a:ext cx="9448495" cy="868680"/>
          </a:xfrm>
          <a:prstGeom prst="rect">
            <a:avLst/>
          </a:prstGeom>
          <a:noFill/>
        </p:spPr>
        <p:txBody>
          <a:bodyPr wrap="square">
            <a:spAutoFit/>
          </a:bodyPr>
          <a:lstStyle/>
          <a:p>
            <a:pPr algn="ctr">
              <a:defRPr sz="1700">
                <a:solidFill>
                  <a:srgbClr val="1E293B"/>
                </a:solidFill>
                <a:latin typeface="Times New Roman"/>
              </a:defRPr>
            </a:pPr>
            <a:r>
              <a:t>Nhóm 5 xin chân thành cảm ơn Thầy/Cô giảng viên bộ môn Giáo dục Quốc phòng &amp; An ninh cùng toàn thể các bạn sinh viên lớp học phần đã chú ý theo dõi và lắng nghe bài thuyết trình của nhóm.</a:t>
            </a:r>
          </a:p>
        </p:txBody>
      </p:sp>
      <p:sp>
        <p:nvSpPr>
          <p:cNvPr id="9" name="Rounded Rectangle 8"/>
          <p:cNvSpPr/>
          <p:nvPr/>
        </p:nvSpPr>
        <p:spPr>
          <a:xfrm>
            <a:off x="1280160" y="3657600"/>
            <a:ext cx="9631375" cy="1417320"/>
          </a:xfrm>
          <a:prstGeom prst="roundRect">
            <a:avLst/>
          </a:prstGeom>
          <a:solidFill>
            <a:srgbClr val="EBF3FA"/>
          </a:solidFill>
          <a:ln w="317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ctr">
              <a:defRPr sz="1400" b="1">
                <a:solidFill>
                  <a:srgbClr val="003B70"/>
                </a:solidFill>
                <a:latin typeface="Times New Roman"/>
              </a:defRPr>
            </a:pPr>
            <a:r>
              <a:t>★ THÔNG ĐIỆP BẾ MẠC:</a:t>
            </a:r>
          </a:p>
          <a:p>
            <a:pPr>
              <a:defRPr sz="1700" b="1" i="1">
                <a:solidFill>
                  <a:srgbClr val="00254A"/>
                </a:solidFill>
                <a:latin typeface="Times New Roman"/>
              </a:defRPr>
            </a:pPr>
            <a:r>
              <a:t>"Nêu cao tinh thần cảnh giác cách mạng, kiên quyết đập tan mọi âm mưu lợi dụng vấn đề dân tộc phá hoại khối đại đoàn kết toàn dân và chủ quyền đất nước!"</a:t>
            </a:r>
          </a:p>
        </p:txBody>
      </p:sp>
      <p:sp>
        <p:nvSpPr>
          <p:cNvPr id="10" name="TextBox 9"/>
          <p:cNvSpPr txBox="1"/>
          <p:nvPr/>
        </p:nvSpPr>
        <p:spPr>
          <a:xfrm>
            <a:off x="1005840" y="5303520"/>
            <a:ext cx="10180015" cy="502920"/>
          </a:xfrm>
          <a:prstGeom prst="rect">
            <a:avLst/>
          </a:prstGeom>
          <a:noFill/>
        </p:spPr>
        <p:txBody>
          <a:bodyPr wrap="none">
            <a:spAutoFit/>
          </a:bodyPr>
          <a:lstStyle/>
          <a:p>
            <a:pPr algn="ctr">
              <a:defRPr sz="1400" b="1">
                <a:solidFill>
                  <a:srgbClr val="64748B"/>
                </a:solidFill>
                <a:latin typeface="Times New Roman"/>
              </a:defRPr>
            </a:pPr>
            <a:r>
              <a:t>Nhóm 5 (Lớp GDQP-AN)   •   Khoa Giáo dục Quốc phòng &amp; An ninh   •   Trường Đại học Đại Nam</a:t>
            </a:r>
          </a:p>
          <a:p>
            <a:pPr algn="ctr">
              <a:defRPr sz="1400" b="1">
                <a:solidFill>
                  <a:srgbClr val="F37021"/>
                </a:solidFill>
                <a:latin typeface="Times New Roman"/>
              </a:defRPr>
            </a:pPr>
            <a:r>
              <a:t>HỌC ĐỂ THAY ĐỔI   •   http://dainam.edu.vn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