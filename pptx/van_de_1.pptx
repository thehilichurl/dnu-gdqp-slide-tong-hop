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01</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DÂN TỘC, VẤN ĐỀ DÂN TỘC VÀ QUAN ĐIỂM GIẢI QUYẾT CỦA CHỦ NGHĨA MÁC - LÊNIN, TƯ TƯỞNG HỒ CHÍ MINH</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1 (Lớp GDQP-AN)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02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Khái niệm &amp; Bản chất</a:t>
            </a:r>
          </a:p>
          <a:p>
            <a:pPr>
              <a:defRPr sz="1700">
                <a:solidFill>
                  <a:srgbClr val="1E293B"/>
                </a:solidFill>
                <a:latin typeface="Times New Roman"/>
              </a:defRPr>
            </a:pPr>
            <a:r>
              <a:t>• 4 hình thái cộng đồng lịch sử; phân biệt nghĩa hẹp (tộc người) và nghĩa rộng (quốc gia dân tộc).</a:t>
            </a:r>
          </a:p>
          <a:p>
            <a:pPr>
              <a:defRPr sz="1700">
                <a:solidFill>
                  <a:srgbClr val="1E293B"/>
                </a:solidFill>
                <a:latin typeface="Times New Roman"/>
              </a:defRPr>
            </a:pPr>
            <a:r>
              <a:t>• Thực chất vấn đề dân tộc: Mối quan hệ, mâu thuẫn lợi ích giữa các tộc người và quốc gia.</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Quan điểm Lý luận</a:t>
            </a:r>
          </a:p>
          <a:p>
            <a:pPr>
              <a:defRPr sz="1700">
                <a:solidFill>
                  <a:srgbClr val="1E293B"/>
                </a:solidFill>
                <a:latin typeface="Times New Roman"/>
              </a:defRPr>
            </a:pPr>
            <a:r>
              <a:t>• Chủ nghĩa Mác - Lênin: 3 nguyên tắc bất hủ trong Cương lĩnh dân tộc của Lênin.</a:t>
            </a:r>
          </a:p>
          <a:p>
            <a:pPr>
              <a:defRPr sz="1700">
                <a:solidFill>
                  <a:srgbClr val="1E293B"/>
                </a:solidFill>
                <a:latin typeface="Times New Roman"/>
              </a:defRPr>
            </a:pPr>
            <a:r>
              <a:t>• Tư tưởng Hồ Chí Minh: Độc lập dân tộc gắn liền CNXH; bình đẳng, đoàn kết, tương trợ toàn diện.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Ý nghĩa &amp; Trách nhiệm</a:t>
            </a:r>
          </a:p>
          <a:p>
            <a:pPr>
              <a:defRPr sz="1700">
                <a:solidFill>
                  <a:srgbClr val="1E293B"/>
                </a:solidFill>
                <a:latin typeface="Times New Roman"/>
              </a:defRPr>
            </a:pPr>
            <a:r>
              <a:t>• Ý nghĩa cách mạng: Nền tảng củng cố khối đại đoàn kết, bảo vệ vững chắc Tổ quốc.</a:t>
            </a:r>
          </a:p>
          <a:p>
            <a:pPr>
              <a:defRPr sz="1700">
                <a:solidFill>
                  <a:srgbClr val="1E293B"/>
                </a:solidFill>
                <a:latin typeface="Times New Roman"/>
              </a:defRPr>
            </a:pPr>
            <a:r>
              <a:t>• Trách nhiệm công dân - sinh viên: Tuyệt đối trung thành, rèn luyện bản lĩnh, cảnh giác cách mạng.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Non sông gấm vóc 54 Dân tộc anh em: Sức mạnh trường tồn ngàn năm bắt nguồn từ tinh thần đại đoàn kết keo sơn dựng nước và giữ nước.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03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LÝ LUẬN CƠ BẢN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Khái niệm Dân tộc: Nghĩa hẹp &amp; Nghĩa rộng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Nghĩa hẹp: Dân tộc - Tộc người (Ethnie)</a:t>
            </a:r>
          </a:p>
          <a:p>
            <a:pPr>
              <a:defRPr sz="1700">
                <a:solidFill>
                  <a:srgbClr val="1E293B"/>
                </a:solidFill>
                <a:latin typeface="Times New Roman"/>
              </a:defRPr>
            </a:pPr>
            <a:r>
              <a:t>• Cộng đồng người hình thành trong lịch sử có mối liên hệ bền vững.</a:t>
            </a:r>
          </a:p>
          <a:p>
            <a:pPr>
              <a:defRPr sz="1700">
                <a:solidFill>
                  <a:srgbClr val="1E293B"/>
                </a:solidFill>
                <a:latin typeface="Times New Roman"/>
              </a:defRPr>
            </a:pPr>
            <a:r>
              <a:t>• 3 Tiêu chí xác định: Ngôn ngữ (tiếng mẹ đẻ), Văn hóa (phong tục tập quán), Ý thức tự giác tộc người.</a:t>
            </a:r>
          </a:p>
          <a:p>
            <a:pPr>
              <a:defRPr sz="1700">
                <a:solidFill>
                  <a:srgbClr val="1E293B"/>
                </a:solidFill>
                <a:latin typeface="Times New Roman"/>
              </a:defRPr>
            </a:pPr>
            <a:r>
              <a:t>• Ví dụ tại VN: Dân tộc Kinh, Tày, Thái, Mường, H'Mông, Khmer, Ba Na...</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Nghĩa rộng: Quốc gia Dân tộc (Nation)</a:t>
            </a:r>
          </a:p>
          <a:p>
            <a:pPr>
              <a:defRPr sz="1700">
                <a:solidFill>
                  <a:srgbClr val="1E293B"/>
                </a:solidFill>
                <a:latin typeface="Times New Roman"/>
              </a:defRPr>
            </a:pPr>
            <a:r>
              <a:t>• Toàn bộ nhân dân của một quốc gia có chủ quyền độc lập.</a:t>
            </a:r>
          </a:p>
          <a:p>
            <a:pPr>
              <a:defRPr sz="1700">
                <a:solidFill>
                  <a:srgbClr val="1E293B"/>
                </a:solidFill>
                <a:latin typeface="Times New Roman"/>
              </a:defRPr>
            </a:pPr>
            <a:r>
              <a:t>• 5 Đặc trưng cốt lõi: Lãnh thổ thống nhất, Kinh tế chung, Ngôn ngữ chung, Nhà nước và pháp luật chung, Nền văn hóa quốc gia thống nhất.</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ethnic_people_real.jpg"/>
          <p:cNvPicPr>
            <a:picLocks noChangeAspect="1"/>
          </p:cNvPicPr>
          <p:nvPr/>
        </p:nvPicPr>
        <p:blipFill>
          <a:blip r:embed="rId3"/>
          <a:stretch>
            <a:fillRect/>
          </a:stretch>
        </p:blipFill>
        <p:spPr>
          <a:xfrm>
            <a:off x="8044179" y="1572768"/>
            <a:ext cx="2595576"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Thống nhất trong Đa dạng Văn hóa: 54 dân tộc anh em cư trú đan xen, tạo nên bức tranh văn hóa phong phú đậm đà bản sắc nhưng cùng chung ý thức tự tôn quốc gia.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04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QUY LUẬT PHÁT TRIỂN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Hai xu hướng khách quan của Phong trào Dân tộc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Xu hướng Tách ra thành quốc gia độc lập</a:t>
            </a:r>
          </a:p>
          <a:p>
            <a:pPr>
              <a:defRPr sz="1700">
                <a:solidFill>
                  <a:srgbClr val="1E293B"/>
                </a:solidFill>
                <a:latin typeface="Times New Roman"/>
              </a:defRPr>
            </a:pPr>
            <a:r>
              <a:t>• Sự thức tỉnh và trỗi dậy của ý thức dân tộc, đòi quyền tự quyết, bình đẳng và thành lập quốc gia độc lập.</a:t>
            </a:r>
          </a:p>
          <a:p>
            <a:pPr>
              <a:defRPr sz="1700">
                <a:solidFill>
                  <a:srgbClr val="1E293B"/>
                </a:solidFill>
                <a:latin typeface="Times New Roman"/>
              </a:defRPr>
            </a:pPr>
            <a:r>
              <a:t>• Thể hiện qua các phong trào giải phóng dân tộc chống chủ nghĩa thực dân, đế quốc.</a:t>
            </a:r>
          </a:p>
          <a:p>
            <a:pPr>
              <a:defRPr sz="1700">
                <a:solidFill>
                  <a:srgbClr val="1E293B"/>
                </a:solidFill>
                <a:latin typeface="Times New Roman"/>
              </a:defRPr>
            </a:pPr>
            <a:r>
              <a:t>• Thời đại nay: Quyết tâm bảo vệ độc lập, tự chủ kinh tế và chủ quyền toàn vẹn.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Xu hướng Liên hiệp, Xích lại gần nhau</a:t>
            </a:r>
          </a:p>
          <a:p>
            <a:pPr>
              <a:defRPr sz="1700">
                <a:solidFill>
                  <a:srgbClr val="1E293B"/>
                </a:solidFill>
                <a:latin typeface="Times New Roman"/>
              </a:defRPr>
            </a:pPr>
            <a:r>
              <a:t>• Các dân tộc có nhu cầu liên kết kinh tế, văn hóa và khoa học công nghệ vượt biên giới.</a:t>
            </a:r>
          </a:p>
          <a:p>
            <a:pPr>
              <a:defRPr sz="1700">
                <a:solidFill>
                  <a:srgbClr val="1E293B"/>
                </a:solidFill>
                <a:latin typeface="Times New Roman"/>
              </a:defRPr>
            </a:pPr>
            <a:r>
              <a:t>• Nguyên nhân: Lực lượng sản xuất phát triển; thời đại toàn cầu hóa và hội nhập quốc tế.</a:t>
            </a:r>
          </a:p>
          <a:p>
            <a:pPr>
              <a:defRPr sz="1700">
                <a:solidFill>
                  <a:srgbClr val="1E293B"/>
                </a:solidFill>
                <a:latin typeface="Times New Roman"/>
              </a:defRPr>
            </a:pPr>
            <a:r>
              <a:t>• Mục tiêu: Hợp tác cùng phát triển, giải quyết thách thức an ninh phi truyền thống.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Mối quan hệ biện chứng: Chỉ khi độc lập dân tộc được tôn trọng thì sự liên hiệp mới thực sự bình đẳng, tự nguyện và bền vững.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05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CƯƠNG LĨNH LÝ LUẬN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Cương lĩnh Dân tộc của V.I. Lênin (3 Nguyên tắc)</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 Các dân tộc hoàn toàn bình đẳng</a:t>
            </a:r>
          </a:p>
          <a:p>
            <a:pPr>
              <a:defRPr sz="1700">
                <a:solidFill>
                  <a:srgbClr val="1E293B"/>
                </a:solidFill>
                <a:latin typeface="Times New Roman"/>
              </a:defRPr>
            </a:pPr>
            <a:r>
              <a:t>• Không phân biệt đa số hay thiểu số, trình độ phát triển cao hay thấp.</a:t>
            </a:r>
          </a:p>
          <a:p>
            <a:pPr>
              <a:defRPr sz="1700">
                <a:solidFill>
                  <a:srgbClr val="1E293B"/>
                </a:solidFill>
                <a:latin typeface="Times New Roman"/>
              </a:defRPr>
            </a:pPr>
            <a:r>
              <a:t>• Bình đẳng trọn vẹn trên mọi mặt: Chính trị, kinh tế, văn hóa, xã hội và pháp luật.</a:t>
            </a:r>
          </a:p>
          <a:p>
            <a:pPr>
              <a:defRPr sz="1700">
                <a:solidFill>
                  <a:srgbClr val="1E293B"/>
                </a:solidFill>
                <a:latin typeface="Times New Roman"/>
              </a:defRPr>
            </a:pPr>
            <a:r>
              <a:t>• Kiên quyết chống chủ nghĩa dân tộc lớn và tư tưởng hẹp hòi.</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II. Các dân tộc được quyền tự quyết</a:t>
            </a:r>
          </a:p>
          <a:p>
            <a:pPr>
              <a:defRPr sz="1700">
                <a:solidFill>
                  <a:srgbClr val="1E293B"/>
                </a:solidFill>
                <a:latin typeface="Times New Roman"/>
              </a:defRPr>
            </a:pPr>
            <a:r>
              <a:t>• Quyền tự quyết định vận mệnh chính trị và con đường phát triển của dân tộc mình.</a:t>
            </a:r>
          </a:p>
          <a:p>
            <a:pPr>
              <a:defRPr sz="1700">
                <a:solidFill>
                  <a:srgbClr val="1E293B"/>
                </a:solidFill>
                <a:latin typeface="Times New Roman"/>
              </a:defRPr>
            </a:pPr>
            <a:r>
              <a:t>• Kiên quyết chống các thế lực lợi dụng 'tự quyết' để kích động ly khai phá hoại đất nước.</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III. Liên hiệp công nhân tất cả các dân tộc</a:t>
            </a:r>
          </a:p>
          <a:p>
            <a:pPr>
              <a:defRPr sz="1700">
                <a:solidFill>
                  <a:srgbClr val="1E293B"/>
                </a:solidFill>
                <a:latin typeface="Times New Roman"/>
              </a:defRPr>
            </a:pPr>
            <a:r>
              <a:t>• Nguyên tắc cốt lõi, vừa là mục tiêu vừa là động lực bảo đảm bình đẳng và tự quyết chân chính.</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books.jpg"/>
          <p:cNvPicPr>
            <a:picLocks noChangeAspect="1"/>
          </p:cNvPicPr>
          <p:nvPr/>
        </p:nvPicPr>
        <p:blipFill>
          <a:blip r:embed="rId3"/>
          <a:stretch>
            <a:fillRect/>
          </a:stretch>
        </p:blipFill>
        <p:spPr>
          <a:xfrm>
            <a:off x="7040880" y="1757045"/>
            <a:ext cx="4602175" cy="306044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Giá trị trường tồn: Cương lĩnh dân tộc là vũ khí tư tưởng sắc bén của giai cấp công nhân và nhân dân lao động trong cuộc đấu tranh chống áp bức dân tộc.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06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TƯ TƯỞNG HỒ CHÍ MINH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Tư tưởng Hồ Chí Minh về Dân tộc &amp; Khối Đại đoàn kết</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Độc lập dân tộc gắn liền với Chủ nghĩa xã hội</a:t>
            </a:r>
          </a:p>
          <a:p>
            <a:pPr>
              <a:defRPr sz="1700">
                <a:solidFill>
                  <a:srgbClr val="1E293B"/>
                </a:solidFill>
                <a:latin typeface="Times New Roman"/>
              </a:defRPr>
            </a:pPr>
            <a:r>
              <a:t>• 'Không có gì quý hơn độc lập, tự do' - Độc lập cho Tổ quốc, tự do hạnh phúc cho nhân dân.</a:t>
            </a:r>
          </a:p>
          <a:p>
            <a:pPr>
              <a:defRPr sz="1700">
                <a:solidFill>
                  <a:srgbClr val="1E293B"/>
                </a:solidFill>
                <a:latin typeface="Times New Roman"/>
              </a:defRPr>
            </a:pPr>
            <a:r>
              <a:t>• Giải phóng dân tộc là tiền đề để giải phóng giai cấp và giải phóng con người trọn vẹn.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Bình đẳng, Đoàn kết, Tôn trọng, Tương trợ</a:t>
            </a:r>
          </a:p>
          <a:p>
            <a:pPr>
              <a:defRPr sz="1700">
                <a:solidFill>
                  <a:srgbClr val="1E293B"/>
                </a:solidFill>
                <a:latin typeface="Times New Roman"/>
              </a:defRPr>
            </a:pPr>
            <a:r>
              <a:t>• Các dân tộc anh em như con một nhà, cùng chung cội nguồn, chia ngọt sẻ bùi.</a:t>
            </a:r>
          </a:p>
          <a:p>
            <a:pPr>
              <a:defRPr sz="1700">
                <a:solidFill>
                  <a:srgbClr val="1E293B"/>
                </a:solidFill>
                <a:latin typeface="Times New Roman"/>
              </a:defRPr>
            </a:pPr>
            <a:r>
              <a:t>• Kiên quyết chống tư tưởng dân tộc lớn, kỳ thị và mặc cảm tự ti.</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Chăm lo đời sống &amp; Đào tạo cán bộ DTTS</a:t>
            </a:r>
          </a:p>
          <a:p>
            <a:pPr>
              <a:defRPr sz="1700">
                <a:solidFill>
                  <a:srgbClr val="1E293B"/>
                </a:solidFill>
                <a:latin typeface="Times New Roman"/>
              </a:defRPr>
            </a:pPr>
            <a:r>
              <a:t>• Nâng cao dân trí, phát triển kinh tế vùng cao, giữ gìn bản sắc văn hóa tốt đẹp.</a:t>
            </a:r>
          </a:p>
          <a:p>
            <a:pPr>
              <a:defRPr sz="1700">
                <a:solidFill>
                  <a:srgbClr val="1E293B"/>
                </a:solidFill>
                <a:latin typeface="Times New Roman"/>
              </a:defRPr>
            </a:pPr>
            <a:r>
              <a:t>• Chú trọng phát triển đội ngũ cán bộ chủ chốt là người địa phương DTTS.</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culture.jpg"/>
          <p:cNvPicPr>
            <a:picLocks noChangeAspect="1"/>
          </p:cNvPicPr>
          <p:nvPr/>
        </p:nvPicPr>
        <p:blipFill>
          <a:blip r:embed="rId3"/>
          <a:stretch>
            <a:fillRect/>
          </a:stretch>
        </p:blipFill>
        <p:spPr>
          <a:xfrm>
            <a:off x="7040880" y="1849088"/>
            <a:ext cx="4602175" cy="2876359"/>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Chân lý ngàn đời: 'Nước Việt Nam là một, dân tộc Việt Nam là một. Sông có thể cạn, núi có thể mòn, song chân lý ấy không bao giờ thay đổi.'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07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GIÁ TRỊ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Ý nghĩa đối với Cách mạng Việt Nam</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Kim chỉ nam xây dựng khối Đại đoàn kết</a:t>
            </a:r>
          </a:p>
          <a:p>
            <a:pPr>
              <a:defRPr sz="1700">
                <a:solidFill>
                  <a:srgbClr val="1E293B"/>
                </a:solidFill>
                <a:latin typeface="Times New Roman"/>
              </a:defRPr>
            </a:pPr>
            <a:r>
              <a:t>• Cội nguồn sức mạnh làm nên mọi thắng lợi vẻ vang của cách mạng Việt Nam: 1945, 1954, 1975.</a:t>
            </a:r>
          </a:p>
          <a:p>
            <a:pPr>
              <a:defRPr sz="1700">
                <a:solidFill>
                  <a:srgbClr val="1E293B"/>
                </a:solidFill>
                <a:latin typeface="Times New Roman"/>
              </a:defRPr>
            </a:pPr>
            <a:r>
              <a:t>• Cơ sở hoạch định chính sách dân tộc công bằng, nhân văn và bền vững của Đảng.</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Vũ khí đập tan âm mưu chia rẽ của ngoại bang</a:t>
            </a:r>
          </a:p>
          <a:p>
            <a:pPr>
              <a:defRPr sz="1700">
                <a:solidFill>
                  <a:srgbClr val="1E293B"/>
                </a:solidFill>
                <a:latin typeface="Times New Roman"/>
              </a:defRPr>
            </a:pPr>
            <a:r>
              <a:t>• Bác bỏ luận điệu xuyên tạc, kích động 'dân tộc tự quyết' để chia cắt đất nước.</a:t>
            </a:r>
          </a:p>
          <a:p>
            <a:pPr>
              <a:defRPr sz="1700">
                <a:solidFill>
                  <a:srgbClr val="1E293B"/>
                </a:solidFill>
                <a:latin typeface="Times New Roman"/>
              </a:defRPr>
            </a:pPr>
            <a:r>
              <a:t>• Giữ vững an ninh chính trị, trật tự an toàn xã hội vùng đồng bào dân tộc và biên cương.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C. Động lực thực hiện khát vọng Dân giàu nước mạnh</a:t>
            </a:r>
          </a:p>
          <a:p>
            <a:pPr>
              <a:defRPr sz="1700">
                <a:solidFill>
                  <a:srgbClr val="1E293B"/>
                </a:solidFill>
                <a:latin typeface="Times New Roman"/>
              </a:defRPr>
            </a:pPr>
            <a:r>
              <a:t>• Phát huy tối đa tiềm năng, thế mạnh của địa bàn miền núi trong thời kỳ công nghiệp hóa.</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Phát triển bền vững biên cương: Chính sách dân tộc đúng đắn của Đảng đã làm thay đổi diện mạo các bản làng miền núi, củng cố vững chắc biên cương Tổ quốc.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08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THỰC TIỄN SINH ĐỘNG</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Giá trị thời đại &amp; Bức tranh Đoàn kết Dân tộc</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Điểm tựa lịch sử ngàn năm dựng nước</a:t>
            </a:r>
          </a:p>
          <a:p>
            <a:pPr>
              <a:defRPr sz="1700">
                <a:solidFill>
                  <a:srgbClr val="1E293B"/>
                </a:solidFill>
                <a:latin typeface="Times New Roman"/>
              </a:defRPr>
            </a:pPr>
            <a:r>
              <a:t>• Lịch sử Việt Nam là lịch sử đồng cam cộng khổ đánh giặc ngoại xâm và mở mang bờ cõi.</a:t>
            </a:r>
          </a:p>
          <a:p>
            <a:pPr>
              <a:defRPr sz="1700">
                <a:solidFill>
                  <a:srgbClr val="1E293B"/>
                </a:solidFill>
                <a:latin typeface="Times New Roman"/>
              </a:defRPr>
            </a:pPr>
            <a:r>
              <a:t>• Không một thế lực nào có thể chia rẽ được tình cảm keo sơn máu thịt giữa 54 dân tộc.</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Đồng lòng trong kỷ nguyên vươn mình</a:t>
            </a:r>
          </a:p>
          <a:p>
            <a:pPr>
              <a:defRPr sz="1700">
                <a:solidFill>
                  <a:srgbClr val="1E293B"/>
                </a:solidFill>
                <a:latin typeface="Times New Roman"/>
              </a:defRPr>
            </a:pPr>
            <a:r>
              <a:t>• Đồng bào các dân tộc tích cực tham gia xây dựng nông thôn mới, giảm nghèo bền vững.</a:t>
            </a:r>
          </a:p>
          <a:p>
            <a:pPr>
              <a:defRPr sz="1700">
                <a:solidFill>
                  <a:srgbClr val="1E293B"/>
                </a:solidFill>
                <a:latin typeface="Times New Roman"/>
              </a:defRPr>
            </a:pPr>
            <a:r>
              <a:t>• Bảo tồn các di sản văn hóa phi vật thể quý báu (Cồng chiêng Tây Nguyên, Hát Then...).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Cảnh giác trước thủ đoạn Diễn biến hòa bình</a:t>
            </a:r>
          </a:p>
          <a:p>
            <a:pPr>
              <a:defRPr sz="1700">
                <a:solidFill>
                  <a:srgbClr val="1E293B"/>
                </a:solidFill>
                <a:latin typeface="Times New Roman"/>
              </a:defRPr>
            </a:pPr>
            <a:r>
              <a:t>• Tuyệt đối không để kẻ xấu mua chuộc, xúi giục khiếu kiện hay truyền đạo trái phép.</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54 Dân tộc anh em: Sức mạnh nội sinh to lớn đưa đất nước vững bước tiến vào kỷ nguyên phát triển giàu mạnh, văn minh.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09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Dân tộc &amp; Quan điểm giải quyết</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DÂN TỘC &amp; QUAN ĐIỂM GIẢI QUYẾT CỦA MÁC - LÊNIN, TƯ TƯỞNG HỒ CHÍ MINH</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KHÁI NIỆM &amp; 2 NGHĨA</a:t>
            </a:r>
          </a:p>
          <a:p>
            <a:pPr>
              <a:defRPr sz="1600">
                <a:solidFill>
                  <a:srgbClr val="1E293B"/>
                </a:solidFill>
                <a:latin typeface="Times New Roman"/>
              </a:defRPr>
            </a:pPr>
            <a:r>
              <a:t>• 4 hình thái cộng đồng</a:t>
            </a:r>
          </a:p>
          <a:p>
            <a:pPr>
              <a:defRPr sz="1600">
                <a:solidFill>
                  <a:srgbClr val="1E293B"/>
                </a:solidFill>
                <a:latin typeface="Times New Roman"/>
              </a:defRPr>
            </a:pPr>
            <a:r>
              <a:t>• Nghĩa hẹp: Tộc người (3 tiêu chí)</a:t>
            </a:r>
          </a:p>
          <a:p>
            <a:pPr>
              <a:defRPr sz="1600">
                <a:solidFill>
                  <a:srgbClr val="1E293B"/>
                </a:solidFill>
                <a:latin typeface="Times New Roman"/>
              </a:defRPr>
            </a:pPr>
            <a:r>
              <a:t>• Nghĩa rộng: Quốc gia (5 đặc trưng)</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HAI XU HƯỚNG</a:t>
            </a:r>
          </a:p>
          <a:p>
            <a:pPr>
              <a:defRPr sz="1600">
                <a:solidFill>
                  <a:srgbClr val="1E293B"/>
                </a:solidFill>
                <a:latin typeface="Times New Roman"/>
              </a:defRPr>
            </a:pPr>
            <a:r>
              <a:t>• Tách ra thành lập quốc gia</a:t>
            </a:r>
          </a:p>
          <a:p>
            <a:pPr>
              <a:defRPr sz="1600">
                <a:solidFill>
                  <a:srgbClr val="1E293B"/>
                </a:solidFill>
                <a:latin typeface="Times New Roman"/>
              </a:defRPr>
            </a:pPr>
            <a:r>
              <a:t>• Liên hiệp xích lại gần nhau</a:t>
            </a:r>
          </a:p>
          <a:p>
            <a:pPr>
              <a:defRPr sz="1600">
                <a:solidFill>
                  <a:srgbClr val="1E293B"/>
                </a:solidFill>
                <a:latin typeface="Times New Roman"/>
              </a:defRPr>
            </a:pPr>
            <a:r>
              <a:t>• Tác động biện chứng toàn cầu hóa</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CƯƠNG LĨNH LÊNIN</a:t>
            </a:r>
          </a:p>
          <a:p>
            <a:pPr>
              <a:defRPr sz="1600">
                <a:solidFill>
                  <a:srgbClr val="1E293B"/>
                </a:solidFill>
                <a:latin typeface="Times New Roman"/>
              </a:defRPr>
            </a:pPr>
            <a:r>
              <a:t>• Hoàn toàn bình đẳng</a:t>
            </a:r>
          </a:p>
          <a:p>
            <a:pPr>
              <a:defRPr sz="1600">
                <a:solidFill>
                  <a:srgbClr val="1E293B"/>
                </a:solidFill>
                <a:latin typeface="Times New Roman"/>
              </a:defRPr>
            </a:pPr>
            <a:r>
              <a:t>• Quyền tự quyết dân tộc</a:t>
            </a:r>
          </a:p>
          <a:p>
            <a:pPr>
              <a:defRPr sz="1600">
                <a:solidFill>
                  <a:srgbClr val="1E293B"/>
                </a:solidFill>
                <a:latin typeface="Times New Roman"/>
              </a:defRPr>
            </a:pPr>
            <a:r>
              <a:t>• Liên hiệp công nhân các dân tộc</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TƯ TƯỞNG BÁC HỒ</a:t>
            </a:r>
          </a:p>
          <a:p>
            <a:pPr>
              <a:defRPr sz="1600">
                <a:solidFill>
                  <a:srgbClr val="1E293B"/>
                </a:solidFill>
                <a:latin typeface="Times New Roman"/>
              </a:defRPr>
            </a:pPr>
            <a:r>
              <a:t>• Độc lập gắn liền CNXH</a:t>
            </a:r>
          </a:p>
          <a:p>
            <a:pPr>
              <a:defRPr sz="1600">
                <a:solidFill>
                  <a:srgbClr val="1E293B"/>
                </a:solidFill>
                <a:latin typeface="Times New Roman"/>
              </a:defRPr>
            </a:pPr>
            <a:r>
              <a:t>• Bình đẳng, đoàn kết, tương trợ</a:t>
            </a:r>
          </a:p>
          <a:p>
            <a:pPr>
              <a:defRPr sz="1600">
                <a:solidFill>
                  <a:srgbClr val="1E293B"/>
                </a:solidFill>
                <a:latin typeface="Times New Roman"/>
              </a:defRPr>
            </a:pPr>
            <a:r>
              <a:t>• Phát triển toàn diện và đào tạo cán bộ</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Khối đại đoàn kết 54 dân tộc anh em là nền tảng sống còn bảo vệ độc lập, chủ quyền và toàn vẹn lãnh thổ Việt Nam.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10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11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1</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Theo V.I. Lênin, nội dung nào là nguyên tắc cốt lõi, quan trọng nhất trong Cương lĩnh dân tộc?</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Các dân tộc hoàn toàn bình đẳng</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Các dân tộc được quyền tự quyết</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Liên hiệp công nhân tất cả các dân tộc</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Tự do phân lập thành quốc gia riêng</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C. 'Liên hiệp công nhân tất cả các dân tộc' là nguyên tắc cốt lõi, phản ánh bản chất quốc tế của phong trào công nhân và bảo đảm vững chắc cho bình đẳng và tự quyết chân chính.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1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"Đoàn kết, đoàn kết, đại đoàn kết - Thành công, thành công, đại thành công. Khối đại đoàn kết 54 dân tộc anh em là cội nguồn sức mạnh vô địch của cách mạng Việt Nam!"</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1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