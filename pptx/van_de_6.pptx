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457200"/>
          </a:xfrm>
          <a:prstGeom prst="rect">
            <a:avLst/>
          </a:prstGeom>
          <a:noFill/>
        </p:spPr>
        <p:txBody>
          <a:bodyPr wrap="none">
            <a:spAutoFit/>
          </a:bodyPr>
          <a:lstStyle/>
          <a:p>
            <a:pPr algn="ctr">
              <a:defRPr sz="1400" b="1">
                <a:solidFill>
                  <a:srgbClr val="F37021"/>
                </a:solidFill>
                <a:latin typeface="Times New Roman"/>
              </a:defRPr>
            </a:pPr>
            <a:r>
              <a:t>TRƯỜNG ĐẠI HỌC ĐẠI NAM  •  HỌC ĐỂ THAY ĐỔI</a:t>
            </a:r>
          </a:p>
        </p:txBody>
      </p:sp>
      <p:sp>
        <p:nvSpPr>
          <p:cNvPr id="4" name="TextBox 3"/>
          <p:cNvSpPr txBox="1"/>
          <p:nvPr/>
        </p:nvSpPr>
        <p:spPr>
          <a:xfrm>
            <a:off x="1371600" y="1371600"/>
            <a:ext cx="9448495" cy="548640"/>
          </a:xfrm>
          <a:prstGeom prst="rect">
            <a:avLst/>
          </a:prstGeom>
          <a:noFill/>
        </p:spPr>
        <p:txBody>
          <a:bodyPr wrap="none">
            <a:spAutoFit/>
          </a:bodyPr>
          <a:lstStyle/>
          <a:p>
            <a:pPr algn="ctr">
              <a:defRPr sz="1500" b="1">
                <a:solidFill>
                  <a:srgbClr val="FFFFFF"/>
                </a:solidFill>
                <a:latin typeface="Times New Roman"/>
              </a:defRPr>
            </a:pPr>
            <a:r>
              <a:t>GIÁO DỤC QUỐC PHÒNG &amp; AN NINH (HỌC PHẦN 2) • VẤN ĐỀ 06</a:t>
            </a:r>
          </a:p>
        </p:txBody>
      </p:sp>
      <p:sp>
        <p:nvSpPr>
          <p:cNvPr id="5" name="TextBox 4"/>
          <p:cNvSpPr txBox="1"/>
          <p:nvPr/>
        </p:nvSpPr>
        <p:spPr>
          <a:xfrm>
            <a:off x="914400" y="2103120"/>
            <a:ext cx="10362895" cy="2560320"/>
          </a:xfrm>
          <a:prstGeom prst="rect">
            <a:avLst/>
          </a:prstGeom>
          <a:noFill/>
        </p:spPr>
        <p:txBody>
          <a:bodyPr wrap="square">
            <a:spAutoFit/>
          </a:bodyPr>
          <a:lstStyle/>
          <a:p>
            <a:pPr algn="ctr">
              <a:defRPr sz="3000" b="1">
                <a:solidFill>
                  <a:srgbClr val="F37021"/>
                </a:solidFill>
                <a:latin typeface="Times New Roman"/>
              </a:defRPr>
            </a:pPr>
            <a:r>
              <a:t>ÂM MƯU, THỦ ĐOẠN LỢI DỤNG VẤN ĐỀ TÔN GIÁO VÀ CÁC GIẢI PHÁP CƠ BẢN PHÒNG, CHỐNG</a:t>
            </a:r>
          </a:p>
        </p:txBody>
      </p:sp>
      <p:sp>
        <p:nvSpPr>
          <p:cNvPr id="6" name="TextBox 5"/>
          <p:cNvSpPr txBox="1"/>
          <p:nvPr/>
        </p:nvSpPr>
        <p:spPr>
          <a:xfrm>
            <a:off x="914400" y="5303520"/>
            <a:ext cx="10362895" cy="731520"/>
          </a:xfrm>
          <a:prstGeom prst="rect">
            <a:avLst/>
          </a:prstGeom>
          <a:noFill/>
        </p:spPr>
        <p:txBody>
          <a:bodyPr wrap="none">
            <a:spAutoFit/>
          </a:bodyPr>
          <a:lstStyle/>
          <a:p>
            <a:pPr algn="ctr">
              <a:defRPr sz="1900" b="1">
                <a:solidFill>
                  <a:srgbClr val="FFFFFF"/>
                </a:solidFill>
                <a:latin typeface="Times New Roman"/>
              </a:defRPr>
            </a:pPr>
            <a:r>
              <a:t>Nhóm thực hiện: Nhóm 6 (Lớp GDQP-AN)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02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TỔNG QUAN BÀI HỌC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Mục tiêu &amp; Khung nội dung thuyết trình</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01. Âm mưu &amp; 4 Thủ đoạn</a:t>
            </a:r>
          </a:p>
          <a:p>
            <a:pPr>
              <a:defRPr sz="1700">
                <a:solidFill>
                  <a:srgbClr val="1E293B"/>
                </a:solidFill>
                <a:latin typeface="Times New Roman"/>
              </a:defRPr>
            </a:pPr>
            <a:r>
              <a:t>• Âm mưu: Biến tôn giáo thành 'lực lượng đối trọng chính trị', quốc tế hóa tự do tôn giáo.</a:t>
            </a:r>
          </a:p>
          <a:p>
            <a:pPr>
              <a:defRPr sz="1700">
                <a:solidFill>
                  <a:srgbClr val="1E293B"/>
                </a:solidFill>
                <a:latin typeface="Times New Roman"/>
              </a:defRPr>
            </a:pPr>
            <a:r>
              <a:t>• 4 thủ đoạn: Kích động khiếu kiện đất đai; gieo rắc tà đạo; móc nối cực đoan; lợi dụng sự cố xã hội.</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02. 4 Giải pháp Chiến lược</a:t>
            </a:r>
          </a:p>
          <a:p>
            <a:pPr>
              <a:defRPr sz="1700">
                <a:solidFill>
                  <a:srgbClr val="1E293B"/>
                </a:solidFill>
                <a:latin typeface="Times New Roman"/>
              </a:defRPr>
            </a:pPr>
            <a:r>
              <a:t>• GP1: Đẩy mạnh tuyên truyền Luật Tín ngưỡng, tôn giáo 2016.</a:t>
            </a:r>
          </a:p>
          <a:p>
            <a:pPr>
              <a:defRPr sz="1700">
                <a:solidFill>
                  <a:srgbClr val="1E293B"/>
                </a:solidFill>
                <a:latin typeface="Times New Roman"/>
              </a:defRPr>
            </a:pPr>
            <a:r>
              <a:t>• GP2: Củng cố khối đại đoàn kết Lương - Giáo vững chắc.</a:t>
            </a:r>
          </a:p>
          <a:p>
            <a:pPr>
              <a:defRPr sz="1700">
                <a:solidFill>
                  <a:srgbClr val="1E293B"/>
                </a:solidFill>
                <a:latin typeface="Times New Roman"/>
              </a:defRPr>
            </a:pPr>
            <a:r>
              <a:t>• GP3: Nâng cao năng lực quản lý nhà nước về tôn giáo (then chốt).</a:t>
            </a:r>
          </a:p>
          <a:p>
            <a:pPr>
              <a:defRPr sz="1700">
                <a:solidFill>
                  <a:srgbClr val="1E293B"/>
                </a:solidFill>
                <a:latin typeface="Times New Roman"/>
              </a:defRPr>
            </a:pPr>
            <a:r>
              <a:t>• GP4: Kiên quyết đấu tranh tư tưởng, vô hiệu hóa kẻ phản động.</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03. Trách nhiệm Sinh viên DNU</a:t>
            </a:r>
          </a:p>
          <a:p>
            <a:pPr>
              <a:defRPr sz="1700">
                <a:solidFill>
                  <a:srgbClr val="1E293B"/>
                </a:solidFill>
                <a:latin typeface="Times New Roman"/>
              </a:defRPr>
            </a:pPr>
            <a:r>
              <a:t>• Tuyệt đối trung thành với Đảng, tu dưỡng đạo đức, cảnh giác trước tà đạo, xung kích bảo vệ Tổ quốc.</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unity.jpg"/>
          <p:cNvPicPr>
            <a:picLocks noChangeAspect="1"/>
          </p:cNvPicPr>
          <p:nvPr/>
        </p:nvPicPr>
        <p:blipFill>
          <a:blip r:embed="rId3"/>
          <a:stretch>
            <a:fillRect/>
          </a:stretch>
        </p:blipFill>
        <p:spPr>
          <a:xfrm>
            <a:off x="7040880" y="1753210"/>
            <a:ext cx="4602175" cy="3068116"/>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Thắt chặt đoàn kết Lương - Giáo: Chủ động nhận diện âm mưu thù địch và thực hiện tốt 4 giải pháp giúp bảo vệ tự do tín ngưỡng chân chính.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03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NHẬN DIỆN ÂM MƯU</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Âm mưu thù địch: Biến tôn giáo thành “Lực lượng đối trọng chính trị”</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Biến Tôn giáo thành Lực lượng Đối kháng</a:t>
            </a:r>
          </a:p>
          <a:p>
            <a:pPr>
              <a:defRPr sz="1700">
                <a:solidFill>
                  <a:srgbClr val="1E293B"/>
                </a:solidFill>
                <a:latin typeface="Times New Roman"/>
              </a:defRPr>
            </a:pPr>
            <a:r>
              <a:t>• Kẻ địch tìm cách tách các tổ chức giáo hội khỏi sự quản lý của Nhà nước, biến thành 'tổ chức đối lập'.</a:t>
            </a:r>
          </a:p>
          <a:p>
            <a:pPr>
              <a:defRPr sz="1700">
                <a:solidFill>
                  <a:srgbClr val="1E293B"/>
                </a:solidFill>
                <a:latin typeface="Times New Roman"/>
              </a:defRPr>
            </a:pPr>
            <a:r>
              <a:t>• Xúi giục chức sắc và tín đồ chống đối chủ trương phát triển KT-XH của chính quyền địa phương.</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Chiêu bài 'Nhân quyền &amp; Tự do Tôn giáo'</a:t>
            </a:r>
          </a:p>
          <a:p>
            <a:pPr>
              <a:defRPr sz="1700">
                <a:solidFill>
                  <a:srgbClr val="1E293B"/>
                </a:solidFill>
                <a:latin typeface="Times New Roman"/>
              </a:defRPr>
            </a:pPr>
            <a:r>
              <a:t>• Vu cáo Việt Nam 'đàn áp tôn giáo, kỳ thị tín đồ' tại các diễn đàn quốc tế.</a:t>
            </a:r>
          </a:p>
          <a:p>
            <a:pPr>
              <a:defRPr sz="1700">
                <a:solidFill>
                  <a:srgbClr val="1E293B"/>
                </a:solidFill>
                <a:latin typeface="Times New Roman"/>
              </a:defRPr>
            </a:pPr>
            <a:r>
              <a:t>• Vận động đưa Việt Nam vào danh sách CPC để gây sức ép ngoại giao, kinh tế.</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church.jpg"/>
          <p:cNvPicPr>
            <a:picLocks noChangeAspect="1"/>
          </p:cNvPicPr>
          <p:nvPr/>
        </p:nvPicPr>
        <p:blipFill>
          <a:blip r:embed="rId3"/>
          <a:stretch>
            <a:fillRect/>
          </a:stretch>
        </p:blipFill>
        <p:spPr>
          <a:xfrm>
            <a:off x="8377411" y="1572768"/>
            <a:ext cx="1929113" cy="3429000"/>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Sự thật về tự do tôn giáo: Hàng triệu tín đồ tự do sinh hoạt tại gần 30.000 cơ sở thờ tự. Mọi luận điệu vu cáo chỉ là chiêu bài can thiệp nội bộ.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04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THỦ ĐOẠN CHỐNG PHÁ</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Bốn thủ đoạn chống phá Trên lĩnh vực tôn giáo</a:t>
            </a:r>
          </a:p>
        </p:txBody>
      </p:sp>
      <p:sp>
        <p:nvSpPr>
          <p:cNvPr id="11" name="Rounded Rectangle 10"/>
          <p:cNvSpPr/>
          <p:nvPr/>
        </p:nvSpPr>
        <p:spPr>
          <a:xfrm>
            <a:off x="548640" y="1572768"/>
            <a:ext cx="6217920" cy="1037844"/>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Kích động khiếu kiện đất đai cơ sở thờ tự</a:t>
            </a:r>
          </a:p>
          <a:p>
            <a:pPr>
              <a:defRPr sz="1700">
                <a:solidFill>
                  <a:srgbClr val="1E293B"/>
                </a:solidFill>
                <a:latin typeface="Times New Roman"/>
              </a:defRPr>
            </a:pPr>
            <a:r>
              <a:t>• Lợi dụng việc đền bù, giải phóng mặt bằng để xúi giục tín đồ tụ tập đông người, chiếm giữ đất trái phép.</a:t>
            </a:r>
          </a:p>
        </p:txBody>
      </p:sp>
      <p:sp>
        <p:nvSpPr>
          <p:cNvPr id="12" name="Rounded Rectangle 11"/>
          <p:cNvSpPr/>
          <p:nvPr/>
        </p:nvSpPr>
        <p:spPr>
          <a:xfrm>
            <a:off x="548640" y="2720340"/>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Truyền bá 'tà đạo, đạo lạ' độc hại</a:t>
            </a:r>
          </a:p>
          <a:p>
            <a:pPr>
              <a:defRPr sz="1700">
                <a:solidFill>
                  <a:srgbClr val="1E293B"/>
                </a:solidFill>
                <a:latin typeface="Times New Roman"/>
              </a:defRPr>
            </a:pPr>
            <a:r>
              <a:t>• Gieo rắc các tà giáo phản khoa học (Hội thánh Đức Chúa Trời Mẹ, Hà Mòn) làm tan nát gia đình, trục lợi tiền bạc.</a:t>
            </a:r>
          </a:p>
        </p:txBody>
      </p:sp>
      <p:sp>
        <p:nvSpPr>
          <p:cNvPr id="13" name="Rounded Rectangle 12"/>
          <p:cNvSpPr/>
          <p:nvPr/>
        </p:nvSpPr>
        <p:spPr>
          <a:xfrm>
            <a:off x="548640" y="3867912"/>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Mua chuộc phần tử đội lốt tôn giáo</a:t>
            </a:r>
          </a:p>
          <a:p>
            <a:pPr>
              <a:defRPr sz="1700">
                <a:solidFill>
                  <a:srgbClr val="1E293B"/>
                </a:solidFill>
                <a:latin typeface="Times New Roman"/>
              </a:defRPr>
            </a:pPr>
            <a:r>
              <a:t>• Tài trợ tiền bạc, trao các danh hiệu nhân quyền rởm cho chức sắc biến chất để biến họ thành tay sai.</a:t>
            </a:r>
          </a:p>
        </p:txBody>
      </p:sp>
      <p:sp>
        <p:nvSpPr>
          <p:cNvPr id="14" name="Rounded Rectangle 13"/>
          <p:cNvSpPr/>
          <p:nvPr/>
        </p:nvSpPr>
        <p:spPr>
          <a:xfrm>
            <a:off x="548640" y="5015484"/>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4. Lợi dụng sự cố xã hội kích động biểu tình</a:t>
            </a:r>
          </a:p>
          <a:p>
            <a:pPr>
              <a:defRPr sz="1700">
                <a:solidFill>
                  <a:srgbClr val="1E293B"/>
                </a:solidFill>
                <a:latin typeface="Times New Roman"/>
              </a:defRPr>
            </a:pPr>
            <a:r>
              <a:t>• Khai thác sự cố môi trường, thiên tai để thổi bùng bức xúc, biến mâu thuẫn dân sự thành bạo loạn.</a:t>
            </a:r>
          </a:p>
        </p:txBody>
      </p:sp>
      <p:sp>
        <p:nvSpPr>
          <p:cNvPr id="15" name="Rounded Rectangle 14"/>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vietnam_cyber.jpg"/>
          <p:cNvPicPr>
            <a:picLocks noChangeAspect="1"/>
          </p:cNvPicPr>
          <p:nvPr/>
        </p:nvPicPr>
        <p:blipFill>
          <a:blip r:embed="rId3"/>
          <a:stretch>
            <a:fillRect/>
          </a:stretch>
        </p:blipFill>
        <p:spPr>
          <a:xfrm>
            <a:off x="7040880" y="1751292"/>
            <a:ext cx="4602175" cy="3071951"/>
          </a:xfrm>
          <a:prstGeom prst="rect">
            <a:avLst/>
          </a:prstGeom>
        </p:spPr>
      </p:pic>
      <p:sp>
        <p:nvSpPr>
          <p:cNvPr id="17" name="TextBox 16"/>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Phòng ngừa tin giả kích động: Các thế lực xấu triệt để dùng mạng xã hội livestream kích động. Giữ vững cái đầu lạnh là tấm lá chắn tốt nhất.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05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BÀI HỌC THỰC TIỄN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Case Study: Lợi dụng sự cố Formosa &amp; Bài học cảnh giác</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Diễn biến Sự cố Formosa (Năm 2016)</a:t>
            </a:r>
          </a:p>
          <a:p>
            <a:pPr>
              <a:defRPr sz="1700">
                <a:solidFill>
                  <a:srgbClr val="1E293B"/>
                </a:solidFill>
                <a:latin typeface="Times New Roman"/>
              </a:defRPr>
            </a:pPr>
            <a:r>
              <a:t>• Sự cố ô nhiễm biển miền Trung đã được Chính phủ xử lý, buộc bồi thường 500 triệu USD.</a:t>
            </a:r>
          </a:p>
          <a:p>
            <a:pPr>
              <a:defRPr sz="1700">
                <a:solidFill>
                  <a:srgbClr val="1E293B"/>
                </a:solidFill>
                <a:latin typeface="Times New Roman"/>
              </a:defRPr>
            </a:pPr>
            <a:r>
              <a:t>• Tuy nhiên, một số đối tượng cực đoan đội lốt tôn giáo (Nguyễn Đình Thục, Đặng Hữu Nam) kích động giáo dân chặn Quốc lộ 1A, đập phá xe công vụ.</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Ba Bài học Cảnh giác Sâu sắc</a:t>
            </a:r>
          </a:p>
          <a:p>
            <a:pPr>
              <a:defRPr sz="1700">
                <a:solidFill>
                  <a:srgbClr val="1E293B"/>
                </a:solidFill>
                <a:latin typeface="Times New Roman"/>
              </a:defRPr>
            </a:pPr>
            <a:r>
              <a:t>• Minh bạch thông tin: Công khai tiến độ bồi thường thiệt hại để kẻ xấu không thể trục lợi niềm tin.</a:t>
            </a:r>
          </a:p>
          <a:p>
            <a:pPr>
              <a:defRPr sz="1700">
                <a:solidFill>
                  <a:srgbClr val="1E293B"/>
                </a:solidFill>
                <a:latin typeface="Times New Roman"/>
              </a:defRPr>
            </a:pPr>
            <a:r>
              <a:t>• Phân biệt rõ đối tượng: Xử lý nghiêm đối tượng cầm đầu; kiên trì tuyên truyền vận động giáo dân.</a:t>
            </a:r>
          </a:p>
          <a:p>
            <a:pPr>
              <a:defRPr sz="1700">
                <a:solidFill>
                  <a:srgbClr val="1E293B"/>
                </a:solidFill>
                <a:latin typeface="Times New Roman"/>
              </a:defRPr>
            </a:pPr>
            <a:r>
              <a:t>• Chăm lo sinh kế: Hỗ trợ ngư dân chuyển đổi nghề, làm sạch môi trường biển nhanh chóng.</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nature.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Biển miền Trung bình yên: Âm mưu biến sự cố Formosa thành cuộc 'Cách mạng màu' hoàn toàn bị bẻ gãy. Ngư dân hôm nay lại vững tin vươn khơi bám biển.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06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GIẢI PHÁP CHIẾN LƯỢC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Giải pháp 1 &amp; 2: Đẩy mạnh Tuyên truyền &amp; Đoàn kết Lương - Giáo</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Giải pháp 1: Đẩy mạnh Tuyên truyền Pháp luật</a:t>
            </a:r>
          </a:p>
          <a:p>
            <a:pPr>
              <a:defRPr sz="1700">
                <a:solidFill>
                  <a:srgbClr val="1E293B"/>
                </a:solidFill>
                <a:latin typeface="Times New Roman"/>
              </a:defRPr>
            </a:pPr>
            <a:r>
              <a:t>• Tuyên truyền sâu rộng Luật Tín ngưỡng, tôn giáo 2016 đến từng chức sắc, nhà tu hành và tín đồ.</a:t>
            </a:r>
          </a:p>
          <a:p>
            <a:pPr>
              <a:defRPr sz="1700">
                <a:solidFill>
                  <a:srgbClr val="1E293B"/>
                </a:solidFill>
                <a:latin typeface="Times New Roman"/>
              </a:defRPr>
            </a:pPr>
            <a:r>
              <a:t>• Làm cho đồng bào nhận thức rõ âm mưu thâm độc của các thế lực thù địch lợi dụng tôn giáo.</a:t>
            </a:r>
          </a:p>
          <a:p>
            <a:pPr>
              <a:defRPr sz="1700">
                <a:solidFill>
                  <a:srgbClr val="1E293B"/>
                </a:solidFill>
                <a:latin typeface="Times New Roman"/>
              </a:defRPr>
            </a:pPr>
            <a:r>
              <a:t>• Kịp thời biểu dương chức sắc, tín đồ tiêu biểu trong lao động sản xuất và bảo vệ an ninh.</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Giải pháp 2: Tăng cường Đoàn kết Lương - Giáo</a:t>
            </a:r>
          </a:p>
          <a:p>
            <a:pPr>
              <a:defRPr sz="1700">
                <a:solidFill>
                  <a:srgbClr val="1E293B"/>
                </a:solidFill>
                <a:latin typeface="Times New Roman"/>
              </a:defRPr>
            </a:pPr>
            <a:r>
              <a:t>• Thực hiện phương châm: 'Đạo gắn với Đời', 'Sống phúc âm giữa lòng dân tộc', 'Tốt đời đẹp đạo'.</a:t>
            </a:r>
          </a:p>
          <a:p>
            <a:pPr>
              <a:defRPr sz="1700">
                <a:solidFill>
                  <a:srgbClr val="1E293B"/>
                </a:solidFill>
                <a:latin typeface="Times New Roman"/>
              </a:defRPr>
            </a:pPr>
            <a:r>
              <a:t>• Tôn trọng quyền tự do tín ngưỡng; giải quyết kịp thời nhu cầu sinh hoạt tôn giáo hợp pháp.</a:t>
            </a:r>
          </a:p>
          <a:p>
            <a:pPr>
              <a:defRPr sz="1700">
                <a:solidFill>
                  <a:srgbClr val="1E293B"/>
                </a:solidFill>
                <a:latin typeface="Times New Roman"/>
              </a:defRPr>
            </a:pPr>
            <a:r>
              <a:t>• Huy động nguồn lực tôn giáo tham gia các phong trào thi đua yêu nước, xây dựng quê hương.</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pagoda.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Đoàn kết Lương - Giáo là nền tảng: Chức sắc và tín đồ luôn là những công dân yêu nước mẫu mực. Thắt chặt đoàn kết là vũ khí mạnh nhất làm phá sản mưu toan chia rẽ.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07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GIẢI PHÁP THEN CHỐT</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Giải pháp 3: Nâng cao năng lực quản lý nhà nước Về tôn giáo</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Vị trí Quyết định của Quản lý Nhà nước</a:t>
            </a:r>
          </a:p>
          <a:p>
            <a:pPr>
              <a:defRPr sz="1700">
                <a:solidFill>
                  <a:srgbClr val="1E293B"/>
                </a:solidFill>
                <a:latin typeface="Times New Roman"/>
              </a:defRPr>
            </a:pPr>
            <a:r>
              <a:t>• Nâng cao hiệu lực quản lý nhà nước là giải pháp then chốt giữ vững kỷ cương phép nước.</a:t>
            </a:r>
          </a:p>
          <a:p>
            <a:pPr>
              <a:defRPr sz="1700">
                <a:solidFill>
                  <a:srgbClr val="1E293B"/>
                </a:solidFill>
                <a:latin typeface="Times New Roman"/>
              </a:defRPr>
            </a:pPr>
            <a:r>
              <a:t>• Bảo đảm mọi hoạt động tôn giáo diễn ra lành mạnh, tuân thủ đúng hiến chương và pháp luật.</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Ba Nội dung Thực hiện Cốt lõi</a:t>
            </a:r>
          </a:p>
          <a:p>
            <a:pPr>
              <a:defRPr sz="1700">
                <a:solidFill>
                  <a:srgbClr val="1E293B"/>
                </a:solidFill>
                <a:latin typeface="Times New Roman"/>
              </a:defRPr>
            </a:pPr>
            <a:r>
              <a:t>• Thực thi nghiêm Luật TNTG: Hướng dẫn đăng ký hoạt động, phong phẩm theo đúng trình tự pháp luật.</a:t>
            </a:r>
          </a:p>
          <a:p>
            <a:pPr>
              <a:defRPr sz="1700">
                <a:solidFill>
                  <a:srgbClr val="1E293B"/>
                </a:solidFill>
                <a:latin typeface="Times New Roman"/>
              </a:defRPr>
            </a:pPr>
            <a:r>
              <a:t>• Đào tạo cán bộ chuyên trách: Bồi dưỡng phẩm chất đạo đức, lý luận và hiểu biết giáo lý cho cán bộ cơ sở.</a:t>
            </a:r>
          </a:p>
          <a:p>
            <a:pPr>
              <a:defRPr sz="1700">
                <a:solidFill>
                  <a:srgbClr val="1E293B"/>
                </a:solidFill>
                <a:latin typeface="Times New Roman"/>
              </a:defRPr>
            </a:pPr>
            <a:r>
              <a:t>• Ngăn chặn tà đạo từ sớm: Kịp thời phát hiện và kiên quyết xóa bỏ tà đạo hoạt động phi pháp, mê tín.</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law.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Kỷ cương và minh bạch: Nhà nước pháp quyền bảo hộ quyền tự do tín ngưỡng chính đáng, đồng thời kiên quyết xử lý không có vùng cấm với hành vi vi phạm pháp luật.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08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ĐẤU TRANH &amp; VÔ HIỆU HÓA</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Giải pháp 4: Kiên quyết đấu tranh tư tưởng &amp; Vô hiệu hóa kẻ phản động</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Đấu tranh Tư tưởng - Ngoại giao</a:t>
            </a:r>
          </a:p>
          <a:p>
            <a:pPr>
              <a:defRPr sz="1700">
                <a:solidFill>
                  <a:srgbClr val="1E293B"/>
                </a:solidFill>
                <a:latin typeface="Times New Roman"/>
              </a:defRPr>
            </a:pPr>
            <a:r>
              <a:t>• Chủ động thông tin đối ngoại, cung cấp tài liệu chính xác về đời sống tôn giáo phồn vinh tại VN.</a:t>
            </a:r>
          </a:p>
          <a:p>
            <a:pPr>
              <a:defRPr sz="1700">
                <a:solidFill>
                  <a:srgbClr val="1E293B"/>
                </a:solidFill>
                <a:latin typeface="Times New Roman"/>
              </a:defRPr>
            </a:pPr>
            <a:r>
              <a:t>• Vạch trần bộ mặt thật của các đối tượng đội lốt tôn giáo như BPSOS do Nguyễn Đình Thắng cầm đầu.</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Xử lý Kiên quyết theo Pháp luật</a:t>
            </a:r>
          </a:p>
          <a:p>
            <a:pPr>
              <a:defRPr sz="1700">
                <a:solidFill>
                  <a:srgbClr val="1E293B"/>
                </a:solidFill>
                <a:latin typeface="Times New Roman"/>
              </a:defRPr>
            </a:pPr>
            <a:r>
              <a:t>• Cô lập và bóc gỡ các đường dây móc nối tài trợ tiền bạc từ tổ chức phản động bên ngoài vào trong nước.</a:t>
            </a:r>
          </a:p>
          <a:p>
            <a:pPr>
              <a:defRPr sz="1700">
                <a:solidFill>
                  <a:srgbClr val="1E293B"/>
                </a:solidFill>
                <a:latin typeface="Times New Roman"/>
              </a:defRPr>
            </a:pPr>
            <a:r>
              <a:t>• Xử lý nghiêm minh theo Bộ luật Hình sự các hành vi 'Lợi dụng các quyền tự do dân chủ xâm phạm lợi ích của Nhà nước, quyền, lợi ích hợp pháp của tổ chức, cá nhân' (Điều 331).</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defense.jpg"/>
          <p:cNvPicPr>
            <a:picLocks noChangeAspect="1"/>
          </p:cNvPicPr>
          <p:nvPr/>
        </p:nvPicPr>
        <p:blipFill>
          <a:blip r:embed="rId3"/>
          <a:stretch>
            <a:fillRect/>
          </a:stretch>
        </p:blipFill>
        <p:spPr>
          <a:xfrm>
            <a:off x="7040880" y="1630485"/>
            <a:ext cx="4602175" cy="331356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Giữ vững an ninh quốc gia: Kết hợp chặt chẽ giữa biện pháp an ninh với vận động quần chúng là bí quyết bảo đảm môi trường xã hội ổn định, bình yên.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09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Sơ đồ tư duy: Âm mưu của địch &amp; 4 Giải pháp phòng chống</a:t>
            </a:r>
          </a:p>
        </p:txBody>
      </p:sp>
      <p:sp>
        <p:nvSpPr>
          <p:cNvPr id="10" name="Rounded Rectangle 9"/>
          <p:cNvSpPr/>
          <p:nvPr/>
        </p:nvSpPr>
        <p:spPr>
          <a:xfrm>
            <a:off x="1294790" y="1389888"/>
            <a:ext cx="9601200" cy="777240"/>
          </a:xfrm>
          <a:prstGeom prst="roundRect">
            <a:avLst/>
          </a:prstGeom>
          <a:solidFill>
            <a:srgbClr val="00254A"/>
          </a:solidFill>
          <a:ln w="3175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latin typeface="Times New Roman"/>
              </a:defRPr>
            </a:pPr>
            <a:r>
              <a:t>PHÒNG CHỐNG ĐỊCH LỢI DỤNG VẤN ĐỀ TÔN GIÁO CHỐNG PHÁ VIỆT NAM</a:t>
            </a:r>
          </a:p>
        </p:txBody>
      </p:sp>
      <p:sp>
        <p:nvSpPr>
          <p:cNvPr id="11" name="Rounded Rectangle 10"/>
          <p:cNvSpPr/>
          <p:nvPr/>
        </p:nvSpPr>
        <p:spPr>
          <a:xfrm>
            <a:off x="548640"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1. ÂM MƯU CỦA ĐỊCH</a:t>
            </a:r>
          </a:p>
          <a:p>
            <a:pPr>
              <a:defRPr sz="1600">
                <a:solidFill>
                  <a:srgbClr val="1E293B"/>
                </a:solidFill>
                <a:latin typeface="Times New Roman"/>
              </a:defRPr>
            </a:pPr>
            <a:r>
              <a:t>• Tạo lực lượng đối trọng chính trị</a:t>
            </a:r>
          </a:p>
          <a:p>
            <a:pPr>
              <a:defRPr sz="1600">
                <a:solidFill>
                  <a:srgbClr val="1E293B"/>
                </a:solidFill>
                <a:latin typeface="Times New Roman"/>
              </a:defRPr>
            </a:pPr>
            <a:r>
              <a:t>• Kích động khiếu kiện đất đai</a:t>
            </a:r>
          </a:p>
          <a:p>
            <a:pPr>
              <a:defRPr sz="1600">
                <a:solidFill>
                  <a:srgbClr val="1E293B"/>
                </a:solidFill>
                <a:latin typeface="Times New Roman"/>
              </a:defRPr>
            </a:pPr>
            <a:r>
              <a:t>• Gieo rắc tà đạo độc hại</a:t>
            </a:r>
          </a:p>
          <a:p>
            <a:pPr>
              <a:defRPr sz="1600">
                <a:solidFill>
                  <a:srgbClr val="1E293B"/>
                </a:solidFill>
                <a:latin typeface="Times New Roman"/>
              </a:defRPr>
            </a:pPr>
            <a:r>
              <a:t>• Quốc tế hóa vu cáo đàn áp</a:t>
            </a:r>
          </a:p>
        </p:txBody>
      </p:sp>
      <p:sp>
        <p:nvSpPr>
          <p:cNvPr id="12" name="Rounded Rectangle 11"/>
          <p:cNvSpPr/>
          <p:nvPr/>
        </p:nvSpPr>
        <p:spPr>
          <a:xfrm>
            <a:off x="3392424"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2. GP 1 &amp; 2 (NỀN TẢNG)</a:t>
            </a:r>
          </a:p>
          <a:p>
            <a:pPr>
              <a:defRPr sz="1600">
                <a:solidFill>
                  <a:srgbClr val="1E293B"/>
                </a:solidFill>
                <a:latin typeface="Times New Roman"/>
              </a:defRPr>
            </a:pPr>
            <a:r>
              <a:t>• GP1: Tuyên truyền Luật TNTG 2016</a:t>
            </a:r>
          </a:p>
          <a:p>
            <a:pPr>
              <a:defRPr sz="1600">
                <a:solidFill>
                  <a:srgbClr val="1E293B"/>
                </a:solidFill>
                <a:latin typeface="Times New Roman"/>
              </a:defRPr>
            </a:pPr>
            <a:r>
              <a:t>• GP2: Thắt chặt đoàn kết Lương - Giáo</a:t>
            </a:r>
          </a:p>
          <a:p>
            <a:pPr>
              <a:defRPr sz="1600">
                <a:solidFill>
                  <a:srgbClr val="1E293B"/>
                </a:solidFill>
                <a:latin typeface="Times New Roman"/>
              </a:defRPr>
            </a:pPr>
            <a:r>
              <a:t>• Phát huy 'Tốt đời đẹp đạo'</a:t>
            </a:r>
          </a:p>
        </p:txBody>
      </p:sp>
      <p:sp>
        <p:nvSpPr>
          <p:cNvPr id="13" name="Rounded Rectangle 12"/>
          <p:cNvSpPr/>
          <p:nvPr/>
        </p:nvSpPr>
        <p:spPr>
          <a:xfrm>
            <a:off x="6236208"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3. GP 3 (THEN CHỐT)</a:t>
            </a:r>
          </a:p>
          <a:p>
            <a:pPr>
              <a:defRPr sz="1600">
                <a:solidFill>
                  <a:srgbClr val="1E293B"/>
                </a:solidFill>
                <a:latin typeface="Times New Roman"/>
              </a:defRPr>
            </a:pPr>
            <a:r>
              <a:t>• Nâng cao năng lực quản lý nhà nước</a:t>
            </a:r>
          </a:p>
          <a:p>
            <a:pPr>
              <a:defRPr sz="1600">
                <a:solidFill>
                  <a:srgbClr val="1E293B"/>
                </a:solidFill>
                <a:latin typeface="Times New Roman"/>
              </a:defRPr>
            </a:pPr>
            <a:r>
              <a:t>• Đào tạo cán bộ chuyên trách tôn giáo</a:t>
            </a:r>
          </a:p>
          <a:p>
            <a:pPr>
              <a:defRPr sz="1600">
                <a:solidFill>
                  <a:srgbClr val="1E293B"/>
                </a:solidFill>
                <a:latin typeface="Times New Roman"/>
              </a:defRPr>
            </a:pPr>
            <a:r>
              <a:t>• Ngăn chặn tà đạo, đạo lạ từ sớm</a:t>
            </a:r>
          </a:p>
        </p:txBody>
      </p:sp>
      <p:sp>
        <p:nvSpPr>
          <p:cNvPr id="14" name="Rounded Rectangle 13"/>
          <p:cNvSpPr/>
          <p:nvPr/>
        </p:nvSpPr>
        <p:spPr>
          <a:xfrm>
            <a:off x="9079992"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4. GP 4 (ĐẤU TRANH)</a:t>
            </a:r>
          </a:p>
          <a:p>
            <a:pPr>
              <a:defRPr sz="1600">
                <a:solidFill>
                  <a:srgbClr val="1E293B"/>
                </a:solidFill>
                <a:latin typeface="Times New Roman"/>
              </a:defRPr>
            </a:pPr>
            <a:r>
              <a:t>• Kiên quyết đấu tranh tư tưởng</a:t>
            </a:r>
          </a:p>
          <a:p>
            <a:pPr>
              <a:defRPr sz="1600">
                <a:solidFill>
                  <a:srgbClr val="1E293B"/>
                </a:solidFill>
                <a:latin typeface="Times New Roman"/>
              </a:defRPr>
            </a:pPr>
            <a:r>
              <a:t>• Vô hiệu hóa kẻ đội lốt tôn giáo</a:t>
            </a:r>
          </a:p>
          <a:p>
            <a:pPr>
              <a:defRPr sz="1600">
                <a:solidFill>
                  <a:srgbClr val="1E293B"/>
                </a:solidFill>
                <a:latin typeface="Times New Roman"/>
              </a:defRPr>
            </a:pPr>
            <a:r>
              <a:t>• Chủ động thông tin đối ngoại chính xác</a:t>
            </a:r>
          </a:p>
        </p:txBody>
      </p:sp>
      <p:sp>
        <p:nvSpPr>
          <p:cNvPr id="15" name="Rounded Rectangle 14"/>
          <p:cNvSpPr/>
          <p:nvPr/>
        </p:nvSpPr>
        <p:spPr>
          <a:xfrm>
            <a:off x="548640" y="5532120"/>
            <a:ext cx="11094415" cy="640080"/>
          </a:xfrm>
          <a:prstGeom prst="roundRect">
            <a:avLst/>
          </a:prstGeom>
          <a:solidFill>
            <a:srgbClr val="EBF3FA"/>
          </a:solidFill>
          <a:ln w="190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3B70"/>
                </a:solidFill>
                <a:latin typeface="Times New Roman"/>
              </a:defRPr>
            </a:pPr>
            <a:r>
              <a:t>★ Tôn trọng tự do tín ngưỡng chân chính - Kiên quyết không để tôn giáo bị lợi dụng làm công cụ chống phá Tổ quốc.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10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TRÁCH NHIỆM CÔNG DÂN - SINH VIÊN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Trách nhiệm của sinh viên Đại học Đại Nam (DNU)</a:t>
            </a:r>
          </a:p>
        </p:txBody>
      </p:sp>
      <p:sp>
        <p:nvSpPr>
          <p:cNvPr id="11" name="Rounded Rectangle 10"/>
          <p:cNvSpPr/>
          <p:nvPr/>
        </p:nvSpPr>
        <p:spPr>
          <a:xfrm>
            <a:off x="548640" y="1572768"/>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1. Tuyệt đối Trung thành với Đảng, Nhà nước &amp; Tổ quốc</a:t>
            </a:r>
          </a:p>
          <a:p>
            <a:pPr>
              <a:defRPr sz="1700">
                <a:solidFill>
                  <a:srgbClr val="1E293B"/>
                </a:solidFill>
                <a:latin typeface="Times New Roman"/>
              </a:defRPr>
            </a:pPr>
            <a:r>
              <a:t>Kiên định mục tiêu độc lập dân tộc gắn liền với Chủ nghĩa xã hội; chấp hành nghiêm chỉnh đường lối của Đảng, chính sách và pháp luật của Nhà nước.</a:t>
            </a:r>
          </a:p>
        </p:txBody>
      </p:sp>
      <p:sp>
        <p:nvSpPr>
          <p:cNvPr id="12" name="Rounded Rectangle 11"/>
          <p:cNvSpPr/>
          <p:nvPr/>
        </p:nvSpPr>
        <p:spPr>
          <a:xfrm>
            <a:off x="6248095" y="1572768"/>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2. Tích cực Học tập, Tu dưỡng Đạo đức Cách mạng</a:t>
            </a:r>
          </a:p>
          <a:p>
            <a:pPr>
              <a:defRPr sz="1700">
                <a:solidFill>
                  <a:srgbClr val="1E293B"/>
                </a:solidFill>
                <a:latin typeface="Times New Roman"/>
              </a:defRPr>
            </a:pPr>
            <a:r>
              <a:t>Rèn luyện bản lĩnh chính trị vững vàng, trau dồi tri thức khoa học, nâng cao trình độ chuyên môn; hoàn thành xuất sắc nhiệm vụ rèn luyện tại Nhà trường.</a:t>
            </a:r>
          </a:p>
        </p:txBody>
      </p:sp>
      <p:sp>
        <p:nvSpPr>
          <p:cNvPr id="13" name="Rounded Rectangle 12"/>
          <p:cNvSpPr/>
          <p:nvPr/>
        </p:nvSpPr>
        <p:spPr>
          <a:xfrm>
            <a:off x="548640" y="3977639"/>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3. Nêu cao Tinh thần Cảnh giác Cách mạng</a:t>
            </a:r>
          </a:p>
          <a:p>
            <a:pPr>
              <a:defRPr sz="1700">
                <a:solidFill>
                  <a:srgbClr val="1E293B"/>
                </a:solidFill>
                <a:latin typeface="Times New Roman"/>
              </a:defRPr>
            </a:pPr>
            <a:r>
              <a:t>Chủ động phòng ngừa và kiên quyết đấu tranh phản bác các quan điểm sai trái, thù địch; không chia sẻ thông tin xấu độc kích động chia rẽ dân tộc.</a:t>
            </a:r>
          </a:p>
        </p:txBody>
      </p:sp>
      <p:sp>
        <p:nvSpPr>
          <p:cNvPr id="14" name="Rounded Rectangle 13"/>
          <p:cNvSpPr/>
          <p:nvPr/>
        </p:nvSpPr>
        <p:spPr>
          <a:xfrm>
            <a:off x="6248095" y="3977639"/>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4. Xung kích Tham gia Bảo vệ An ninh Tổ quốc</a:t>
            </a:r>
          </a:p>
          <a:p>
            <a:pPr>
              <a:defRPr sz="1700">
                <a:solidFill>
                  <a:srgbClr val="1E293B"/>
                </a:solidFill>
                <a:latin typeface="Times New Roman"/>
              </a:defRPr>
            </a:pPr>
            <a:r>
              <a:t>Gương mẫu trong phong trào toàn dân bảo vệ an ninh Tổ quốc tại học đường và nơi cư trú; sẵn sàng thực hiện nghĩa vụ quân sự bảo vệ vững chắc Tổ quốc.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11 / 12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Mini Game: Đố vui củng cố kiến thức Vấn đề 6</a:t>
            </a:r>
          </a:p>
        </p:txBody>
      </p:sp>
      <p:sp>
        <p:nvSpPr>
          <p:cNvPr id="10" name="Rounded Rectangle 9"/>
          <p:cNvSpPr/>
          <p:nvPr/>
        </p:nvSpPr>
        <p:spPr>
          <a:xfrm>
            <a:off x="548640" y="1508760"/>
            <a:ext cx="11094415" cy="1051560"/>
          </a:xfrm>
          <a:prstGeom prst="roundRect">
            <a:avLst/>
          </a:prstGeom>
          <a:solidFill>
            <a:srgbClr val="EBF3FA"/>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0254A"/>
                </a:solidFill>
                <a:latin typeface="Times New Roman"/>
              </a:defRPr>
            </a:pPr>
            <a:r>
              <a:t>CÂU HỎI: Thủ đoạn nào sau đây của các thế lực thù địch nhằm biến tôn giáo thành lực lượng đối trọng chính trị?</a:t>
            </a:r>
          </a:p>
        </p:txBody>
      </p:sp>
      <p:sp>
        <p:nvSpPr>
          <p:cNvPr id="11" name="Rounded Rectangle 10"/>
          <p:cNvSpPr/>
          <p:nvPr/>
        </p:nvSpPr>
        <p:spPr>
          <a:xfrm>
            <a:off x="548640"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A. Khuyến khích đồng bào tham gia các hoạt động từ thiện</a:t>
            </a:r>
          </a:p>
        </p:txBody>
      </p:sp>
      <p:sp>
        <p:nvSpPr>
          <p:cNvPr id="12" name="Rounded Rectangle 11"/>
          <p:cNvSpPr/>
          <p:nvPr/>
        </p:nvSpPr>
        <p:spPr>
          <a:xfrm>
            <a:off x="6248095"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B. Kích động tranh chấp đất đai cơ sở thờ tự và đòi ly khai</a:t>
            </a:r>
          </a:p>
        </p:txBody>
      </p:sp>
      <p:sp>
        <p:nvSpPr>
          <p:cNvPr id="13" name="Rounded Rectangle 12"/>
          <p:cNvSpPr/>
          <p:nvPr/>
        </p:nvSpPr>
        <p:spPr>
          <a:xfrm>
            <a:off x="548640"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C. Hỗ trợ in ấn kinh sách theo đúng quy định pháp luật</a:t>
            </a:r>
          </a:p>
        </p:txBody>
      </p:sp>
      <p:sp>
        <p:nvSpPr>
          <p:cNvPr id="14" name="Rounded Rectangle 13"/>
          <p:cNvSpPr/>
          <p:nvPr/>
        </p:nvSpPr>
        <p:spPr>
          <a:xfrm>
            <a:off x="6248095"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D. Đóng góp kinh phí xây dựng trường mầm non</a:t>
            </a:r>
          </a:p>
        </p:txBody>
      </p:sp>
      <p:sp>
        <p:nvSpPr>
          <p:cNvPr id="15" name="Rounded Rectangle 14"/>
          <p:cNvSpPr/>
          <p:nvPr/>
        </p:nvSpPr>
        <p:spPr>
          <a:xfrm>
            <a:off x="548640" y="5257800"/>
            <a:ext cx="11094415" cy="96012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65F46"/>
                </a:solidFill>
                <a:latin typeface="Times New Roman"/>
              </a:defRPr>
            </a:pPr>
            <a:r>
              <a:t>ĐÁP ÁN ĐÚNG &amp; GIẢI THÍCH: B. Kích động khiếu kiện đất đai, đòi lại cơ sở thờ tự trái luật là thủ đoạn thâm độc nhằm kích động tâm lý đối kháng giữa tôn giáo và chính quyền.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548640"/>
            <a:ext cx="10911535" cy="5760720"/>
          </a:xfrm>
          <a:prstGeom prst="roundRect">
            <a:avLst/>
          </a:prstGeom>
          <a:solidFill>
            <a:srgbClr val="FFFFFF"/>
          </a:solidFill>
          <a:ln w="381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i-nam-logo.png"/>
          <p:cNvPicPr>
            <a:picLocks noChangeAspect="1"/>
          </p:cNvPicPr>
          <p:nvPr/>
        </p:nvPicPr>
        <p:blipFill>
          <a:blip r:embed="rId2"/>
          <a:stretch>
            <a:fillRect/>
          </a:stretch>
        </p:blipFill>
        <p:spPr>
          <a:xfrm>
            <a:off x="9396374" y="777240"/>
            <a:ext cx="1850745" cy="502920"/>
          </a:xfrm>
          <a:prstGeom prst="rect">
            <a:avLst/>
          </a:prstGeom>
        </p:spPr>
      </p:pic>
      <p:sp>
        <p:nvSpPr>
          <p:cNvPr id="5" name="TextBox 4"/>
          <p:cNvSpPr txBox="1"/>
          <p:nvPr/>
        </p:nvSpPr>
        <p:spPr>
          <a:xfrm>
            <a:off x="1005840" y="777240"/>
            <a:ext cx="5486400" cy="411480"/>
          </a:xfrm>
          <a:prstGeom prst="rect">
            <a:avLst/>
          </a:prstGeom>
          <a:noFill/>
        </p:spPr>
        <p:txBody>
          <a:bodyPr wrap="none">
            <a:spAutoFit/>
          </a:bodyPr>
          <a:lstStyle/>
          <a:p>
            <a:pPr>
              <a:defRPr sz="1300" b="1">
                <a:solidFill>
                  <a:srgbClr val="F37021"/>
                </a:solidFill>
                <a:latin typeface="Times New Roman"/>
              </a:defRPr>
            </a:pPr>
            <a:r>
              <a:t>TRƯỜNG ĐẠI HỌC ĐẠI NAM  •  HỌC ĐỂ THAY ĐỔI</a:t>
            </a:r>
          </a:p>
        </p:txBody>
      </p:sp>
      <p:sp>
        <p:nvSpPr>
          <p:cNvPr id="6" name="TextBox 5"/>
          <p:cNvSpPr txBox="1"/>
          <p:nvPr/>
        </p:nvSpPr>
        <p:spPr>
          <a:xfrm>
            <a:off x="1005840" y="1371600"/>
            <a:ext cx="10180015" cy="731520"/>
          </a:xfrm>
          <a:prstGeom prst="rect">
            <a:avLst/>
          </a:prstGeom>
          <a:noFill/>
        </p:spPr>
        <p:txBody>
          <a:bodyPr wrap="none">
            <a:spAutoFit/>
          </a:bodyPr>
          <a:lstStyle/>
          <a:p>
            <a:pPr algn="ctr">
              <a:defRPr sz="3600" b="1">
                <a:solidFill>
                  <a:srgbClr val="F37021"/>
                </a:solidFill>
                <a:latin typeface="Times New Roman"/>
              </a:defRPr>
            </a:pPr>
            <a:r>
              <a:t>XIN TRÂN TRỌNG CẢM ƠN!</a:t>
            </a:r>
          </a:p>
        </p:txBody>
      </p:sp>
      <p:sp>
        <p:nvSpPr>
          <p:cNvPr id="7" name="TextBox 6"/>
          <p:cNvSpPr txBox="1"/>
          <p:nvPr/>
        </p:nvSpPr>
        <p:spPr>
          <a:xfrm>
            <a:off x="1005840" y="2148840"/>
            <a:ext cx="10180015" cy="548640"/>
          </a:xfrm>
          <a:prstGeom prst="rect">
            <a:avLst/>
          </a:prstGeom>
          <a:noFill/>
        </p:spPr>
        <p:txBody>
          <a:bodyPr wrap="none">
            <a:spAutoFit/>
          </a:bodyPr>
          <a:lstStyle/>
          <a:p>
            <a:pPr algn="ctr">
              <a:defRPr sz="2000" b="1">
                <a:solidFill>
                  <a:srgbClr val="00254A"/>
                </a:solidFill>
                <a:latin typeface="Times New Roman"/>
              </a:defRPr>
            </a:pPr>
            <a:r>
              <a:t>Kính chúc Thầy/Cô và các bạn sinh viên luôn dồi dào sức khỏe, hạnh phúc và thành công!</a:t>
            </a:r>
          </a:p>
        </p:txBody>
      </p:sp>
      <p:sp>
        <p:nvSpPr>
          <p:cNvPr id="8" name="TextBox 7"/>
          <p:cNvSpPr txBox="1"/>
          <p:nvPr/>
        </p:nvSpPr>
        <p:spPr>
          <a:xfrm>
            <a:off x="1371600" y="2697480"/>
            <a:ext cx="9448495" cy="868680"/>
          </a:xfrm>
          <a:prstGeom prst="rect">
            <a:avLst/>
          </a:prstGeom>
          <a:noFill/>
        </p:spPr>
        <p:txBody>
          <a:bodyPr wrap="square">
            <a:spAutoFit/>
          </a:bodyPr>
          <a:lstStyle/>
          <a:p>
            <a:pPr algn="ctr">
              <a:defRPr sz="1700">
                <a:solidFill>
                  <a:srgbClr val="1E293B"/>
                </a:solidFill>
                <a:latin typeface="Times New Roman"/>
              </a:defRPr>
            </a:pPr>
            <a:r>
              <a:t>Nhóm 6 xin chân thành cảm ơn Thầy/Cô giảng viên bộ môn Giáo dục Quốc phòng &amp; An ninh cùng toàn thể các bạn sinh viên lớp học phần đã chú ý theo dõi và lắng nghe bài thuyết trình của nhóm.</a:t>
            </a:r>
          </a:p>
        </p:txBody>
      </p:sp>
      <p:sp>
        <p:nvSpPr>
          <p:cNvPr id="9" name="Rounded Rectangle 8"/>
          <p:cNvSpPr/>
          <p:nvPr/>
        </p:nvSpPr>
        <p:spPr>
          <a:xfrm>
            <a:off x="1280160" y="3657600"/>
            <a:ext cx="9631375" cy="1417320"/>
          </a:xfrm>
          <a:prstGeom prst="roundRect">
            <a:avLst/>
          </a:prstGeom>
          <a:solidFill>
            <a:srgbClr val="EBF3FA"/>
          </a:solidFill>
          <a:ln w="317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ctr">
              <a:defRPr sz="1400" b="1">
                <a:solidFill>
                  <a:srgbClr val="003B70"/>
                </a:solidFill>
                <a:latin typeface="Times New Roman"/>
              </a:defRPr>
            </a:pPr>
            <a:r>
              <a:t>★ THÔNG ĐIỆP BẾ MẠC:</a:t>
            </a:r>
          </a:p>
          <a:p>
            <a:pPr>
              <a:defRPr sz="1700" b="1" i="1">
                <a:solidFill>
                  <a:srgbClr val="00254A"/>
                </a:solidFill>
                <a:latin typeface="Times New Roman"/>
              </a:defRPr>
            </a:pPr>
            <a:r>
              <a:t>"Giữ vững thế trận lòng dân, thắt chặt tình đoàn kết lương - giáo, kiên quyết đấu tranh phản bác luận điệu sai trái, bảo vệ cuộc sống bình yên của nhân dân!"</a:t>
            </a:r>
          </a:p>
        </p:txBody>
      </p:sp>
      <p:sp>
        <p:nvSpPr>
          <p:cNvPr id="10" name="TextBox 9"/>
          <p:cNvSpPr txBox="1"/>
          <p:nvPr/>
        </p:nvSpPr>
        <p:spPr>
          <a:xfrm>
            <a:off x="1005840" y="5303520"/>
            <a:ext cx="10180015" cy="502920"/>
          </a:xfrm>
          <a:prstGeom prst="rect">
            <a:avLst/>
          </a:prstGeom>
          <a:noFill/>
        </p:spPr>
        <p:txBody>
          <a:bodyPr wrap="none">
            <a:spAutoFit/>
          </a:bodyPr>
          <a:lstStyle/>
          <a:p>
            <a:pPr algn="ctr">
              <a:defRPr sz="1400" b="1">
                <a:solidFill>
                  <a:srgbClr val="64748B"/>
                </a:solidFill>
                <a:latin typeface="Times New Roman"/>
              </a:defRPr>
            </a:pPr>
            <a:r>
              <a:t>Nhóm 6 (Lớp GDQP-AN)   •   Khoa Giáo dục Quốc phòng &amp; An ninh   •   Trường Đại học Đại Nam</a:t>
            </a:r>
          </a:p>
          <a:p>
            <a:pPr algn="ctr">
              <a:defRPr sz="1400" b="1">
                <a:solidFill>
                  <a:srgbClr val="F37021"/>
                </a:solidFill>
                <a:latin typeface="Times New Roman"/>
              </a:defRPr>
            </a:pPr>
            <a:r>
              <a:t>HỌC ĐỂ THAY ĐỔI   •   http://dainam.edu.vn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