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37021"/>
                </a:solidFill>
                <a:latin typeface="Times New Roman"/>
              </a:defRPr>
            </a:pPr>
            <a:r>
              <a:t>TRƯỜNG ĐẠI HỌC ĐẠI NAM  •  HỌC ĐỂ THAY ĐỔI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GIÁO DỤC QUỐC PHÒNG &amp; AN NINH (HỌC PHẦN 2) • VẤN ĐỀ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37021"/>
                </a:solidFill>
                <a:latin typeface="Times New Roman"/>
              </a:defRPr>
            </a:pPr>
            <a:r>
              <a:t>TÔN GIÁO, VẤN ĐỀ TÔN GIÁO VÀ QUAN ĐIỂM GIẢI QUYẾT CỦA CHỦ NGHĨA MÁC - LÊNIN, TƯ TƯỞNG HỒ CHÍ MINH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Times New Roman"/>
              </a:defRPr>
            </a:pPr>
            <a:r>
              <a:t>Nhóm thực hiện: Nhóm 2 (Lớp GDQP-AN)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02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TỔNG QUAN BÀI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Mục tiêu &amp; Khung nội dung thuyết trình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01. Khái niệm &amp; Nguồn gốc Bản chất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Phân biệt khoa học giữa tôn giáo, tín ngưỡng và mê tín dị đoan.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3 nguồn gốc (Tự nhiên-KT-XH, nhận thức, tâm lý) &amp; 3 tính chất (lịch sử, quần chúng, chính trị).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2864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02. Quan điểm Lý luận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Chủ nghĩa Mác - Lênin: 4 nguyên tắc phương pháp luận giải quyết vấn đề tôn giáo.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Tư tưởng Hồ Chí Minh: Tôn giáo là di sản văn hóa đạo đức; đại đoàn kết Lương - Giáo.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32960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03. Ý nghĩa Thực tiễn &amp; Trách nhiệm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Bảo đảm quyền tự do tín ngưỡng; thực hiện tốt 'Tốt đời đẹp đạo'.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Trách nhiệm sinh viên: Tuyệt đối trung thành, tu dưỡng đạo đức, bài trừ tà đạo học đường.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ietnam_pago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53210"/>
            <a:ext cx="4602175" cy="30681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Tôn giáo hòa quyện cùng Dân tộc: Tại Việt Nam, các tôn giáo luôn đồng hành cùng dòng chảy lịch sử, bồi đắp các giá trị văn hóa đạo đức nhân văn sâu sắc.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03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LÝ LUẬN CƠ BẢN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Phân biệt Tôn giáo, Tín ngưỡng &amp; Mê tín dị đoan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1. Tôn giáo (Religion)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Hình thái ý thức xã hội phản ánh hư ảo hiện thực khách quan vào đầu óc con người.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Cấu trúc hoàn chỉnh: Giáo lý, giáo luật, lễ nghi và tổ chức giáo hội được công nhận.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2864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2. Tín ngưỡng dân gian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Hệ thống niềm tin vào lực lượng linh thiêng gắn với đời sống văn hóa tinh thần truyền thống.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Ví dụ: Thờ cúng tổ tiên, Tín ngưỡng thờ Mẫu, Giỗ Tổ Hùng Vương (Di sản UNESCO).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32960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3. Mê tín dị đoan (Cần bài trừ)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Sự tin tưởng mù quáng vào những điều phản khoa học, huyễn hoặc, nhảm nhí.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Gây tổn hại sức khỏe, tài sản, hoang mang tâm lý xã hội (bói toán, tà đạo lừa đảo).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ietnam_chur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411" y="1572768"/>
            <a:ext cx="1929113" cy="3429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Bảo đảm tự do tín ngưỡng lành mạnh: Nhà nước bảo hộ sinh hoạt tôn giáo hợp pháp, đồng thời kiên quyết bài trừ mê tín dị đoan.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04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NGUỒN GỐC &amp; BẢN CHẤT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Ba nguồn gốc &amp; Ba tính chất của Tôn giáo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A. Ba Nguồn gốc của Tôn giáo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Tự nhiên - KT - Xã hội: Sự bất lực trước sức mạnh thiên tai và áp bức giai cấp bóc lột.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Nhận thức: Giới hạn nhận thức của con người trước các quy luật tự nhiên trong từng thời kỳ.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Tâm lý: Nỗi sợ hãi, cô đơn, mong ước tìm kiếm chỗ dựa tinh thần an ủi, bình yên.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67912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B. Ba Tính chất của Tôn giáo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Tính lịch sử: Có điểm khởi đầu, biến đổi và sẽ tiêu vong khi nguồn gốc sinh ra nó mất đi.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Tính quần chúng: Nơi sinh hoạt văn hóa tinh thần của hàng tỷ người trên thế giới.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Tính chính trị: Thường bị các thế lực phản động lợi dụng phục vụ mục đích giai cấp.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etnam_book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57045"/>
            <a:ext cx="4602175" cy="306044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Thế giới quan duy vật biện chứng: Giải quyết vấn đề tôn giáo phải từng bước xóa bỏ tận gốc các nguyên nhân kinh tế - xã hội đẻ ra nó.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05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NGUYÊN TẮC GIẢI QUYẾT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Quan điểm Mác - Lênin: 4 Nguyên tắc cơ bản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10378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1. Khắc phục nguồn gốc trần thế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Phát triển kinh tế, nâng cao đời sống vật chất, xóa đói giảm nghèo và phổ cập giáo dục thay vì cấm đoán cơ học.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20340"/>
            <a:ext cx="6217920" cy="10378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2. Tôn trọng quyền tự do tín ngưỡng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Tôn trọng quyền theo hoặc không theo bất kỳ tôn giáo nào. Mọi công dân bình đẳng trước pháp luật.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67912"/>
            <a:ext cx="6217920" cy="10378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3. Phân biệt 2 mặt: Chính trị &amp; Tư tưởng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Mặt tư tưởng (nhu cầu tâm linh) cần tuyên truyền giáo dục; mặt chính trị (lợi dụng chống phá) phải kiên quyết trừng trị.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15484"/>
            <a:ext cx="6217920" cy="10378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4. Quan điểm lịch sử - cụ thể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Mỗi thời kỳ, mỗi tôn giáo có vai trò khác nhau, cần có biện pháp ứng xử linh hoạt, phù hợp thực tế.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vietnam_la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53210"/>
            <a:ext cx="4602175" cy="30681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Thượng tôn pháp luật: Kết hợp hài hòa giữa tôn trọng quyền tự do tín ngưỡng của nhân dân với giữ vững kỷ cương phép nước, an ninh quốc gia.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06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TƯ TƯỞNG HỒ CHÍ MINH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Tư tưởng Hồ Chí Minh về Tôn giáo &amp; Đại đoàn kết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1. Tôn trọng giá trị văn hóa đạo đức tôn giáo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Bác khẳng định: Chúa Giê-su dạy bác ái, Phật Thích Ca dạy từ bi, Khổng Tử dạy nhân nghĩa.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Gạn đục khơi trong, tiếp thu điểm tương đồng vì độc lập dân tộc và hạnh phúc nhân dân.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2864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2. Đại đoàn kết Đồng bào Lương - Giáo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Đoàn kết chặt chẽ người có đạo và không có đạo, các tôn giáo bình đẳng, tương trợ nhau.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Khuyên răn đồng bào công giáo: 'Kính Chúa yêu nước', 'Sống phúc âm giữa lòng dân tộc'.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32960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3. Nghiêm trị kẻ đội lốt tôn giáo chống phá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Bảo vệ tín đồ chân chính; trừng trị những kẻ lợi dụng tôn giáo phá hoại sự nghiệp cách mạng.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ietnam_un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53210"/>
            <a:ext cx="4602175" cy="30681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Khối đại đoàn kết bền vững: Toàn thể đồng bào Lương - Giáo cùng chung một lòng phụng sự Tổ quốc, xây dựng đất nước đàng hoàng hơn, to đẹp hơn.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07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GIÁ TRỊ THỰC TIỄN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Ý nghĩa đối với Cách mạng Việt Nam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A. Kim chỉ nam hoạch định chính sách tôn giáo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Cơ sở hiến định: Điều 24 Hiến pháp 2013 và Luật Tín ngưỡng, tôn giáo 2016.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Tạo hành lang pháp lý minh bạch, bình đẳng cho mọi sinh hoạt tôn giáo chân chính.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02864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B. Huy động nguồn lực các tôn giáo phụng sự xã hội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Phát huy truyền thống 'từ bi cứu khổ', 'bác ái dấn thân' trong an sinh, y tế, cứu trợ thiên tai.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32960"/>
            <a:ext cx="6217920" cy="1420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C. Vô hiệu hóa mưu đồ Diễn biến hòa bình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Tăng cường sức đề kháng cho đồng bào có đạo trước các âm mưu kích động ly gián tôn giáo.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ietnam_cul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849088"/>
            <a:ext cx="4602175" cy="28763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Đạo đời hòa hợp: Sự đồng hành của các tôn giáo đã tạo nên sức mạnh tổng hợp to lớn, giữ vững ổn định chính trị - xã hội đất nước.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08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BỨC TRANH TOÀN CẢNH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Bức tranh Tôn giáo Đa dạng &amp; Hòa hợp tại Việt Nam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1. Tôn giáo Đồng hành cùng Dân tộc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Phật giáo: 'Đạo pháp - Dân tộc - Chủ nghĩa xã hội'.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Công giáo: 'Sống phúc âm giữa lòng dân tộc để phục vụ hạnh phúc của đồng bào'.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Tin lành: 'Sống phúc âm, phụng sự Thiên chúa, phục vụ Tổ quốc và Dân tộc'.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67912"/>
            <a:ext cx="6217920" cy="218541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09728" bIns="109728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2. Không có xung đột, chiến tranh tôn giáo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Việt Nam chưa từng có chiến tranh tôn giáo. Các tín đồ cùng chung sống hòa thuận trong thôn xóm, gia đình.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• Đóng góp hàng ngàn tỷ đồng và hàng triệu ngày công cho công tác từ thiện xã hội.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6016" y="1517904"/>
            <a:ext cx="4711903" cy="35387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ietnam_pagod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53210"/>
            <a:ext cx="4602175" cy="30681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40880" y="5138928"/>
            <a:ext cx="46021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64748B"/>
                </a:solidFill>
                <a:latin typeface="Times New Roman"/>
              </a:defRPr>
            </a:pPr>
            <a:r>
              <a:t>Chung tay vì cộng đồng: Trong đại dịch và bão lũ, hàng ngàn chức sắc, tu sĩ, tín đồ các tôn giáo đã không quản ngại nguy hiểm tình nguyện hỗ trợ nhân dân.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09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Sơ đồ tư duy: Tôn giáo &amp; Quan điểm giải quyết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4790" y="1389888"/>
            <a:ext cx="9601200" cy="777240"/>
          </a:xfrm>
          <a:prstGeom prst="roundRect">
            <a:avLst/>
          </a:prstGeom>
          <a:solidFill>
            <a:srgbClr val="00254A"/>
          </a:solidFill>
          <a:ln w="317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Times New Roman"/>
              </a:defRPr>
            </a:pPr>
            <a:r>
              <a:t>TÔN GIÁO &amp; QUAN ĐIỂM GIẢI QUYẾT CỦA MÁC - LÊNIN, TƯ TƯỞNG HỒ CHÍ MINH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77440"/>
            <a:ext cx="2560320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700" b="1">
                <a:solidFill>
                  <a:srgbClr val="00254A"/>
                </a:solidFill>
                <a:latin typeface="Times New Roman"/>
              </a:defRPr>
            </a:pPr>
            <a:r>
              <a:t>1. KHÁI NIỆM &amp; NGUỒN GỐC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Phân biệt Tôn giáo - Tín ngưỡng - Mê tín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3 nguồn gốc: Tự nhiên-KT-XH, nhận thức, tâm lý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3 tính chất: Lịch sử, quần chúng, chính trị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2424" y="2377440"/>
            <a:ext cx="2560320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700" b="1">
                <a:solidFill>
                  <a:srgbClr val="00254A"/>
                </a:solidFill>
                <a:latin typeface="Times New Roman"/>
              </a:defRPr>
            </a:pPr>
            <a:r>
              <a:t>2. 4 NGUYÊN TẮC LÊNIN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Khắc phục nguồn gốc trần thế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Tôn trọng tự do tín ngưỡng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Phân biệt mặt Chính trị &amp; Tư tưởng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Quan điểm lịch sử - cụ thể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377440"/>
            <a:ext cx="2560320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700" b="1">
                <a:solidFill>
                  <a:srgbClr val="00254A"/>
                </a:solidFill>
                <a:latin typeface="Times New Roman"/>
              </a:defRPr>
            </a:pPr>
            <a:r>
              <a:t>3. TƯ TƯỞNG BÁC HỒ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Tiếp thu giá trị nhân văn tôn giáo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Đoàn kết Lương - Giáo keo sơn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Kính Chúa yêu nước, tốt đời đẹp đạo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Xử nghiêm kẻ đội lốt phá hoại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9992" y="2377440"/>
            <a:ext cx="2560320" cy="2971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 bIns="137160"/>
          <a:lstStyle/>
          <a:p>
            <a:pPr algn="ctr">
              <a:defRPr sz="1700" b="1">
                <a:solidFill>
                  <a:srgbClr val="00254A"/>
                </a:solidFill>
                <a:latin typeface="Times New Roman"/>
              </a:defRPr>
            </a:pPr>
            <a:r>
              <a:t>4. THỰC TIỄN VIỆT NAM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16 tôn giáo, 27 triệu tín đồ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Điều 24 Hiến pháp 2013 &amp; Luật TNTG</a:t>
            </a:r>
          </a:p>
          <a:p>
            <a:pPr>
              <a:defRPr sz="1600">
                <a:solidFill>
                  <a:srgbClr val="1E293B"/>
                </a:solidFill>
                <a:latin typeface="Times New Roman"/>
              </a:defRPr>
            </a:pPr>
            <a:r>
              <a:t>• Đồng hành phụng sự Tổ quốc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532120"/>
            <a:ext cx="11094415" cy="640080"/>
          </a:xfrm>
          <a:prstGeom prst="roundRect">
            <a:avLst/>
          </a:prstGeom>
          <a:solidFill>
            <a:srgbClr val="EBF3FA"/>
          </a:solidFill>
          <a:ln w="1905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3B70"/>
                </a:solidFill>
                <a:latin typeface="Times New Roman"/>
              </a:defRPr>
            </a:pPr>
            <a:r>
              <a:t>★ Tôn trọng tự do tín ngưỡng gắn liền với kỷ cương phép nước - Không để bất kỳ ai lợi dụng tôn giáo phá hoại đất nước.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10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13232"/>
            <a:ext cx="5486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B70"/>
                </a:solidFill>
                <a:latin typeface="Times New Roman"/>
              </a:defRPr>
            </a:pPr>
            <a:r>
              <a:t>TRÁCH NHIỆM CÔNG DÂN - SINH VIÊN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96012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Trách nhiệm của sinh viên Đại học Đại Nam (DNU)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572768"/>
            <a:ext cx="53949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1. Tuyệt đối Trung thành với Đảng, Nhà nước &amp; Tổ quốc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Kiên định mục tiêu độc lập dân tộc gắn liền với Chủ nghĩa xã hội; chấp hành nghiêm chỉnh đường lối của Đảng, chính sách và pháp luật của Nhà nước.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1572768"/>
            <a:ext cx="53949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2. Tích cực Học tập, Tu dưỡng Đạo đức Cách mạng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Rèn luyện bản lĩnh chính trị vững vàng, trau dồi tri thức khoa học, nâng cao trình độ chuyên môn; hoàn thành xuất sắc nhiệm vụ rèn luyện tại Nhà trường.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53949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3. Nêu cao Tinh thần Cảnh giác Cách mạng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Chủ động phòng ngừa và kiên quyết đấu tranh phản bác các quan điểm sai trái, thù địch; không chia sẻ thông tin xấu độc kích động chia rẽ dân tộc.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3977639"/>
            <a:ext cx="53949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64592" bIns="164592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4. Xung kích Tham gia Bảo vệ An ninh Tổ quốc</a:t>
            </a:r>
          </a:p>
          <a:p>
            <a:pPr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Gương mẫu trong phong trào toàn dân bảo vệ an ninh Tổ quốc tại học đường và nơi cư trú; sẵn sàng thực hiện nghĩa vụ quân sự bảo vệ vững chắc Tổ quốc.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58368"/>
            <a:ext cx="11094415" cy="2286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HỌC ĐỂ THAY ĐỔI</a:t>
            </a:r>
          </a:p>
        </p:txBody>
      </p:sp>
      <p:pic>
        <p:nvPicPr>
          <p:cNvPr id="5" name="Picture 4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858" y="137160"/>
            <a:ext cx="1615196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19088"/>
            <a:ext cx="11094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5486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Trang 11 / 12   |   http://dainam.edu.vn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55664"/>
            <a:ext cx="542513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Times New Roman"/>
              </a:defRPr>
            </a:pPr>
            <a:r>
              <a:t>Giáo dục Quốc phòng &amp; An ninh (Học phần 2) - Đại học Đại Nam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254A"/>
                </a:solidFill>
                <a:latin typeface="Times New Roman"/>
              </a:defRPr>
            </a:pPr>
            <a:r>
              <a:t>Mini Game: Đố vui củng cố kiến thức Vấn đề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08760"/>
            <a:ext cx="11094415" cy="1051560"/>
          </a:xfrm>
          <a:prstGeom prst="roundRect">
            <a:avLst/>
          </a:prstGeom>
          <a:solidFill>
            <a:srgbClr val="EBF3FA"/>
          </a:solidFill>
          <a:ln w="2540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254A"/>
                </a:solidFill>
                <a:latin typeface="Times New Roman"/>
              </a:defRPr>
            </a:pPr>
            <a:r>
              <a:t>CÂU HỎI: Theo chủ nghĩa Mác - Lênin, tính chất nào của tôn giáo thường bị các giai cấp bóc lột lợi dụng chống phá?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88920"/>
            <a:ext cx="53949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93B"/>
                </a:solidFill>
                <a:latin typeface="Times New Roman"/>
              </a:defRPr>
            </a:pPr>
            <a:r>
              <a:t>A. Tính lịch sử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2788920"/>
            <a:ext cx="53949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93B"/>
                </a:solidFill>
                <a:latin typeface="Times New Roman"/>
              </a:defRPr>
            </a:pPr>
            <a:r>
              <a:t>B. Tính quần chúng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40"/>
            <a:ext cx="53949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93B"/>
                </a:solidFill>
                <a:latin typeface="Times New Roman"/>
              </a:defRPr>
            </a:pPr>
            <a:r>
              <a:t>C. Tính chính trị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8095" y="3977640"/>
            <a:ext cx="539496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93B"/>
                </a:solidFill>
                <a:latin typeface="Times New Roman"/>
              </a:defRPr>
            </a:pPr>
            <a:r>
              <a:t>D. Tính nhân đạo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11094415" cy="96012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65F46"/>
                </a:solidFill>
                <a:latin typeface="Times New Roman"/>
              </a:defRPr>
            </a:pPr>
            <a:r>
              <a:t>ĐÁP ÁN ĐÚNG &amp; GIẢI THÍCH: C. Tính chính trị của tôn giáo xuất hiện khi xã hội phân chia giai cấp có đối kháng; các thế lực thù địch thường lợi dụng tôn giáo để chống phá cách mạng.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5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10911535" cy="5760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i-na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374" y="777240"/>
            <a:ext cx="1850745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5840" y="777240"/>
            <a:ext cx="5486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37021"/>
                </a:solidFill>
                <a:latin typeface="Times New Roman"/>
              </a:defRPr>
            </a:pPr>
            <a:r>
              <a:t>TRƯỜNG ĐẠI HỌC ĐẠI NAM  •  HỌC ĐỂ THAY ĐỔI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800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37021"/>
                </a:solidFill>
                <a:latin typeface="Times New Roman"/>
              </a:defRPr>
            </a:pPr>
            <a:r>
              <a:t>XIN TRÂN TRỌNG CẢM ƠN!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1800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254A"/>
                </a:solidFill>
                <a:latin typeface="Times New Roman"/>
              </a:defRPr>
            </a:pPr>
            <a:r>
              <a:t>Kính chúc Thầy/Cô và các bạn sinh viên luôn dồi dào sức khỏe, hạnh phúc và thành công!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97480"/>
            <a:ext cx="94484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>
                <a:solidFill>
                  <a:srgbClr val="1E293B"/>
                </a:solidFill>
                <a:latin typeface="Times New Roman"/>
              </a:defRPr>
            </a:pPr>
            <a:r>
              <a:t>Nhóm 2 xin chân thành cảm ơn Thầy/Cô giảng viên bộ môn Giáo dục Quốc phòng &amp; An ninh cùng toàn thể các bạn sinh viên lớp học phần đã chú ý theo dõi và lắng nghe bài thuyết trình của nhóm.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657600"/>
            <a:ext cx="9631375" cy="1417320"/>
          </a:xfrm>
          <a:prstGeom prst="roundRect">
            <a:avLst/>
          </a:prstGeom>
          <a:solidFill>
            <a:srgbClr val="EBF3FA"/>
          </a:solidFill>
          <a:ln w="31750">
            <a:solidFill>
              <a:srgbClr val="003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 bIns="137160"/>
          <a:lstStyle/>
          <a:p>
            <a:pPr algn="ctr">
              <a:defRPr sz="1400" b="1">
                <a:solidFill>
                  <a:srgbClr val="003B70"/>
                </a:solidFill>
                <a:latin typeface="Times New Roman"/>
              </a:defRPr>
            </a:pPr>
            <a:r>
              <a:t>★ THÔNG ĐIỆP BẾ MẠC:</a:t>
            </a:r>
          </a:p>
          <a:p>
            <a:pPr>
              <a:defRPr sz="1700" b="1" i="1">
                <a:solidFill>
                  <a:srgbClr val="00254A"/>
                </a:solidFill>
                <a:latin typeface="Times New Roman"/>
              </a:defRPr>
            </a:pPr>
            <a:r>
              <a:t>"Tôn trọng quyền tự do tín ngưỡng chân chính gắn liền với giữ vững kỷ cương phép nước - Toàn thể đồng bào Lương - Giáo đồng lòng xây dựng đất nước bình yên, phồn vinh!"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03520"/>
            <a:ext cx="1018001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748B"/>
                </a:solidFill>
                <a:latin typeface="Times New Roman"/>
              </a:defRPr>
            </a:pPr>
            <a:r>
              <a:t>Nhóm 2 (Lớp GDQP-AN)   •   Khoa Giáo dục Quốc phòng &amp; An ninh   •   Trường Đại học Đại Nam</a:t>
            </a:r>
          </a:p>
          <a:p>
            <a:pPr algn="ctr">
              <a:defRPr sz="1400" b="1">
                <a:solidFill>
                  <a:srgbClr val="F37021"/>
                </a:solidFill>
                <a:latin typeface="Times New Roman"/>
              </a:defRPr>
            </a:pPr>
            <a:r>
              <a:t>HỌC ĐỂ THAY ĐỔI   •   http://dainam.edu.vn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