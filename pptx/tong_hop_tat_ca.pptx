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457200"/>
          </a:xfrm>
          <a:prstGeom prst="rect">
            <a:avLst/>
          </a:prstGeom>
          <a:noFill/>
        </p:spPr>
        <p:txBody>
          <a:bodyPr wrap="none">
            <a:spAutoFit/>
          </a:bodyPr>
          <a:lstStyle/>
          <a:p>
            <a:pPr algn="ctr">
              <a:defRPr sz="1400" b="1">
                <a:solidFill>
                  <a:srgbClr val="F37021"/>
                </a:solidFill>
                <a:latin typeface="Times New Roman"/>
              </a:defRPr>
            </a:pPr>
            <a:r>
              <a:t>TRƯỜNG ĐẠI HỌC ĐẠI NAM  •  HỌC ĐỂ THAY ĐỔI</a:t>
            </a:r>
          </a:p>
        </p:txBody>
      </p:sp>
      <p:sp>
        <p:nvSpPr>
          <p:cNvPr id="4" name="TextBox 3"/>
          <p:cNvSpPr txBox="1"/>
          <p:nvPr/>
        </p:nvSpPr>
        <p:spPr>
          <a:xfrm>
            <a:off x="1371600" y="1371600"/>
            <a:ext cx="9448495" cy="548640"/>
          </a:xfrm>
          <a:prstGeom prst="rect">
            <a:avLst/>
          </a:prstGeom>
          <a:noFill/>
        </p:spPr>
        <p:txBody>
          <a:bodyPr wrap="none">
            <a:spAutoFit/>
          </a:bodyPr>
          <a:lstStyle/>
          <a:p>
            <a:pPr algn="ctr">
              <a:defRPr sz="1500" b="1">
                <a:solidFill>
                  <a:srgbClr val="FFFFFF"/>
                </a:solidFill>
                <a:latin typeface="Times New Roman"/>
              </a:defRPr>
            </a:pPr>
            <a:r>
              <a:t>GIÁO DỤC QUỐC PHÒNG &amp; AN NINH (HỌC PHẦN 2) • TOÀN TẬP 6 VẤN ĐỀ</a:t>
            </a:r>
          </a:p>
        </p:txBody>
      </p:sp>
      <p:sp>
        <p:nvSpPr>
          <p:cNvPr id="5" name="TextBox 4"/>
          <p:cNvSpPr txBox="1"/>
          <p:nvPr/>
        </p:nvSpPr>
        <p:spPr>
          <a:xfrm>
            <a:off x="914400" y="2103120"/>
            <a:ext cx="10362895" cy="2560320"/>
          </a:xfrm>
          <a:prstGeom prst="rect">
            <a:avLst/>
          </a:prstGeom>
          <a:noFill/>
        </p:spPr>
        <p:txBody>
          <a:bodyPr wrap="square">
            <a:spAutoFit/>
          </a:bodyPr>
          <a:lstStyle/>
          <a:p>
            <a:pPr algn="ctr">
              <a:defRPr sz="3000" b="1">
                <a:solidFill>
                  <a:srgbClr val="F37021"/>
                </a:solidFill>
                <a:latin typeface="Times New Roman"/>
              </a:defRPr>
            </a:pPr>
            <a:r>
              <a:t>TỔNG HỢP TOÀN BỘ 6 VẤN ĐỀ THUYẾT TRÌNH BÀI B2</a:t>
            </a:r>
            <a:br/>
            <a:r>
              <a:t>GIÁO DỤC QUỐC PHÒNG &amp; AN NINH (HỌC PHẦN 2)</a:t>
            </a:r>
          </a:p>
        </p:txBody>
      </p:sp>
      <p:sp>
        <p:nvSpPr>
          <p:cNvPr id="6" name="TextBox 5"/>
          <p:cNvSpPr txBox="1"/>
          <p:nvPr/>
        </p:nvSpPr>
        <p:spPr>
          <a:xfrm>
            <a:off x="914400" y="5303520"/>
            <a:ext cx="10362895" cy="731520"/>
          </a:xfrm>
          <a:prstGeom prst="rect">
            <a:avLst/>
          </a:prstGeom>
          <a:noFill/>
        </p:spPr>
        <p:txBody>
          <a:bodyPr wrap="none">
            <a:spAutoFit/>
          </a:bodyPr>
          <a:lstStyle/>
          <a:p>
            <a:pPr algn="ctr">
              <a:defRPr sz="1900" b="1">
                <a:solidFill>
                  <a:srgbClr val="FFFFFF"/>
                </a:solidFill>
                <a:latin typeface="Times New Roman"/>
              </a:defRPr>
            </a:pPr>
            <a:r>
              <a:t>Nhóm thực hiện: Nhóm 1 đến 6 (Lớp GDQP-AN)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457200"/>
          </a:xfrm>
          <a:prstGeom prst="rect">
            <a:avLst/>
          </a:prstGeom>
          <a:noFill/>
        </p:spPr>
        <p:txBody>
          <a:bodyPr wrap="none">
            <a:spAutoFit/>
          </a:bodyPr>
          <a:lstStyle/>
          <a:p>
            <a:pPr algn="ctr">
              <a:defRPr sz="1400" b="1">
                <a:solidFill>
                  <a:srgbClr val="F37021"/>
                </a:solidFill>
                <a:latin typeface="Times New Roman"/>
              </a:defRPr>
            </a:pPr>
            <a:r>
              <a:t>TRƯỜNG ĐẠI HỌC ĐẠI NAM  •  HỌC ĐỂ THAY ĐỔI</a:t>
            </a:r>
          </a:p>
        </p:txBody>
      </p:sp>
      <p:sp>
        <p:nvSpPr>
          <p:cNvPr id="4" name="TextBox 3"/>
          <p:cNvSpPr txBox="1"/>
          <p:nvPr/>
        </p:nvSpPr>
        <p:spPr>
          <a:xfrm>
            <a:off x="1371600" y="1371600"/>
            <a:ext cx="9448495" cy="548640"/>
          </a:xfrm>
          <a:prstGeom prst="rect">
            <a:avLst/>
          </a:prstGeom>
          <a:noFill/>
        </p:spPr>
        <p:txBody>
          <a:bodyPr wrap="none">
            <a:spAutoFit/>
          </a:bodyPr>
          <a:lstStyle/>
          <a:p>
            <a:pPr algn="ctr">
              <a:defRPr sz="1500" b="1">
                <a:solidFill>
                  <a:srgbClr val="FFFFFF"/>
                </a:solidFill>
                <a:latin typeface="Times New Roman"/>
              </a:defRPr>
            </a:pPr>
            <a:r>
              <a:t>GIÁO DỤC QUỐC PHÒNG &amp; AN NINH (HỌC PHẦN 2) • VẤN ĐỀ 01</a:t>
            </a:r>
          </a:p>
        </p:txBody>
      </p:sp>
      <p:sp>
        <p:nvSpPr>
          <p:cNvPr id="5" name="TextBox 4"/>
          <p:cNvSpPr txBox="1"/>
          <p:nvPr/>
        </p:nvSpPr>
        <p:spPr>
          <a:xfrm>
            <a:off x="914400" y="2103120"/>
            <a:ext cx="10362895" cy="2560320"/>
          </a:xfrm>
          <a:prstGeom prst="rect">
            <a:avLst/>
          </a:prstGeom>
          <a:noFill/>
        </p:spPr>
        <p:txBody>
          <a:bodyPr wrap="square">
            <a:spAutoFit/>
          </a:bodyPr>
          <a:lstStyle/>
          <a:p>
            <a:pPr algn="ctr">
              <a:defRPr sz="3000" b="1">
                <a:solidFill>
                  <a:srgbClr val="F37021"/>
                </a:solidFill>
                <a:latin typeface="Times New Roman"/>
              </a:defRPr>
            </a:pPr>
            <a:r>
              <a:t>DÂN TỘC, VẤN ĐỀ DÂN TỘC VÀ QUAN ĐIỂM GIẢI QUYẾT CỦA CHỦ NGHĨA MÁC - LÊNIN, TƯ TƯỞNG HỒ CHÍ MINH</a:t>
            </a:r>
          </a:p>
        </p:txBody>
      </p:sp>
      <p:sp>
        <p:nvSpPr>
          <p:cNvPr id="6" name="TextBox 5"/>
          <p:cNvSpPr txBox="1"/>
          <p:nvPr/>
        </p:nvSpPr>
        <p:spPr>
          <a:xfrm>
            <a:off x="914400" y="5303520"/>
            <a:ext cx="10362895" cy="731520"/>
          </a:xfrm>
          <a:prstGeom prst="rect">
            <a:avLst/>
          </a:prstGeom>
          <a:noFill/>
        </p:spPr>
        <p:txBody>
          <a:bodyPr wrap="none">
            <a:spAutoFit/>
          </a:bodyPr>
          <a:lstStyle/>
          <a:p>
            <a:pPr algn="ctr">
              <a:defRPr sz="1900" b="1">
                <a:solidFill>
                  <a:srgbClr val="FFFFFF"/>
                </a:solidFill>
                <a:latin typeface="Times New Roman"/>
              </a:defRPr>
            </a:pPr>
            <a:r>
              <a:t>Nhóm thực hiện: Nhóm 1 (Lớp GDQP-AN)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03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TỔNG QUAN BÀI HỌC</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Mục tiêu &amp; Khung nội dung thuyết trình</a:t>
            </a:r>
          </a:p>
        </p:txBody>
      </p:sp>
      <p:sp>
        <p:nvSpPr>
          <p:cNvPr id="11" name="Rounded Rectangle 10"/>
          <p:cNvSpPr/>
          <p:nvPr/>
        </p:nvSpPr>
        <p:spPr>
          <a:xfrm>
            <a:off x="548640" y="1572768"/>
            <a:ext cx="6217920" cy="1420368"/>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01. Khái niệm &amp; Bản chất</a:t>
            </a:r>
          </a:p>
          <a:p>
            <a:pPr>
              <a:defRPr sz="1700">
                <a:solidFill>
                  <a:srgbClr val="1E293B"/>
                </a:solidFill>
                <a:latin typeface="Times New Roman"/>
              </a:defRPr>
            </a:pPr>
            <a:r>
              <a:t>• 4 hình thái cộng đồng lịch sử; phân biệt nghĩa hẹp (tộc người) và nghĩa rộng (quốc gia dân tộc).</a:t>
            </a:r>
          </a:p>
          <a:p>
            <a:pPr>
              <a:defRPr sz="1700">
                <a:solidFill>
                  <a:srgbClr val="1E293B"/>
                </a:solidFill>
                <a:latin typeface="Times New Roman"/>
              </a:defRPr>
            </a:pPr>
            <a:r>
              <a:t>• Thực chất vấn đề dân tộc: Mối quan hệ, mâu thuẫn lợi ích giữa các tộc người và quốc gia.</a:t>
            </a:r>
          </a:p>
        </p:txBody>
      </p:sp>
      <p:sp>
        <p:nvSpPr>
          <p:cNvPr id="12" name="Rounded Rectangle 11"/>
          <p:cNvSpPr/>
          <p:nvPr/>
        </p:nvSpPr>
        <p:spPr>
          <a:xfrm>
            <a:off x="548640" y="3102864"/>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02. Quan điểm Lý luận</a:t>
            </a:r>
          </a:p>
          <a:p>
            <a:pPr>
              <a:defRPr sz="1700">
                <a:solidFill>
                  <a:srgbClr val="1E293B"/>
                </a:solidFill>
                <a:latin typeface="Times New Roman"/>
              </a:defRPr>
            </a:pPr>
            <a:r>
              <a:t>• Chủ nghĩa Mác - Lênin: 3 nguyên tắc bất hủ trong Cương lĩnh dân tộc của Lênin.</a:t>
            </a:r>
          </a:p>
          <a:p>
            <a:pPr>
              <a:defRPr sz="1700">
                <a:solidFill>
                  <a:srgbClr val="1E293B"/>
                </a:solidFill>
                <a:latin typeface="Times New Roman"/>
              </a:defRPr>
            </a:pPr>
            <a:r>
              <a:t>• Tư tưởng Hồ Chí Minh: Độc lập dân tộc gắn liền CNXH; bình đẳng, đoàn kết, tương trợ toàn diện.</a:t>
            </a:r>
          </a:p>
        </p:txBody>
      </p:sp>
      <p:sp>
        <p:nvSpPr>
          <p:cNvPr id="13" name="Rounded Rectangle 12"/>
          <p:cNvSpPr/>
          <p:nvPr/>
        </p:nvSpPr>
        <p:spPr>
          <a:xfrm>
            <a:off x="548640" y="4632960"/>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03. Ý nghĩa &amp; Trách nhiệm</a:t>
            </a:r>
          </a:p>
          <a:p>
            <a:pPr>
              <a:defRPr sz="1700">
                <a:solidFill>
                  <a:srgbClr val="1E293B"/>
                </a:solidFill>
                <a:latin typeface="Times New Roman"/>
              </a:defRPr>
            </a:pPr>
            <a:r>
              <a:t>• Ý nghĩa cách mạng: Nền tảng củng cố khối đại đoàn kết, bảo vệ vững chắc Tổ quốc.</a:t>
            </a:r>
          </a:p>
          <a:p>
            <a:pPr>
              <a:defRPr sz="1700">
                <a:solidFill>
                  <a:srgbClr val="1E293B"/>
                </a:solidFill>
                <a:latin typeface="Times New Roman"/>
              </a:defRPr>
            </a:pPr>
            <a:r>
              <a:t>• Trách nhiệm công dân - sinh viên: Tuyệt đối trung thành, rèn luyện bản lĩnh, cảnh giác cách mạng.</a:t>
            </a:r>
          </a:p>
        </p:txBody>
      </p:sp>
      <p:sp>
        <p:nvSpPr>
          <p:cNvPr id="14" name="Rounded Rectangle 13"/>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etnam_nature.jpg"/>
          <p:cNvPicPr>
            <a:picLocks noChangeAspect="1"/>
          </p:cNvPicPr>
          <p:nvPr/>
        </p:nvPicPr>
        <p:blipFill>
          <a:blip r:embed="rId3"/>
          <a:stretch>
            <a:fillRect/>
          </a:stretch>
        </p:blipFill>
        <p:spPr>
          <a:xfrm>
            <a:off x="7040880" y="1753210"/>
            <a:ext cx="4602175" cy="3068116"/>
          </a:xfrm>
          <a:prstGeom prst="rect">
            <a:avLst/>
          </a:prstGeom>
        </p:spPr>
      </p:pic>
      <p:sp>
        <p:nvSpPr>
          <p:cNvPr id="16" name="TextBox 15"/>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Non sông gấm vóc 54 Dân tộc anh em: Sức mạnh trường tồn ngàn năm bắt nguồn từ tinh thần đại đoàn kết keo sơn dựng nước và giữ nước.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04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LÝ LUẬN CƠ BẢN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Khái niệm Dân tộc: Nghĩa hẹp &amp; Nghĩa rộng</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A. Nghĩa hẹp: Dân tộc - Tộc người (Ethnie)</a:t>
            </a:r>
          </a:p>
          <a:p>
            <a:pPr>
              <a:defRPr sz="1700">
                <a:solidFill>
                  <a:srgbClr val="1E293B"/>
                </a:solidFill>
                <a:latin typeface="Times New Roman"/>
              </a:defRPr>
            </a:pPr>
            <a:r>
              <a:t>• Cộng đồng người hình thành trong lịch sử có mối liên hệ bền vững.</a:t>
            </a:r>
          </a:p>
          <a:p>
            <a:pPr>
              <a:defRPr sz="1700">
                <a:solidFill>
                  <a:srgbClr val="1E293B"/>
                </a:solidFill>
                <a:latin typeface="Times New Roman"/>
              </a:defRPr>
            </a:pPr>
            <a:r>
              <a:t>• 3 Tiêu chí xác định: Ngôn ngữ (tiếng mẹ đẻ), Văn hóa (phong tục tập quán), Ý thức tự giác tộc người.</a:t>
            </a:r>
          </a:p>
          <a:p>
            <a:pPr>
              <a:defRPr sz="1700">
                <a:solidFill>
                  <a:srgbClr val="1E293B"/>
                </a:solidFill>
                <a:latin typeface="Times New Roman"/>
              </a:defRPr>
            </a:pPr>
            <a:r>
              <a:t>• Ví dụ tại VN: Dân tộc Kinh, Tày, Thái, Mường, H'Mông, Khmer, Ba Na...</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B. Nghĩa rộng: Quốc gia Dân tộc (Nation)</a:t>
            </a:r>
          </a:p>
          <a:p>
            <a:pPr>
              <a:defRPr sz="1700">
                <a:solidFill>
                  <a:srgbClr val="1E293B"/>
                </a:solidFill>
                <a:latin typeface="Times New Roman"/>
              </a:defRPr>
            </a:pPr>
            <a:r>
              <a:t>• Toàn bộ nhân dân của một quốc gia có chủ quyền độc lập.</a:t>
            </a:r>
          </a:p>
          <a:p>
            <a:pPr>
              <a:defRPr sz="1700">
                <a:solidFill>
                  <a:srgbClr val="1E293B"/>
                </a:solidFill>
                <a:latin typeface="Times New Roman"/>
              </a:defRPr>
            </a:pPr>
            <a:r>
              <a:t>• 5 Đặc trưng cốt lõi: Lãnh thổ thống nhất, Kinh tế chung, Ngôn ngữ chung, Nhà nước và pháp luật chung, Nền văn hóa quốc gia thống nhất.</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ethnic_people_real.jpg"/>
          <p:cNvPicPr>
            <a:picLocks noChangeAspect="1"/>
          </p:cNvPicPr>
          <p:nvPr/>
        </p:nvPicPr>
        <p:blipFill>
          <a:blip r:embed="rId3"/>
          <a:stretch>
            <a:fillRect/>
          </a:stretch>
        </p:blipFill>
        <p:spPr>
          <a:xfrm>
            <a:off x="8044179" y="1572768"/>
            <a:ext cx="2595576" cy="3429000"/>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Thống nhất trong Đa dạng Văn hóa: 54 dân tộc anh em cư trú đan xen, tạo nên bức tranh văn hóa phong phú đậm đà bản sắc nhưng cùng chung ý thức tự tôn quốc gia.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05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QUY LUẬT PHÁT TRIỂN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Hai xu hướng khách quan của Phong trào Dân tộc</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Xu hướng Tách ra thành quốc gia độc lập</a:t>
            </a:r>
          </a:p>
          <a:p>
            <a:pPr>
              <a:defRPr sz="1700">
                <a:solidFill>
                  <a:srgbClr val="1E293B"/>
                </a:solidFill>
                <a:latin typeface="Times New Roman"/>
              </a:defRPr>
            </a:pPr>
            <a:r>
              <a:t>• Sự thức tỉnh và trỗi dậy của ý thức dân tộc, đòi quyền tự quyết, bình đẳng và thành lập quốc gia độc lập.</a:t>
            </a:r>
          </a:p>
          <a:p>
            <a:pPr>
              <a:defRPr sz="1700">
                <a:solidFill>
                  <a:srgbClr val="1E293B"/>
                </a:solidFill>
                <a:latin typeface="Times New Roman"/>
              </a:defRPr>
            </a:pPr>
            <a:r>
              <a:t>• Thể hiện qua các phong trào giải phóng dân tộc chống chủ nghĩa thực dân, đế quốc.</a:t>
            </a:r>
          </a:p>
          <a:p>
            <a:pPr>
              <a:defRPr sz="1700">
                <a:solidFill>
                  <a:srgbClr val="1E293B"/>
                </a:solidFill>
                <a:latin typeface="Times New Roman"/>
              </a:defRPr>
            </a:pPr>
            <a:r>
              <a:t>• Thời đại nay: Quyết tâm bảo vệ độc lập, tự chủ kinh tế và chủ quyền toàn vẹn.</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Xu hướng Liên hiệp, Xích lại gần nhau</a:t>
            </a:r>
          </a:p>
          <a:p>
            <a:pPr>
              <a:defRPr sz="1700">
                <a:solidFill>
                  <a:srgbClr val="1E293B"/>
                </a:solidFill>
                <a:latin typeface="Times New Roman"/>
              </a:defRPr>
            </a:pPr>
            <a:r>
              <a:t>• Các dân tộc có nhu cầu liên kết kinh tế, văn hóa và khoa học công nghệ vượt biên giới.</a:t>
            </a:r>
          </a:p>
          <a:p>
            <a:pPr>
              <a:defRPr sz="1700">
                <a:solidFill>
                  <a:srgbClr val="1E293B"/>
                </a:solidFill>
                <a:latin typeface="Times New Roman"/>
              </a:defRPr>
            </a:pPr>
            <a:r>
              <a:t>• Nguyên nhân: Lực lượng sản xuất phát triển; thời đại toàn cầu hóa và hội nhập quốc tế.</a:t>
            </a:r>
          </a:p>
          <a:p>
            <a:pPr>
              <a:defRPr sz="1700">
                <a:solidFill>
                  <a:srgbClr val="1E293B"/>
                </a:solidFill>
                <a:latin typeface="Times New Roman"/>
              </a:defRPr>
            </a:pPr>
            <a:r>
              <a:t>• Mục tiêu: Hợp tác cùng phát triển, giải quyết thách thức an ninh phi truyền thống.</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unity.jpg"/>
          <p:cNvPicPr>
            <a:picLocks noChangeAspect="1"/>
          </p:cNvPicPr>
          <p:nvPr/>
        </p:nvPicPr>
        <p:blipFill>
          <a:blip r:embed="rId3"/>
          <a:stretch>
            <a:fillRect/>
          </a:stretch>
        </p:blipFill>
        <p:spPr>
          <a:xfrm>
            <a:off x="7040880" y="1753210"/>
            <a:ext cx="4602175" cy="306811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Mối quan hệ biện chứng: Chỉ khi độc lập dân tộc được tôn trọng thì sự liên hiệp mới thực sự bình đẳng, tự nguyện và bền vững.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06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CƯƠNG LĨNH LÝ LUẬN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Cương lĩnh Dân tộc của V.I. Lênin (3 Nguyên tắc)</a:t>
            </a:r>
          </a:p>
        </p:txBody>
      </p:sp>
      <p:sp>
        <p:nvSpPr>
          <p:cNvPr id="11" name="Rounded Rectangle 10"/>
          <p:cNvSpPr/>
          <p:nvPr/>
        </p:nvSpPr>
        <p:spPr>
          <a:xfrm>
            <a:off x="548640" y="1572768"/>
            <a:ext cx="6217920" cy="1420368"/>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I. Các dân tộc hoàn toàn bình đẳng</a:t>
            </a:r>
          </a:p>
          <a:p>
            <a:pPr>
              <a:defRPr sz="1700">
                <a:solidFill>
                  <a:srgbClr val="1E293B"/>
                </a:solidFill>
                <a:latin typeface="Times New Roman"/>
              </a:defRPr>
            </a:pPr>
            <a:r>
              <a:t>• Không phân biệt đa số hay thiểu số, trình độ phát triển cao hay thấp.</a:t>
            </a:r>
          </a:p>
          <a:p>
            <a:pPr>
              <a:defRPr sz="1700">
                <a:solidFill>
                  <a:srgbClr val="1E293B"/>
                </a:solidFill>
                <a:latin typeface="Times New Roman"/>
              </a:defRPr>
            </a:pPr>
            <a:r>
              <a:t>• Bình đẳng trọn vẹn trên mọi mặt: Chính trị, kinh tế, văn hóa, xã hội và pháp luật.</a:t>
            </a:r>
          </a:p>
          <a:p>
            <a:pPr>
              <a:defRPr sz="1700">
                <a:solidFill>
                  <a:srgbClr val="1E293B"/>
                </a:solidFill>
                <a:latin typeface="Times New Roman"/>
              </a:defRPr>
            </a:pPr>
            <a:r>
              <a:t>• Kiên quyết chống chủ nghĩa dân tộc lớn và tư tưởng hẹp hòi.</a:t>
            </a:r>
          </a:p>
        </p:txBody>
      </p:sp>
      <p:sp>
        <p:nvSpPr>
          <p:cNvPr id="12" name="Rounded Rectangle 11"/>
          <p:cNvSpPr/>
          <p:nvPr/>
        </p:nvSpPr>
        <p:spPr>
          <a:xfrm>
            <a:off x="548640" y="3102864"/>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II. Các dân tộc được quyền tự quyết</a:t>
            </a:r>
          </a:p>
          <a:p>
            <a:pPr>
              <a:defRPr sz="1700">
                <a:solidFill>
                  <a:srgbClr val="1E293B"/>
                </a:solidFill>
                <a:latin typeface="Times New Roman"/>
              </a:defRPr>
            </a:pPr>
            <a:r>
              <a:t>• Quyền tự quyết định vận mệnh chính trị và con đường phát triển của dân tộc mình.</a:t>
            </a:r>
          </a:p>
          <a:p>
            <a:pPr>
              <a:defRPr sz="1700">
                <a:solidFill>
                  <a:srgbClr val="1E293B"/>
                </a:solidFill>
                <a:latin typeface="Times New Roman"/>
              </a:defRPr>
            </a:pPr>
            <a:r>
              <a:t>• Kiên quyết chống các thế lực lợi dụng 'tự quyết' để kích động ly khai phá hoại đất nước.</a:t>
            </a:r>
          </a:p>
        </p:txBody>
      </p:sp>
      <p:sp>
        <p:nvSpPr>
          <p:cNvPr id="13" name="Rounded Rectangle 12"/>
          <p:cNvSpPr/>
          <p:nvPr/>
        </p:nvSpPr>
        <p:spPr>
          <a:xfrm>
            <a:off x="548640" y="4632960"/>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III. Liên hiệp công nhân tất cả các dân tộc</a:t>
            </a:r>
          </a:p>
          <a:p>
            <a:pPr>
              <a:defRPr sz="1700">
                <a:solidFill>
                  <a:srgbClr val="1E293B"/>
                </a:solidFill>
                <a:latin typeface="Times New Roman"/>
              </a:defRPr>
            </a:pPr>
            <a:r>
              <a:t>• Nguyên tắc cốt lõi, vừa là mục tiêu vừa là động lực bảo đảm bình đẳng và tự quyết chân chính.</a:t>
            </a:r>
          </a:p>
        </p:txBody>
      </p:sp>
      <p:sp>
        <p:nvSpPr>
          <p:cNvPr id="14" name="Rounded Rectangle 13"/>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etnam_books.jpg"/>
          <p:cNvPicPr>
            <a:picLocks noChangeAspect="1"/>
          </p:cNvPicPr>
          <p:nvPr/>
        </p:nvPicPr>
        <p:blipFill>
          <a:blip r:embed="rId3"/>
          <a:stretch>
            <a:fillRect/>
          </a:stretch>
        </p:blipFill>
        <p:spPr>
          <a:xfrm>
            <a:off x="7040880" y="1757045"/>
            <a:ext cx="4602175" cy="3060446"/>
          </a:xfrm>
          <a:prstGeom prst="rect">
            <a:avLst/>
          </a:prstGeom>
        </p:spPr>
      </p:pic>
      <p:sp>
        <p:nvSpPr>
          <p:cNvPr id="16" name="TextBox 15"/>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Giá trị trường tồn: Cương lĩnh dân tộc là vũ khí tư tưởng sắc bén của giai cấp công nhân và nhân dân lao động trong cuộc đấu tranh chống áp bức dân tộc.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07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TƯ TƯỞNG HỒ CHÍ MINH</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Tư tưởng Hồ Chí Minh về Dân tộc &amp; Khối Đại đoàn kết</a:t>
            </a:r>
          </a:p>
        </p:txBody>
      </p:sp>
      <p:sp>
        <p:nvSpPr>
          <p:cNvPr id="11" name="Rounded Rectangle 10"/>
          <p:cNvSpPr/>
          <p:nvPr/>
        </p:nvSpPr>
        <p:spPr>
          <a:xfrm>
            <a:off x="548640" y="1572768"/>
            <a:ext cx="6217920" cy="1420368"/>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Độc lập dân tộc gắn liền với Chủ nghĩa xã hội</a:t>
            </a:r>
          </a:p>
          <a:p>
            <a:pPr>
              <a:defRPr sz="1700">
                <a:solidFill>
                  <a:srgbClr val="1E293B"/>
                </a:solidFill>
                <a:latin typeface="Times New Roman"/>
              </a:defRPr>
            </a:pPr>
            <a:r>
              <a:t>• 'Không có gì quý hơn độc lập, tự do' - Độc lập cho Tổ quốc, tự do hạnh phúc cho nhân dân.</a:t>
            </a:r>
          </a:p>
          <a:p>
            <a:pPr>
              <a:defRPr sz="1700">
                <a:solidFill>
                  <a:srgbClr val="1E293B"/>
                </a:solidFill>
                <a:latin typeface="Times New Roman"/>
              </a:defRPr>
            </a:pPr>
            <a:r>
              <a:t>• Giải phóng dân tộc là tiền đề để giải phóng giai cấp và giải phóng con người trọn vẹn.</a:t>
            </a:r>
          </a:p>
        </p:txBody>
      </p:sp>
      <p:sp>
        <p:nvSpPr>
          <p:cNvPr id="12" name="Rounded Rectangle 11"/>
          <p:cNvSpPr/>
          <p:nvPr/>
        </p:nvSpPr>
        <p:spPr>
          <a:xfrm>
            <a:off x="548640" y="3102864"/>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Bình đẳng, Đoàn kết, Tôn trọng, Tương trợ</a:t>
            </a:r>
          </a:p>
          <a:p>
            <a:pPr>
              <a:defRPr sz="1700">
                <a:solidFill>
                  <a:srgbClr val="1E293B"/>
                </a:solidFill>
                <a:latin typeface="Times New Roman"/>
              </a:defRPr>
            </a:pPr>
            <a:r>
              <a:t>• Các dân tộc anh em như con một nhà, cùng chung cội nguồn, chia ngọt sẻ bùi.</a:t>
            </a:r>
          </a:p>
          <a:p>
            <a:pPr>
              <a:defRPr sz="1700">
                <a:solidFill>
                  <a:srgbClr val="1E293B"/>
                </a:solidFill>
                <a:latin typeface="Times New Roman"/>
              </a:defRPr>
            </a:pPr>
            <a:r>
              <a:t>• Kiên quyết chống tư tưởng dân tộc lớn, kỳ thị và mặc cảm tự ti.</a:t>
            </a:r>
          </a:p>
        </p:txBody>
      </p:sp>
      <p:sp>
        <p:nvSpPr>
          <p:cNvPr id="13" name="Rounded Rectangle 12"/>
          <p:cNvSpPr/>
          <p:nvPr/>
        </p:nvSpPr>
        <p:spPr>
          <a:xfrm>
            <a:off x="548640" y="4632960"/>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3. Chăm lo đời sống &amp; Đào tạo cán bộ DTTS</a:t>
            </a:r>
          </a:p>
          <a:p>
            <a:pPr>
              <a:defRPr sz="1700">
                <a:solidFill>
                  <a:srgbClr val="1E293B"/>
                </a:solidFill>
                <a:latin typeface="Times New Roman"/>
              </a:defRPr>
            </a:pPr>
            <a:r>
              <a:t>• Nâng cao dân trí, phát triển kinh tế vùng cao, giữ gìn bản sắc văn hóa tốt đẹp.</a:t>
            </a:r>
          </a:p>
          <a:p>
            <a:pPr>
              <a:defRPr sz="1700">
                <a:solidFill>
                  <a:srgbClr val="1E293B"/>
                </a:solidFill>
                <a:latin typeface="Times New Roman"/>
              </a:defRPr>
            </a:pPr>
            <a:r>
              <a:t>• Chú trọng phát triển đội ngũ cán bộ chủ chốt là người địa phương DTTS.</a:t>
            </a:r>
          </a:p>
        </p:txBody>
      </p:sp>
      <p:sp>
        <p:nvSpPr>
          <p:cNvPr id="14" name="Rounded Rectangle 13"/>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etnam_culture.jpg"/>
          <p:cNvPicPr>
            <a:picLocks noChangeAspect="1"/>
          </p:cNvPicPr>
          <p:nvPr/>
        </p:nvPicPr>
        <p:blipFill>
          <a:blip r:embed="rId3"/>
          <a:stretch>
            <a:fillRect/>
          </a:stretch>
        </p:blipFill>
        <p:spPr>
          <a:xfrm>
            <a:off x="7040880" y="1849088"/>
            <a:ext cx="4602175" cy="2876359"/>
          </a:xfrm>
          <a:prstGeom prst="rect">
            <a:avLst/>
          </a:prstGeom>
        </p:spPr>
      </p:pic>
      <p:sp>
        <p:nvSpPr>
          <p:cNvPr id="16" name="TextBox 15"/>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Chân lý ngàn đời: 'Nước Việt Nam là một, dân tộc Việt Nam là một. Sông có thể cạn, núi có thể mòn, song chân lý ấy không bao giờ thay đổi.'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08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GIÁ TRỊ THỰC TIỄN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Ý nghĩa đối với Cách mạng Việt Nam</a:t>
            </a:r>
          </a:p>
        </p:txBody>
      </p:sp>
      <p:sp>
        <p:nvSpPr>
          <p:cNvPr id="11" name="Rounded Rectangle 10"/>
          <p:cNvSpPr/>
          <p:nvPr/>
        </p:nvSpPr>
        <p:spPr>
          <a:xfrm>
            <a:off x="548640" y="1572768"/>
            <a:ext cx="6217920" cy="1420368"/>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A. Kim chỉ nam xây dựng khối Đại đoàn kết</a:t>
            </a:r>
          </a:p>
          <a:p>
            <a:pPr>
              <a:defRPr sz="1700">
                <a:solidFill>
                  <a:srgbClr val="1E293B"/>
                </a:solidFill>
                <a:latin typeface="Times New Roman"/>
              </a:defRPr>
            </a:pPr>
            <a:r>
              <a:t>• Cội nguồn sức mạnh làm nên mọi thắng lợi vẻ vang của cách mạng Việt Nam: 1945, 1954, 1975.</a:t>
            </a:r>
          </a:p>
          <a:p>
            <a:pPr>
              <a:defRPr sz="1700">
                <a:solidFill>
                  <a:srgbClr val="1E293B"/>
                </a:solidFill>
                <a:latin typeface="Times New Roman"/>
              </a:defRPr>
            </a:pPr>
            <a:r>
              <a:t>• Cơ sở hoạch định chính sách dân tộc công bằng, nhân văn và bền vững của Đảng.</a:t>
            </a:r>
          </a:p>
        </p:txBody>
      </p:sp>
      <p:sp>
        <p:nvSpPr>
          <p:cNvPr id="12" name="Rounded Rectangle 11"/>
          <p:cNvSpPr/>
          <p:nvPr/>
        </p:nvSpPr>
        <p:spPr>
          <a:xfrm>
            <a:off x="548640" y="3102864"/>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B. Vũ khí đập tan âm mưu chia rẽ của ngoại bang</a:t>
            </a:r>
          </a:p>
          <a:p>
            <a:pPr>
              <a:defRPr sz="1700">
                <a:solidFill>
                  <a:srgbClr val="1E293B"/>
                </a:solidFill>
                <a:latin typeface="Times New Roman"/>
              </a:defRPr>
            </a:pPr>
            <a:r>
              <a:t>• Bác bỏ luận điệu xuyên tạc, kích động 'dân tộc tự quyết' để chia cắt đất nước.</a:t>
            </a:r>
          </a:p>
          <a:p>
            <a:pPr>
              <a:defRPr sz="1700">
                <a:solidFill>
                  <a:srgbClr val="1E293B"/>
                </a:solidFill>
                <a:latin typeface="Times New Roman"/>
              </a:defRPr>
            </a:pPr>
            <a:r>
              <a:t>• Giữ vững an ninh chính trị, trật tự an toàn xã hội vùng đồng bào dân tộc và biên cương.</a:t>
            </a:r>
          </a:p>
        </p:txBody>
      </p:sp>
      <p:sp>
        <p:nvSpPr>
          <p:cNvPr id="13" name="Rounded Rectangle 12"/>
          <p:cNvSpPr/>
          <p:nvPr/>
        </p:nvSpPr>
        <p:spPr>
          <a:xfrm>
            <a:off x="548640" y="4632960"/>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C. Động lực thực hiện khát vọng Dân giàu nước mạnh</a:t>
            </a:r>
          </a:p>
          <a:p>
            <a:pPr>
              <a:defRPr sz="1700">
                <a:solidFill>
                  <a:srgbClr val="1E293B"/>
                </a:solidFill>
                <a:latin typeface="Times New Roman"/>
              </a:defRPr>
            </a:pPr>
            <a:r>
              <a:t>• Phát huy tối đa tiềm năng, thế mạnh của địa bàn miền núi trong thời kỳ công nghiệp hóa.</a:t>
            </a:r>
          </a:p>
        </p:txBody>
      </p:sp>
      <p:sp>
        <p:nvSpPr>
          <p:cNvPr id="14" name="Rounded Rectangle 13"/>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etnam_highland.jpg"/>
          <p:cNvPicPr>
            <a:picLocks noChangeAspect="1"/>
          </p:cNvPicPr>
          <p:nvPr/>
        </p:nvPicPr>
        <p:blipFill>
          <a:blip r:embed="rId3"/>
          <a:stretch>
            <a:fillRect/>
          </a:stretch>
        </p:blipFill>
        <p:spPr>
          <a:xfrm>
            <a:off x="7040880" y="1751292"/>
            <a:ext cx="4602175" cy="3071951"/>
          </a:xfrm>
          <a:prstGeom prst="rect">
            <a:avLst/>
          </a:prstGeom>
        </p:spPr>
      </p:pic>
      <p:sp>
        <p:nvSpPr>
          <p:cNvPr id="16" name="TextBox 15"/>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Phát triển bền vững biên cương: Chính sách dân tộc đúng đắn của Đảng đã làm thay đổi diện mạo các bản làng miền núi, củng cố vững chắc biên cương Tổ quốc.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09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THỰC TIỄN SINH ĐỘNG</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Giá trị thời đại &amp; Bức tranh Đoàn kết Dân tộc</a:t>
            </a:r>
          </a:p>
        </p:txBody>
      </p:sp>
      <p:sp>
        <p:nvSpPr>
          <p:cNvPr id="11" name="Rounded Rectangle 10"/>
          <p:cNvSpPr/>
          <p:nvPr/>
        </p:nvSpPr>
        <p:spPr>
          <a:xfrm>
            <a:off x="548640" y="1572768"/>
            <a:ext cx="6217920" cy="1420368"/>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Điểm tựa lịch sử ngàn năm dựng nước</a:t>
            </a:r>
          </a:p>
          <a:p>
            <a:pPr>
              <a:defRPr sz="1700">
                <a:solidFill>
                  <a:srgbClr val="1E293B"/>
                </a:solidFill>
                <a:latin typeface="Times New Roman"/>
              </a:defRPr>
            </a:pPr>
            <a:r>
              <a:t>• Lịch sử Việt Nam là lịch sử đồng cam cộng khổ đánh giặc ngoại xâm và mở mang bờ cõi.</a:t>
            </a:r>
          </a:p>
          <a:p>
            <a:pPr>
              <a:defRPr sz="1700">
                <a:solidFill>
                  <a:srgbClr val="1E293B"/>
                </a:solidFill>
                <a:latin typeface="Times New Roman"/>
              </a:defRPr>
            </a:pPr>
            <a:r>
              <a:t>• Không một thế lực nào có thể chia rẽ được tình cảm keo sơn máu thịt giữa 54 dân tộc.</a:t>
            </a:r>
          </a:p>
        </p:txBody>
      </p:sp>
      <p:sp>
        <p:nvSpPr>
          <p:cNvPr id="12" name="Rounded Rectangle 11"/>
          <p:cNvSpPr/>
          <p:nvPr/>
        </p:nvSpPr>
        <p:spPr>
          <a:xfrm>
            <a:off x="548640" y="3102864"/>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Đồng lòng trong kỷ nguyên vươn mình</a:t>
            </a:r>
          </a:p>
          <a:p>
            <a:pPr>
              <a:defRPr sz="1700">
                <a:solidFill>
                  <a:srgbClr val="1E293B"/>
                </a:solidFill>
                <a:latin typeface="Times New Roman"/>
              </a:defRPr>
            </a:pPr>
            <a:r>
              <a:t>• Đồng bào các dân tộc tích cực tham gia xây dựng nông thôn mới, giảm nghèo bền vững.</a:t>
            </a:r>
          </a:p>
          <a:p>
            <a:pPr>
              <a:defRPr sz="1700">
                <a:solidFill>
                  <a:srgbClr val="1E293B"/>
                </a:solidFill>
                <a:latin typeface="Times New Roman"/>
              </a:defRPr>
            </a:pPr>
            <a:r>
              <a:t>• Bảo tồn các di sản văn hóa phi vật thể quý báu (Cồng chiêng Tây Nguyên, Hát Then...).</a:t>
            </a:r>
          </a:p>
        </p:txBody>
      </p:sp>
      <p:sp>
        <p:nvSpPr>
          <p:cNvPr id="13" name="Rounded Rectangle 12"/>
          <p:cNvSpPr/>
          <p:nvPr/>
        </p:nvSpPr>
        <p:spPr>
          <a:xfrm>
            <a:off x="548640" y="4632960"/>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3. Cảnh giác trước thủ đoạn Diễn biến hòa bình</a:t>
            </a:r>
          </a:p>
          <a:p>
            <a:pPr>
              <a:defRPr sz="1700">
                <a:solidFill>
                  <a:srgbClr val="1E293B"/>
                </a:solidFill>
                <a:latin typeface="Times New Roman"/>
              </a:defRPr>
            </a:pPr>
            <a:r>
              <a:t>• Tuyệt đối không để kẻ xấu mua chuộc, xúi giục khiếu kiện hay truyền đạo trái phép.</a:t>
            </a:r>
          </a:p>
        </p:txBody>
      </p:sp>
      <p:sp>
        <p:nvSpPr>
          <p:cNvPr id="14" name="Rounded Rectangle 13"/>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etnam_nature.jpg"/>
          <p:cNvPicPr>
            <a:picLocks noChangeAspect="1"/>
          </p:cNvPicPr>
          <p:nvPr/>
        </p:nvPicPr>
        <p:blipFill>
          <a:blip r:embed="rId3"/>
          <a:stretch>
            <a:fillRect/>
          </a:stretch>
        </p:blipFill>
        <p:spPr>
          <a:xfrm>
            <a:off x="7040880" y="1753210"/>
            <a:ext cx="4602175" cy="3068116"/>
          </a:xfrm>
          <a:prstGeom prst="rect">
            <a:avLst/>
          </a:prstGeom>
        </p:spPr>
      </p:pic>
      <p:sp>
        <p:nvSpPr>
          <p:cNvPr id="16" name="TextBox 15"/>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54 Dân tộc anh em: Sức mạnh nội sinh to lớn đưa đất nước vững bước tiến vào kỷ nguyên phát triển giàu mạnh, văn minh.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10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77240"/>
            <a:ext cx="11094415" cy="548640"/>
          </a:xfrm>
          <a:prstGeom prst="rect">
            <a:avLst/>
          </a:prstGeom>
          <a:noFill/>
        </p:spPr>
        <p:txBody>
          <a:bodyPr wrap="none">
            <a:spAutoFit/>
          </a:bodyPr>
          <a:lstStyle/>
          <a:p>
            <a:pPr>
              <a:defRPr sz="2300" b="1">
                <a:solidFill>
                  <a:srgbClr val="00254A"/>
                </a:solidFill>
                <a:latin typeface="Times New Roman"/>
              </a:defRPr>
            </a:pPr>
            <a:r>
              <a:t>Sơ đồ tư duy: Dân tộc &amp; Quan điểm giải quyết</a:t>
            </a:r>
          </a:p>
        </p:txBody>
      </p:sp>
      <p:sp>
        <p:nvSpPr>
          <p:cNvPr id="10" name="Rounded Rectangle 9"/>
          <p:cNvSpPr/>
          <p:nvPr/>
        </p:nvSpPr>
        <p:spPr>
          <a:xfrm>
            <a:off x="1294790" y="1389888"/>
            <a:ext cx="9601200" cy="777240"/>
          </a:xfrm>
          <a:prstGeom prst="roundRect">
            <a:avLst/>
          </a:prstGeom>
          <a:solidFill>
            <a:srgbClr val="00254A"/>
          </a:solidFill>
          <a:ln w="3175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latin typeface="Times New Roman"/>
              </a:defRPr>
            </a:pPr>
            <a:r>
              <a:t>DÂN TỘC &amp; QUAN ĐIỂM GIẢI QUYẾT CỦA MÁC - LÊNIN, TƯ TƯỞNG HỒ CHÍ MINH</a:t>
            </a:r>
          </a:p>
        </p:txBody>
      </p:sp>
      <p:sp>
        <p:nvSpPr>
          <p:cNvPr id="11" name="Rounded Rectangle 10"/>
          <p:cNvSpPr/>
          <p:nvPr/>
        </p:nvSpPr>
        <p:spPr>
          <a:xfrm>
            <a:off x="548640" y="2377440"/>
            <a:ext cx="2560320" cy="297180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1. KHÁI NIỆM &amp; 2 NGHĨA</a:t>
            </a:r>
          </a:p>
          <a:p>
            <a:pPr>
              <a:defRPr sz="1600">
                <a:solidFill>
                  <a:srgbClr val="1E293B"/>
                </a:solidFill>
                <a:latin typeface="Times New Roman"/>
              </a:defRPr>
            </a:pPr>
            <a:r>
              <a:t>• 4 hình thái cộng đồng</a:t>
            </a:r>
          </a:p>
          <a:p>
            <a:pPr>
              <a:defRPr sz="1600">
                <a:solidFill>
                  <a:srgbClr val="1E293B"/>
                </a:solidFill>
                <a:latin typeface="Times New Roman"/>
              </a:defRPr>
            </a:pPr>
            <a:r>
              <a:t>• Nghĩa hẹp: Tộc người (3 tiêu chí)</a:t>
            </a:r>
          </a:p>
          <a:p>
            <a:pPr>
              <a:defRPr sz="1600">
                <a:solidFill>
                  <a:srgbClr val="1E293B"/>
                </a:solidFill>
                <a:latin typeface="Times New Roman"/>
              </a:defRPr>
            </a:pPr>
            <a:r>
              <a:t>• Nghĩa rộng: Quốc gia (5 đặc trưng)</a:t>
            </a:r>
          </a:p>
        </p:txBody>
      </p:sp>
      <p:sp>
        <p:nvSpPr>
          <p:cNvPr id="12" name="Rounded Rectangle 11"/>
          <p:cNvSpPr/>
          <p:nvPr/>
        </p:nvSpPr>
        <p:spPr>
          <a:xfrm>
            <a:off x="3392424" y="2377440"/>
            <a:ext cx="2560320" cy="29718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2. HAI XU HƯỚNG</a:t>
            </a:r>
          </a:p>
          <a:p>
            <a:pPr>
              <a:defRPr sz="1600">
                <a:solidFill>
                  <a:srgbClr val="1E293B"/>
                </a:solidFill>
                <a:latin typeface="Times New Roman"/>
              </a:defRPr>
            </a:pPr>
            <a:r>
              <a:t>• Tách ra thành lập quốc gia</a:t>
            </a:r>
          </a:p>
          <a:p>
            <a:pPr>
              <a:defRPr sz="1600">
                <a:solidFill>
                  <a:srgbClr val="1E293B"/>
                </a:solidFill>
                <a:latin typeface="Times New Roman"/>
              </a:defRPr>
            </a:pPr>
            <a:r>
              <a:t>• Liên hiệp xích lại gần nhau</a:t>
            </a:r>
          </a:p>
          <a:p>
            <a:pPr>
              <a:defRPr sz="1600">
                <a:solidFill>
                  <a:srgbClr val="1E293B"/>
                </a:solidFill>
                <a:latin typeface="Times New Roman"/>
              </a:defRPr>
            </a:pPr>
            <a:r>
              <a:t>• Tác động biện chứng toàn cầu hóa</a:t>
            </a:r>
          </a:p>
        </p:txBody>
      </p:sp>
      <p:sp>
        <p:nvSpPr>
          <p:cNvPr id="13" name="Rounded Rectangle 12"/>
          <p:cNvSpPr/>
          <p:nvPr/>
        </p:nvSpPr>
        <p:spPr>
          <a:xfrm>
            <a:off x="6236208" y="2377440"/>
            <a:ext cx="2560320" cy="29718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3. CƯƠNG LĨNH LÊNIN</a:t>
            </a:r>
          </a:p>
          <a:p>
            <a:pPr>
              <a:defRPr sz="1600">
                <a:solidFill>
                  <a:srgbClr val="1E293B"/>
                </a:solidFill>
                <a:latin typeface="Times New Roman"/>
              </a:defRPr>
            </a:pPr>
            <a:r>
              <a:t>• Hoàn toàn bình đẳng</a:t>
            </a:r>
          </a:p>
          <a:p>
            <a:pPr>
              <a:defRPr sz="1600">
                <a:solidFill>
                  <a:srgbClr val="1E293B"/>
                </a:solidFill>
                <a:latin typeface="Times New Roman"/>
              </a:defRPr>
            </a:pPr>
            <a:r>
              <a:t>• Quyền tự quyết dân tộc</a:t>
            </a:r>
          </a:p>
          <a:p>
            <a:pPr>
              <a:defRPr sz="1600">
                <a:solidFill>
                  <a:srgbClr val="1E293B"/>
                </a:solidFill>
                <a:latin typeface="Times New Roman"/>
              </a:defRPr>
            </a:pPr>
            <a:r>
              <a:t>• Liên hiệp công nhân các dân tộc</a:t>
            </a:r>
          </a:p>
        </p:txBody>
      </p:sp>
      <p:sp>
        <p:nvSpPr>
          <p:cNvPr id="14" name="Rounded Rectangle 13"/>
          <p:cNvSpPr/>
          <p:nvPr/>
        </p:nvSpPr>
        <p:spPr>
          <a:xfrm>
            <a:off x="9079992" y="2377440"/>
            <a:ext cx="2560320" cy="297180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4. TƯ TƯỞNG BÁC HỒ</a:t>
            </a:r>
          </a:p>
          <a:p>
            <a:pPr>
              <a:defRPr sz="1600">
                <a:solidFill>
                  <a:srgbClr val="1E293B"/>
                </a:solidFill>
                <a:latin typeface="Times New Roman"/>
              </a:defRPr>
            </a:pPr>
            <a:r>
              <a:t>• Độc lập gắn liền CNXH</a:t>
            </a:r>
          </a:p>
          <a:p>
            <a:pPr>
              <a:defRPr sz="1600">
                <a:solidFill>
                  <a:srgbClr val="1E293B"/>
                </a:solidFill>
                <a:latin typeface="Times New Roman"/>
              </a:defRPr>
            </a:pPr>
            <a:r>
              <a:t>• Bình đẳng, đoàn kết, tương trợ</a:t>
            </a:r>
          </a:p>
          <a:p>
            <a:pPr>
              <a:defRPr sz="1600">
                <a:solidFill>
                  <a:srgbClr val="1E293B"/>
                </a:solidFill>
                <a:latin typeface="Times New Roman"/>
              </a:defRPr>
            </a:pPr>
            <a:r>
              <a:t>• Phát triển toàn diện và đào tạo cán bộ</a:t>
            </a:r>
          </a:p>
        </p:txBody>
      </p:sp>
      <p:sp>
        <p:nvSpPr>
          <p:cNvPr id="15" name="Rounded Rectangle 14"/>
          <p:cNvSpPr/>
          <p:nvPr/>
        </p:nvSpPr>
        <p:spPr>
          <a:xfrm>
            <a:off x="548640" y="5532120"/>
            <a:ext cx="11094415" cy="640080"/>
          </a:xfrm>
          <a:prstGeom prst="roundRect">
            <a:avLst/>
          </a:prstGeom>
          <a:solidFill>
            <a:srgbClr val="EBF3FA"/>
          </a:solidFill>
          <a:ln w="1905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3B70"/>
                </a:solidFill>
                <a:latin typeface="Times New Roman"/>
              </a:defRPr>
            </a:pPr>
            <a:r>
              <a:t>★ Khối đại đoàn kết 54 dân tộc anh em là nền tảng sống còn bảo vệ độc lập, chủ quyền và toàn vẹn lãnh thổ Việt Nam.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11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TRÁCH NHIỆM CÔNG DÂN - SINH VIÊN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Trách nhiệm của sinh viên Đại học Đại Nam (DNU)</a:t>
            </a:r>
          </a:p>
        </p:txBody>
      </p:sp>
      <p:sp>
        <p:nvSpPr>
          <p:cNvPr id="11" name="Rounded Rectangle 10"/>
          <p:cNvSpPr/>
          <p:nvPr/>
        </p:nvSpPr>
        <p:spPr>
          <a:xfrm>
            <a:off x="548640" y="1572768"/>
            <a:ext cx="5394960" cy="224028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1. Tuyệt đối Trung thành với Đảng, Nhà nước &amp; Tổ quốc</a:t>
            </a:r>
          </a:p>
          <a:p>
            <a:pPr>
              <a:defRPr sz="1700">
                <a:solidFill>
                  <a:srgbClr val="1E293B"/>
                </a:solidFill>
                <a:latin typeface="Times New Roman"/>
              </a:defRPr>
            </a:pPr>
            <a:r>
              <a:t>Kiên định mục tiêu độc lập dân tộc gắn liền với Chủ nghĩa xã hội; chấp hành nghiêm chỉnh đường lối của Đảng, chính sách và pháp luật của Nhà nước.</a:t>
            </a:r>
          </a:p>
        </p:txBody>
      </p:sp>
      <p:sp>
        <p:nvSpPr>
          <p:cNvPr id="12" name="Rounded Rectangle 11"/>
          <p:cNvSpPr/>
          <p:nvPr/>
        </p:nvSpPr>
        <p:spPr>
          <a:xfrm>
            <a:off x="6248095" y="1572768"/>
            <a:ext cx="5394960" cy="224028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2. Tích cực Học tập, Tu dưỡng Đạo đức Cách mạng</a:t>
            </a:r>
          </a:p>
          <a:p>
            <a:pPr>
              <a:defRPr sz="1700">
                <a:solidFill>
                  <a:srgbClr val="1E293B"/>
                </a:solidFill>
                <a:latin typeface="Times New Roman"/>
              </a:defRPr>
            </a:pPr>
            <a:r>
              <a:t>Rèn luyện bản lĩnh chính trị vững vàng, trau dồi tri thức khoa học, nâng cao trình độ chuyên môn; hoàn thành xuất sắc nhiệm vụ rèn luyện tại Nhà trường.</a:t>
            </a:r>
          </a:p>
        </p:txBody>
      </p:sp>
      <p:sp>
        <p:nvSpPr>
          <p:cNvPr id="13" name="Rounded Rectangle 12"/>
          <p:cNvSpPr/>
          <p:nvPr/>
        </p:nvSpPr>
        <p:spPr>
          <a:xfrm>
            <a:off x="548640" y="3977639"/>
            <a:ext cx="5394960" cy="224028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3. Nêu cao Tinh thần Cảnh giác Cách mạng</a:t>
            </a:r>
          </a:p>
          <a:p>
            <a:pPr>
              <a:defRPr sz="1700">
                <a:solidFill>
                  <a:srgbClr val="1E293B"/>
                </a:solidFill>
                <a:latin typeface="Times New Roman"/>
              </a:defRPr>
            </a:pPr>
            <a:r>
              <a:t>Chủ động phòng ngừa và kiên quyết đấu tranh phản bác các quan điểm sai trái, thù địch; không chia sẻ thông tin xấu độc kích động chia rẽ dân tộc.</a:t>
            </a:r>
          </a:p>
        </p:txBody>
      </p:sp>
      <p:sp>
        <p:nvSpPr>
          <p:cNvPr id="14" name="Rounded Rectangle 13"/>
          <p:cNvSpPr/>
          <p:nvPr/>
        </p:nvSpPr>
        <p:spPr>
          <a:xfrm>
            <a:off x="6248095" y="3977639"/>
            <a:ext cx="5394960" cy="224028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4. Xung kích Tham gia Bảo vệ An ninh Tổ quốc</a:t>
            </a:r>
          </a:p>
          <a:p>
            <a:pPr>
              <a:defRPr sz="1700">
                <a:solidFill>
                  <a:srgbClr val="1E293B"/>
                </a:solidFill>
                <a:latin typeface="Times New Roman"/>
              </a:defRPr>
            </a:pPr>
            <a:r>
              <a:t>Gương mẫu trong phong trào toàn dân bảo vệ an ninh Tổ quốc tại học đường và nơi cư trú; sẵn sàng thực hiện nghĩa vụ quân sự bảo vệ vững chắc Tổ quốc.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12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77240"/>
            <a:ext cx="11094415" cy="548640"/>
          </a:xfrm>
          <a:prstGeom prst="rect">
            <a:avLst/>
          </a:prstGeom>
          <a:noFill/>
        </p:spPr>
        <p:txBody>
          <a:bodyPr wrap="none">
            <a:spAutoFit/>
          </a:bodyPr>
          <a:lstStyle/>
          <a:p>
            <a:pPr>
              <a:defRPr sz="2300" b="1">
                <a:solidFill>
                  <a:srgbClr val="00254A"/>
                </a:solidFill>
                <a:latin typeface="Times New Roman"/>
              </a:defRPr>
            </a:pPr>
            <a:r>
              <a:t>Mini Game: Đố vui củng cố kiến thức Vấn đề 1</a:t>
            </a:r>
          </a:p>
        </p:txBody>
      </p:sp>
      <p:sp>
        <p:nvSpPr>
          <p:cNvPr id="10" name="Rounded Rectangle 9"/>
          <p:cNvSpPr/>
          <p:nvPr/>
        </p:nvSpPr>
        <p:spPr>
          <a:xfrm>
            <a:off x="548640" y="1508760"/>
            <a:ext cx="11094415" cy="1051560"/>
          </a:xfrm>
          <a:prstGeom prst="roundRect">
            <a:avLst/>
          </a:prstGeom>
          <a:solidFill>
            <a:srgbClr val="EBF3FA"/>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0254A"/>
                </a:solidFill>
                <a:latin typeface="Times New Roman"/>
              </a:defRPr>
            </a:pPr>
            <a:r>
              <a:t>CÂU HỎI: Theo V.I. Lênin, nội dung nào là nguyên tắc cốt lõi, quan trọng nhất trong Cương lĩnh dân tộc?</a:t>
            </a:r>
          </a:p>
        </p:txBody>
      </p:sp>
      <p:sp>
        <p:nvSpPr>
          <p:cNvPr id="11" name="Rounded Rectangle 10"/>
          <p:cNvSpPr/>
          <p:nvPr/>
        </p:nvSpPr>
        <p:spPr>
          <a:xfrm>
            <a:off x="548640" y="278892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A. Các dân tộc hoàn toàn bình đẳng</a:t>
            </a:r>
          </a:p>
        </p:txBody>
      </p:sp>
      <p:sp>
        <p:nvSpPr>
          <p:cNvPr id="12" name="Rounded Rectangle 11"/>
          <p:cNvSpPr/>
          <p:nvPr/>
        </p:nvSpPr>
        <p:spPr>
          <a:xfrm>
            <a:off x="6248095" y="278892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B. Các dân tộc được quyền tự quyết</a:t>
            </a:r>
          </a:p>
        </p:txBody>
      </p:sp>
      <p:sp>
        <p:nvSpPr>
          <p:cNvPr id="13" name="Rounded Rectangle 12"/>
          <p:cNvSpPr/>
          <p:nvPr/>
        </p:nvSpPr>
        <p:spPr>
          <a:xfrm>
            <a:off x="548640" y="397764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C. Liên hiệp công nhân tất cả các dân tộc</a:t>
            </a:r>
          </a:p>
        </p:txBody>
      </p:sp>
      <p:sp>
        <p:nvSpPr>
          <p:cNvPr id="14" name="Rounded Rectangle 13"/>
          <p:cNvSpPr/>
          <p:nvPr/>
        </p:nvSpPr>
        <p:spPr>
          <a:xfrm>
            <a:off x="6248095" y="397764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D. Tự do phân lập thành quốc gia riêng</a:t>
            </a:r>
          </a:p>
        </p:txBody>
      </p:sp>
      <p:sp>
        <p:nvSpPr>
          <p:cNvPr id="15" name="Rounded Rectangle 14"/>
          <p:cNvSpPr/>
          <p:nvPr/>
        </p:nvSpPr>
        <p:spPr>
          <a:xfrm>
            <a:off x="548640" y="5257800"/>
            <a:ext cx="11094415" cy="960120"/>
          </a:xfrm>
          <a:prstGeom prst="roundRect">
            <a:avLst/>
          </a:prstGeom>
          <a:solidFill>
            <a:srgbClr val="ECFDF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65F46"/>
                </a:solidFill>
                <a:latin typeface="Times New Roman"/>
              </a:defRPr>
            </a:pPr>
            <a:r>
              <a:t>ĐÁP ÁN ĐÚNG &amp; GIẢI THÍCH: C. 'Liên hiệp công nhân tất cả các dân tộc' là nguyên tắc cốt lõi, phản ánh bản chất quốc tế của phong trào công nhân và bảo đảm vững chắc cho bình đẳng và tự quyết chân chính.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548640"/>
            <a:ext cx="10911535" cy="5760720"/>
          </a:xfrm>
          <a:prstGeom prst="roundRect">
            <a:avLst/>
          </a:prstGeom>
          <a:solidFill>
            <a:srgbClr val="FFFFFF"/>
          </a:solidFill>
          <a:ln w="381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ai-nam-logo.png"/>
          <p:cNvPicPr>
            <a:picLocks noChangeAspect="1"/>
          </p:cNvPicPr>
          <p:nvPr/>
        </p:nvPicPr>
        <p:blipFill>
          <a:blip r:embed="rId2"/>
          <a:stretch>
            <a:fillRect/>
          </a:stretch>
        </p:blipFill>
        <p:spPr>
          <a:xfrm>
            <a:off x="9396374" y="777240"/>
            <a:ext cx="1850745" cy="502920"/>
          </a:xfrm>
          <a:prstGeom prst="rect">
            <a:avLst/>
          </a:prstGeom>
        </p:spPr>
      </p:pic>
      <p:sp>
        <p:nvSpPr>
          <p:cNvPr id="5" name="TextBox 4"/>
          <p:cNvSpPr txBox="1"/>
          <p:nvPr/>
        </p:nvSpPr>
        <p:spPr>
          <a:xfrm>
            <a:off x="1005840" y="777240"/>
            <a:ext cx="5486400" cy="411480"/>
          </a:xfrm>
          <a:prstGeom prst="rect">
            <a:avLst/>
          </a:prstGeom>
          <a:noFill/>
        </p:spPr>
        <p:txBody>
          <a:bodyPr wrap="none">
            <a:spAutoFit/>
          </a:bodyPr>
          <a:lstStyle/>
          <a:p>
            <a:pPr>
              <a:defRPr sz="1300" b="1">
                <a:solidFill>
                  <a:srgbClr val="F37021"/>
                </a:solidFill>
                <a:latin typeface="Times New Roman"/>
              </a:defRPr>
            </a:pPr>
            <a:r>
              <a:t>TRƯỜNG ĐẠI HỌC ĐẠI NAM  •  HỌC ĐỂ THAY ĐỔI</a:t>
            </a:r>
          </a:p>
        </p:txBody>
      </p:sp>
      <p:sp>
        <p:nvSpPr>
          <p:cNvPr id="6" name="TextBox 5"/>
          <p:cNvSpPr txBox="1"/>
          <p:nvPr/>
        </p:nvSpPr>
        <p:spPr>
          <a:xfrm>
            <a:off x="1005840" y="1371600"/>
            <a:ext cx="10180015" cy="731520"/>
          </a:xfrm>
          <a:prstGeom prst="rect">
            <a:avLst/>
          </a:prstGeom>
          <a:noFill/>
        </p:spPr>
        <p:txBody>
          <a:bodyPr wrap="none">
            <a:spAutoFit/>
          </a:bodyPr>
          <a:lstStyle/>
          <a:p>
            <a:pPr algn="ctr">
              <a:defRPr sz="3600" b="1">
                <a:solidFill>
                  <a:srgbClr val="F37021"/>
                </a:solidFill>
                <a:latin typeface="Times New Roman"/>
              </a:defRPr>
            </a:pPr>
            <a:r>
              <a:t>XIN TRÂN TRỌNG CẢM ƠN!</a:t>
            </a:r>
          </a:p>
        </p:txBody>
      </p:sp>
      <p:sp>
        <p:nvSpPr>
          <p:cNvPr id="7" name="TextBox 6"/>
          <p:cNvSpPr txBox="1"/>
          <p:nvPr/>
        </p:nvSpPr>
        <p:spPr>
          <a:xfrm>
            <a:off x="1005840" y="2148840"/>
            <a:ext cx="10180015" cy="548640"/>
          </a:xfrm>
          <a:prstGeom prst="rect">
            <a:avLst/>
          </a:prstGeom>
          <a:noFill/>
        </p:spPr>
        <p:txBody>
          <a:bodyPr wrap="none">
            <a:spAutoFit/>
          </a:bodyPr>
          <a:lstStyle/>
          <a:p>
            <a:pPr algn="ctr">
              <a:defRPr sz="2000" b="1">
                <a:solidFill>
                  <a:srgbClr val="00254A"/>
                </a:solidFill>
                <a:latin typeface="Times New Roman"/>
              </a:defRPr>
            </a:pPr>
            <a:r>
              <a:t>Kính chúc Thầy/Cô và các bạn sinh viên luôn dồi dào sức khỏe, hạnh phúc và thành công!</a:t>
            </a:r>
          </a:p>
        </p:txBody>
      </p:sp>
      <p:sp>
        <p:nvSpPr>
          <p:cNvPr id="8" name="TextBox 7"/>
          <p:cNvSpPr txBox="1"/>
          <p:nvPr/>
        </p:nvSpPr>
        <p:spPr>
          <a:xfrm>
            <a:off x="1371600" y="2697480"/>
            <a:ext cx="9448495" cy="868680"/>
          </a:xfrm>
          <a:prstGeom prst="rect">
            <a:avLst/>
          </a:prstGeom>
          <a:noFill/>
        </p:spPr>
        <p:txBody>
          <a:bodyPr wrap="square">
            <a:spAutoFit/>
          </a:bodyPr>
          <a:lstStyle/>
          <a:p>
            <a:pPr algn="ctr">
              <a:defRPr sz="1700">
                <a:solidFill>
                  <a:srgbClr val="1E293B"/>
                </a:solidFill>
                <a:latin typeface="Times New Roman"/>
              </a:defRPr>
            </a:pPr>
            <a:r>
              <a:t>Nhóm 1 xin chân thành cảm ơn Thầy/Cô giảng viên bộ môn Giáo dục Quốc phòng &amp; An ninh cùng toàn thể các bạn sinh viên lớp học phần đã chú ý theo dõi và lắng nghe bài thuyết trình của nhóm.</a:t>
            </a:r>
          </a:p>
        </p:txBody>
      </p:sp>
      <p:sp>
        <p:nvSpPr>
          <p:cNvPr id="9" name="Rounded Rectangle 8"/>
          <p:cNvSpPr/>
          <p:nvPr/>
        </p:nvSpPr>
        <p:spPr>
          <a:xfrm>
            <a:off x="1280160" y="3657600"/>
            <a:ext cx="9631375" cy="1417320"/>
          </a:xfrm>
          <a:prstGeom prst="roundRect">
            <a:avLst/>
          </a:prstGeom>
          <a:solidFill>
            <a:srgbClr val="EBF3FA"/>
          </a:solidFill>
          <a:ln w="3175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bIns="137160"/>
          <a:lstStyle/>
          <a:p>
            <a:pPr algn="ctr">
              <a:defRPr sz="1400" b="1">
                <a:solidFill>
                  <a:srgbClr val="003B70"/>
                </a:solidFill>
                <a:latin typeface="Times New Roman"/>
              </a:defRPr>
            </a:pPr>
            <a:r>
              <a:t>★ THÔNG ĐIỆP BẾ MẠC:</a:t>
            </a:r>
          </a:p>
          <a:p>
            <a:pPr>
              <a:defRPr sz="1700" b="1" i="1">
                <a:solidFill>
                  <a:srgbClr val="00254A"/>
                </a:solidFill>
                <a:latin typeface="Times New Roman"/>
              </a:defRPr>
            </a:pPr>
            <a:r>
              <a:t>"Đoàn kết, đoàn kết, đại đoàn kết - Thành công, thành công, đại thành công. Khối đại đoàn kết 54 dân tộc anh em là cội nguồn sức mạnh vô địch của cách mạng Việt Nam!"</a:t>
            </a:r>
          </a:p>
        </p:txBody>
      </p:sp>
      <p:sp>
        <p:nvSpPr>
          <p:cNvPr id="10" name="TextBox 9"/>
          <p:cNvSpPr txBox="1"/>
          <p:nvPr/>
        </p:nvSpPr>
        <p:spPr>
          <a:xfrm>
            <a:off x="1005840" y="5303520"/>
            <a:ext cx="10180015" cy="502920"/>
          </a:xfrm>
          <a:prstGeom prst="rect">
            <a:avLst/>
          </a:prstGeom>
          <a:noFill/>
        </p:spPr>
        <p:txBody>
          <a:bodyPr wrap="none">
            <a:spAutoFit/>
          </a:bodyPr>
          <a:lstStyle/>
          <a:p>
            <a:pPr algn="ctr">
              <a:defRPr sz="1400" b="1">
                <a:solidFill>
                  <a:srgbClr val="64748B"/>
                </a:solidFill>
                <a:latin typeface="Times New Roman"/>
              </a:defRPr>
            </a:pPr>
            <a:r>
              <a:t>Nhóm 1 (Lớp GDQP-AN)   •   Khoa Giáo dục Quốc phòng &amp; An ninh   •   Trường Đại học Đại Nam</a:t>
            </a:r>
          </a:p>
          <a:p>
            <a:pPr algn="ctr">
              <a:defRPr sz="1400" b="1">
                <a:solidFill>
                  <a:srgbClr val="F37021"/>
                </a:solidFill>
                <a:latin typeface="Times New Roman"/>
              </a:defRPr>
            </a:pPr>
            <a:r>
              <a:t>HỌC ĐỂ THAY ĐỔI   •   http://dainam.edu.vn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457200"/>
          </a:xfrm>
          <a:prstGeom prst="rect">
            <a:avLst/>
          </a:prstGeom>
          <a:noFill/>
        </p:spPr>
        <p:txBody>
          <a:bodyPr wrap="none">
            <a:spAutoFit/>
          </a:bodyPr>
          <a:lstStyle/>
          <a:p>
            <a:pPr algn="ctr">
              <a:defRPr sz="1400" b="1">
                <a:solidFill>
                  <a:srgbClr val="F37021"/>
                </a:solidFill>
                <a:latin typeface="Times New Roman"/>
              </a:defRPr>
            </a:pPr>
            <a:r>
              <a:t>TRƯỜNG ĐẠI HỌC ĐẠI NAM  •  HỌC ĐỂ THAY ĐỔI</a:t>
            </a:r>
          </a:p>
        </p:txBody>
      </p:sp>
      <p:sp>
        <p:nvSpPr>
          <p:cNvPr id="4" name="TextBox 3"/>
          <p:cNvSpPr txBox="1"/>
          <p:nvPr/>
        </p:nvSpPr>
        <p:spPr>
          <a:xfrm>
            <a:off x="1371600" y="1371600"/>
            <a:ext cx="9448495" cy="548640"/>
          </a:xfrm>
          <a:prstGeom prst="rect">
            <a:avLst/>
          </a:prstGeom>
          <a:noFill/>
        </p:spPr>
        <p:txBody>
          <a:bodyPr wrap="none">
            <a:spAutoFit/>
          </a:bodyPr>
          <a:lstStyle/>
          <a:p>
            <a:pPr algn="ctr">
              <a:defRPr sz="1500" b="1">
                <a:solidFill>
                  <a:srgbClr val="FFFFFF"/>
                </a:solidFill>
                <a:latin typeface="Times New Roman"/>
              </a:defRPr>
            </a:pPr>
            <a:r>
              <a:t>GIÁO DỤC QUỐC PHÒNG &amp; AN NINH (HỌC PHẦN 2) • VẤN ĐỀ 02</a:t>
            </a:r>
          </a:p>
        </p:txBody>
      </p:sp>
      <p:sp>
        <p:nvSpPr>
          <p:cNvPr id="5" name="TextBox 4"/>
          <p:cNvSpPr txBox="1"/>
          <p:nvPr/>
        </p:nvSpPr>
        <p:spPr>
          <a:xfrm>
            <a:off x="914400" y="2103120"/>
            <a:ext cx="10362895" cy="2560320"/>
          </a:xfrm>
          <a:prstGeom prst="rect">
            <a:avLst/>
          </a:prstGeom>
          <a:noFill/>
        </p:spPr>
        <p:txBody>
          <a:bodyPr wrap="square">
            <a:spAutoFit/>
          </a:bodyPr>
          <a:lstStyle/>
          <a:p>
            <a:pPr algn="ctr">
              <a:defRPr sz="3000" b="1">
                <a:solidFill>
                  <a:srgbClr val="F37021"/>
                </a:solidFill>
                <a:latin typeface="Times New Roman"/>
              </a:defRPr>
            </a:pPr>
            <a:r>
              <a:t>TÔN GIÁO, VẤN ĐỀ TÔN GIÁO VÀ QUAN ĐIỂM GIẢI QUYẾT CỦA CHỦ NGHĨA MÁC - LÊNIN, TƯ TƯỞNG HỒ CHÍ MINH</a:t>
            </a:r>
          </a:p>
        </p:txBody>
      </p:sp>
      <p:sp>
        <p:nvSpPr>
          <p:cNvPr id="6" name="TextBox 5"/>
          <p:cNvSpPr txBox="1"/>
          <p:nvPr/>
        </p:nvSpPr>
        <p:spPr>
          <a:xfrm>
            <a:off x="914400" y="5303520"/>
            <a:ext cx="10362895" cy="731520"/>
          </a:xfrm>
          <a:prstGeom prst="rect">
            <a:avLst/>
          </a:prstGeom>
          <a:noFill/>
        </p:spPr>
        <p:txBody>
          <a:bodyPr wrap="none">
            <a:spAutoFit/>
          </a:bodyPr>
          <a:lstStyle/>
          <a:p>
            <a:pPr algn="ctr">
              <a:defRPr sz="1900" b="1">
                <a:solidFill>
                  <a:srgbClr val="FFFFFF"/>
                </a:solidFill>
                <a:latin typeface="Times New Roman"/>
              </a:defRPr>
            </a:pPr>
            <a:r>
              <a:t>Nhóm thực hiện: Nhóm 2 (Lớp GDQP-AN)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15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TỔNG QUAN BÀI HỌC</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Mục tiêu &amp; Khung nội dung thuyết trình</a:t>
            </a:r>
          </a:p>
        </p:txBody>
      </p:sp>
      <p:sp>
        <p:nvSpPr>
          <p:cNvPr id="11" name="Rounded Rectangle 10"/>
          <p:cNvSpPr/>
          <p:nvPr/>
        </p:nvSpPr>
        <p:spPr>
          <a:xfrm>
            <a:off x="548640" y="1572768"/>
            <a:ext cx="6217920" cy="1420368"/>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01. Khái niệm &amp; Nguồn gốc Bản chất</a:t>
            </a:r>
          </a:p>
          <a:p>
            <a:pPr>
              <a:defRPr sz="1700">
                <a:solidFill>
                  <a:srgbClr val="1E293B"/>
                </a:solidFill>
                <a:latin typeface="Times New Roman"/>
              </a:defRPr>
            </a:pPr>
            <a:r>
              <a:t>• Phân biệt khoa học giữa tôn giáo, tín ngưỡng và mê tín dị đoan.</a:t>
            </a:r>
          </a:p>
          <a:p>
            <a:pPr>
              <a:defRPr sz="1700">
                <a:solidFill>
                  <a:srgbClr val="1E293B"/>
                </a:solidFill>
                <a:latin typeface="Times New Roman"/>
              </a:defRPr>
            </a:pPr>
            <a:r>
              <a:t>• 3 nguồn gốc (Tự nhiên-KT-XH, nhận thức, tâm lý) &amp; 3 tính chất (lịch sử, quần chúng, chính trị).</a:t>
            </a:r>
          </a:p>
        </p:txBody>
      </p:sp>
      <p:sp>
        <p:nvSpPr>
          <p:cNvPr id="12" name="Rounded Rectangle 11"/>
          <p:cNvSpPr/>
          <p:nvPr/>
        </p:nvSpPr>
        <p:spPr>
          <a:xfrm>
            <a:off x="548640" y="3102864"/>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02. Quan điểm Lý luận</a:t>
            </a:r>
          </a:p>
          <a:p>
            <a:pPr>
              <a:defRPr sz="1700">
                <a:solidFill>
                  <a:srgbClr val="1E293B"/>
                </a:solidFill>
                <a:latin typeface="Times New Roman"/>
              </a:defRPr>
            </a:pPr>
            <a:r>
              <a:t>• Chủ nghĩa Mác - Lênin: 4 nguyên tắc phương pháp luận giải quyết vấn đề tôn giáo.</a:t>
            </a:r>
          </a:p>
          <a:p>
            <a:pPr>
              <a:defRPr sz="1700">
                <a:solidFill>
                  <a:srgbClr val="1E293B"/>
                </a:solidFill>
                <a:latin typeface="Times New Roman"/>
              </a:defRPr>
            </a:pPr>
            <a:r>
              <a:t>• Tư tưởng Hồ Chí Minh: Tôn giáo là di sản văn hóa đạo đức; đại đoàn kết Lương - Giáo.</a:t>
            </a:r>
          </a:p>
        </p:txBody>
      </p:sp>
      <p:sp>
        <p:nvSpPr>
          <p:cNvPr id="13" name="Rounded Rectangle 12"/>
          <p:cNvSpPr/>
          <p:nvPr/>
        </p:nvSpPr>
        <p:spPr>
          <a:xfrm>
            <a:off x="548640" y="4632960"/>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03. Ý nghĩa Thực tiễn &amp; Trách nhiệm</a:t>
            </a:r>
          </a:p>
          <a:p>
            <a:pPr>
              <a:defRPr sz="1700">
                <a:solidFill>
                  <a:srgbClr val="1E293B"/>
                </a:solidFill>
                <a:latin typeface="Times New Roman"/>
              </a:defRPr>
            </a:pPr>
            <a:r>
              <a:t>• Bảo đảm quyền tự do tín ngưỡng; thực hiện tốt 'Tốt đời đẹp đạo'.</a:t>
            </a:r>
          </a:p>
          <a:p>
            <a:pPr>
              <a:defRPr sz="1700">
                <a:solidFill>
                  <a:srgbClr val="1E293B"/>
                </a:solidFill>
                <a:latin typeface="Times New Roman"/>
              </a:defRPr>
            </a:pPr>
            <a:r>
              <a:t>• Trách nhiệm sinh viên: Tuyệt đối trung thành, tu dưỡng đạo đức, bài trừ tà đạo học đường.</a:t>
            </a:r>
          </a:p>
        </p:txBody>
      </p:sp>
      <p:sp>
        <p:nvSpPr>
          <p:cNvPr id="14" name="Rounded Rectangle 13"/>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etnam_pagoda.jpg"/>
          <p:cNvPicPr>
            <a:picLocks noChangeAspect="1"/>
          </p:cNvPicPr>
          <p:nvPr/>
        </p:nvPicPr>
        <p:blipFill>
          <a:blip r:embed="rId3"/>
          <a:stretch>
            <a:fillRect/>
          </a:stretch>
        </p:blipFill>
        <p:spPr>
          <a:xfrm>
            <a:off x="7040880" y="1753210"/>
            <a:ext cx="4602175" cy="3068116"/>
          </a:xfrm>
          <a:prstGeom prst="rect">
            <a:avLst/>
          </a:prstGeom>
        </p:spPr>
      </p:pic>
      <p:sp>
        <p:nvSpPr>
          <p:cNvPr id="16" name="TextBox 15"/>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Tôn giáo hòa quyện cùng Dân tộc: Tại Việt Nam, các tôn giáo luôn đồng hành cùng dòng chảy lịch sử, bồi đắp các giá trị văn hóa đạo đức nhân văn sâu sắc.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16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LÝ LUẬN CƠ BẢN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Phân biệt Tôn giáo, Tín ngưỡng &amp; Mê tín dị đoan</a:t>
            </a:r>
          </a:p>
        </p:txBody>
      </p:sp>
      <p:sp>
        <p:nvSpPr>
          <p:cNvPr id="11" name="Rounded Rectangle 10"/>
          <p:cNvSpPr/>
          <p:nvPr/>
        </p:nvSpPr>
        <p:spPr>
          <a:xfrm>
            <a:off x="548640" y="1572768"/>
            <a:ext cx="6217920" cy="1420368"/>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Tôn giáo (Religion)</a:t>
            </a:r>
          </a:p>
          <a:p>
            <a:pPr>
              <a:defRPr sz="1700">
                <a:solidFill>
                  <a:srgbClr val="1E293B"/>
                </a:solidFill>
                <a:latin typeface="Times New Roman"/>
              </a:defRPr>
            </a:pPr>
            <a:r>
              <a:t>• Hình thái ý thức xã hội phản ánh hư ảo hiện thực khách quan vào đầu óc con người.</a:t>
            </a:r>
          </a:p>
          <a:p>
            <a:pPr>
              <a:defRPr sz="1700">
                <a:solidFill>
                  <a:srgbClr val="1E293B"/>
                </a:solidFill>
                <a:latin typeface="Times New Roman"/>
              </a:defRPr>
            </a:pPr>
            <a:r>
              <a:t>• Cấu trúc hoàn chỉnh: Giáo lý, giáo luật, lễ nghi và tổ chức giáo hội được công nhận.</a:t>
            </a:r>
          </a:p>
        </p:txBody>
      </p:sp>
      <p:sp>
        <p:nvSpPr>
          <p:cNvPr id="12" name="Rounded Rectangle 11"/>
          <p:cNvSpPr/>
          <p:nvPr/>
        </p:nvSpPr>
        <p:spPr>
          <a:xfrm>
            <a:off x="548640" y="3102864"/>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Tín ngưỡng dân gian</a:t>
            </a:r>
          </a:p>
          <a:p>
            <a:pPr>
              <a:defRPr sz="1700">
                <a:solidFill>
                  <a:srgbClr val="1E293B"/>
                </a:solidFill>
                <a:latin typeface="Times New Roman"/>
              </a:defRPr>
            </a:pPr>
            <a:r>
              <a:t>• Hệ thống niềm tin vào lực lượng linh thiêng gắn với đời sống văn hóa tinh thần truyền thống.</a:t>
            </a:r>
          </a:p>
          <a:p>
            <a:pPr>
              <a:defRPr sz="1700">
                <a:solidFill>
                  <a:srgbClr val="1E293B"/>
                </a:solidFill>
                <a:latin typeface="Times New Roman"/>
              </a:defRPr>
            </a:pPr>
            <a:r>
              <a:t>• Ví dụ: Thờ cúng tổ tiên, Tín ngưỡng thờ Mẫu, Giỗ Tổ Hùng Vương (Di sản UNESCO).</a:t>
            </a:r>
          </a:p>
        </p:txBody>
      </p:sp>
      <p:sp>
        <p:nvSpPr>
          <p:cNvPr id="13" name="Rounded Rectangle 12"/>
          <p:cNvSpPr/>
          <p:nvPr/>
        </p:nvSpPr>
        <p:spPr>
          <a:xfrm>
            <a:off x="548640" y="4632960"/>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3. Mê tín dị đoan (Cần bài trừ)</a:t>
            </a:r>
          </a:p>
          <a:p>
            <a:pPr>
              <a:defRPr sz="1700">
                <a:solidFill>
                  <a:srgbClr val="1E293B"/>
                </a:solidFill>
                <a:latin typeface="Times New Roman"/>
              </a:defRPr>
            </a:pPr>
            <a:r>
              <a:t>• Sự tin tưởng mù quáng vào những điều phản khoa học, huyễn hoặc, nhảm nhí.</a:t>
            </a:r>
          </a:p>
          <a:p>
            <a:pPr>
              <a:defRPr sz="1700">
                <a:solidFill>
                  <a:srgbClr val="1E293B"/>
                </a:solidFill>
                <a:latin typeface="Times New Roman"/>
              </a:defRPr>
            </a:pPr>
            <a:r>
              <a:t>• Gây tổn hại sức khỏe, tài sản, hoang mang tâm lý xã hội (bói toán, tà đạo lừa đảo).</a:t>
            </a:r>
          </a:p>
        </p:txBody>
      </p:sp>
      <p:sp>
        <p:nvSpPr>
          <p:cNvPr id="14" name="Rounded Rectangle 13"/>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etnam_church.jpg"/>
          <p:cNvPicPr>
            <a:picLocks noChangeAspect="1"/>
          </p:cNvPicPr>
          <p:nvPr/>
        </p:nvPicPr>
        <p:blipFill>
          <a:blip r:embed="rId3"/>
          <a:stretch>
            <a:fillRect/>
          </a:stretch>
        </p:blipFill>
        <p:spPr>
          <a:xfrm>
            <a:off x="8377411" y="1572768"/>
            <a:ext cx="1929113" cy="3429000"/>
          </a:xfrm>
          <a:prstGeom prst="rect">
            <a:avLst/>
          </a:prstGeom>
        </p:spPr>
      </p:pic>
      <p:sp>
        <p:nvSpPr>
          <p:cNvPr id="16" name="TextBox 15"/>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Bảo đảm tự do tín ngưỡng lành mạnh: Nhà nước bảo hộ sinh hoạt tôn giáo hợp pháp, đồng thời kiên quyết bài trừ mê tín dị đoan.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17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NGUỒN GỐC &amp; BẢN CHẤT</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Ba nguồn gốc &amp; Ba tính chất của Tôn giáo</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A. Ba Nguồn gốc của Tôn giáo</a:t>
            </a:r>
          </a:p>
          <a:p>
            <a:pPr>
              <a:defRPr sz="1700">
                <a:solidFill>
                  <a:srgbClr val="1E293B"/>
                </a:solidFill>
                <a:latin typeface="Times New Roman"/>
              </a:defRPr>
            </a:pPr>
            <a:r>
              <a:t>• Tự nhiên - KT - Xã hội: Sự bất lực trước sức mạnh thiên tai và áp bức giai cấp bóc lột.</a:t>
            </a:r>
          </a:p>
          <a:p>
            <a:pPr>
              <a:defRPr sz="1700">
                <a:solidFill>
                  <a:srgbClr val="1E293B"/>
                </a:solidFill>
                <a:latin typeface="Times New Roman"/>
              </a:defRPr>
            </a:pPr>
            <a:r>
              <a:t>• Nhận thức: Giới hạn nhận thức của con người trước các quy luật tự nhiên trong từng thời kỳ.</a:t>
            </a:r>
          </a:p>
          <a:p>
            <a:pPr>
              <a:defRPr sz="1700">
                <a:solidFill>
                  <a:srgbClr val="1E293B"/>
                </a:solidFill>
                <a:latin typeface="Times New Roman"/>
              </a:defRPr>
            </a:pPr>
            <a:r>
              <a:t>• Tâm lý: Nỗi sợ hãi, cô đơn, mong ước tìm kiếm chỗ dựa tinh thần an ủi, bình yên.</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B. Ba Tính chất của Tôn giáo</a:t>
            </a:r>
          </a:p>
          <a:p>
            <a:pPr>
              <a:defRPr sz="1700">
                <a:solidFill>
                  <a:srgbClr val="1E293B"/>
                </a:solidFill>
                <a:latin typeface="Times New Roman"/>
              </a:defRPr>
            </a:pPr>
            <a:r>
              <a:t>• Tính lịch sử: Có điểm khởi đầu, biến đổi và sẽ tiêu vong khi nguồn gốc sinh ra nó mất đi.</a:t>
            </a:r>
          </a:p>
          <a:p>
            <a:pPr>
              <a:defRPr sz="1700">
                <a:solidFill>
                  <a:srgbClr val="1E293B"/>
                </a:solidFill>
                <a:latin typeface="Times New Roman"/>
              </a:defRPr>
            </a:pPr>
            <a:r>
              <a:t>• Tính quần chúng: Nơi sinh hoạt văn hóa tinh thần của hàng tỷ người trên thế giới.</a:t>
            </a:r>
          </a:p>
          <a:p>
            <a:pPr>
              <a:defRPr sz="1700">
                <a:solidFill>
                  <a:srgbClr val="1E293B"/>
                </a:solidFill>
                <a:latin typeface="Times New Roman"/>
              </a:defRPr>
            </a:pPr>
            <a:r>
              <a:t>• Tính chính trị: Thường bị các thế lực phản động lợi dụng phục vụ mục đích giai cấp.</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books.jpg"/>
          <p:cNvPicPr>
            <a:picLocks noChangeAspect="1"/>
          </p:cNvPicPr>
          <p:nvPr/>
        </p:nvPicPr>
        <p:blipFill>
          <a:blip r:embed="rId3"/>
          <a:stretch>
            <a:fillRect/>
          </a:stretch>
        </p:blipFill>
        <p:spPr>
          <a:xfrm>
            <a:off x="7040880" y="1757045"/>
            <a:ext cx="4602175" cy="306044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Thế giới quan duy vật biện chứng: Giải quyết vấn đề tôn giáo phải từng bước xóa bỏ tận gốc các nguyên nhân kinh tế - xã hội đẻ ra nó.</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18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NGUYÊN TẮC GIẢI QUYẾT</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Quan điểm Mác - Lênin: 4 Nguyên tắc cơ bản</a:t>
            </a:r>
          </a:p>
        </p:txBody>
      </p:sp>
      <p:sp>
        <p:nvSpPr>
          <p:cNvPr id="11" name="Rounded Rectangle 10"/>
          <p:cNvSpPr/>
          <p:nvPr/>
        </p:nvSpPr>
        <p:spPr>
          <a:xfrm>
            <a:off x="548640" y="1572768"/>
            <a:ext cx="6217920" cy="1037844"/>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Khắc phục nguồn gốc trần thế</a:t>
            </a:r>
          </a:p>
          <a:p>
            <a:pPr>
              <a:defRPr sz="1700">
                <a:solidFill>
                  <a:srgbClr val="1E293B"/>
                </a:solidFill>
                <a:latin typeface="Times New Roman"/>
              </a:defRPr>
            </a:pPr>
            <a:r>
              <a:t>• Phát triển kinh tế, nâng cao đời sống vật chất, xóa đói giảm nghèo và phổ cập giáo dục thay vì cấm đoán cơ học.</a:t>
            </a:r>
          </a:p>
        </p:txBody>
      </p:sp>
      <p:sp>
        <p:nvSpPr>
          <p:cNvPr id="12" name="Rounded Rectangle 11"/>
          <p:cNvSpPr/>
          <p:nvPr/>
        </p:nvSpPr>
        <p:spPr>
          <a:xfrm>
            <a:off x="548640" y="2720340"/>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Tôn trọng quyền tự do tín ngưỡng</a:t>
            </a:r>
          </a:p>
          <a:p>
            <a:pPr>
              <a:defRPr sz="1700">
                <a:solidFill>
                  <a:srgbClr val="1E293B"/>
                </a:solidFill>
                <a:latin typeface="Times New Roman"/>
              </a:defRPr>
            </a:pPr>
            <a:r>
              <a:t>• Tôn trọng quyền theo hoặc không theo bất kỳ tôn giáo nào. Mọi công dân bình đẳng trước pháp luật.</a:t>
            </a:r>
          </a:p>
        </p:txBody>
      </p:sp>
      <p:sp>
        <p:nvSpPr>
          <p:cNvPr id="13" name="Rounded Rectangle 12"/>
          <p:cNvSpPr/>
          <p:nvPr/>
        </p:nvSpPr>
        <p:spPr>
          <a:xfrm>
            <a:off x="548640" y="3867912"/>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3. Phân biệt 2 mặt: Chính trị &amp; Tư tưởng</a:t>
            </a:r>
          </a:p>
          <a:p>
            <a:pPr>
              <a:defRPr sz="1700">
                <a:solidFill>
                  <a:srgbClr val="1E293B"/>
                </a:solidFill>
                <a:latin typeface="Times New Roman"/>
              </a:defRPr>
            </a:pPr>
            <a:r>
              <a:t>• Mặt tư tưởng (nhu cầu tâm linh) cần tuyên truyền giáo dục; mặt chính trị (lợi dụng chống phá) phải kiên quyết trừng trị.</a:t>
            </a:r>
          </a:p>
        </p:txBody>
      </p:sp>
      <p:sp>
        <p:nvSpPr>
          <p:cNvPr id="14" name="Rounded Rectangle 13"/>
          <p:cNvSpPr/>
          <p:nvPr/>
        </p:nvSpPr>
        <p:spPr>
          <a:xfrm>
            <a:off x="548640" y="5015484"/>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4. Quan điểm lịch sử - cụ thể</a:t>
            </a:r>
          </a:p>
          <a:p>
            <a:pPr>
              <a:defRPr sz="1700">
                <a:solidFill>
                  <a:srgbClr val="1E293B"/>
                </a:solidFill>
                <a:latin typeface="Times New Roman"/>
              </a:defRPr>
            </a:pPr>
            <a:r>
              <a:t>• Mỗi thời kỳ, mỗi tôn giáo có vai trò khác nhau, cần có biện pháp ứng xử linh hoạt, phù hợp thực tế.</a:t>
            </a:r>
          </a:p>
        </p:txBody>
      </p:sp>
      <p:sp>
        <p:nvSpPr>
          <p:cNvPr id="15" name="Rounded Rectangle 14"/>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vietnam_law.jpg"/>
          <p:cNvPicPr>
            <a:picLocks noChangeAspect="1"/>
          </p:cNvPicPr>
          <p:nvPr/>
        </p:nvPicPr>
        <p:blipFill>
          <a:blip r:embed="rId3"/>
          <a:stretch>
            <a:fillRect/>
          </a:stretch>
        </p:blipFill>
        <p:spPr>
          <a:xfrm>
            <a:off x="7040880" y="1753210"/>
            <a:ext cx="4602175" cy="3068116"/>
          </a:xfrm>
          <a:prstGeom prst="rect">
            <a:avLst/>
          </a:prstGeom>
        </p:spPr>
      </p:pic>
      <p:sp>
        <p:nvSpPr>
          <p:cNvPr id="17" name="TextBox 16"/>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Thượng tôn pháp luật: Kết hợp hài hòa giữa tôn trọng quyền tự do tín ngưỡng của nhân dân với giữ vững kỷ cương phép nước, an ninh quốc gia.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19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TƯ TƯỞNG HỒ CHÍ MINH</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Tư tưởng Hồ Chí Minh về Tôn giáo &amp; Đại đoàn kết</a:t>
            </a:r>
          </a:p>
        </p:txBody>
      </p:sp>
      <p:sp>
        <p:nvSpPr>
          <p:cNvPr id="11" name="Rounded Rectangle 10"/>
          <p:cNvSpPr/>
          <p:nvPr/>
        </p:nvSpPr>
        <p:spPr>
          <a:xfrm>
            <a:off x="548640" y="1572768"/>
            <a:ext cx="6217920" cy="1420368"/>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Tôn trọng giá trị văn hóa đạo đức tôn giáo</a:t>
            </a:r>
          </a:p>
          <a:p>
            <a:pPr>
              <a:defRPr sz="1700">
                <a:solidFill>
                  <a:srgbClr val="1E293B"/>
                </a:solidFill>
                <a:latin typeface="Times New Roman"/>
              </a:defRPr>
            </a:pPr>
            <a:r>
              <a:t>• Bác khẳng định: Chúa Giê-su dạy bác ái, Phật Thích Ca dạy từ bi, Khổng Tử dạy nhân nghĩa.</a:t>
            </a:r>
          </a:p>
          <a:p>
            <a:pPr>
              <a:defRPr sz="1700">
                <a:solidFill>
                  <a:srgbClr val="1E293B"/>
                </a:solidFill>
                <a:latin typeface="Times New Roman"/>
              </a:defRPr>
            </a:pPr>
            <a:r>
              <a:t>• Gạn đục khơi trong, tiếp thu điểm tương đồng vì độc lập dân tộc và hạnh phúc nhân dân.</a:t>
            </a:r>
          </a:p>
        </p:txBody>
      </p:sp>
      <p:sp>
        <p:nvSpPr>
          <p:cNvPr id="12" name="Rounded Rectangle 11"/>
          <p:cNvSpPr/>
          <p:nvPr/>
        </p:nvSpPr>
        <p:spPr>
          <a:xfrm>
            <a:off x="548640" y="3102864"/>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Đại đoàn kết Đồng bào Lương - Giáo</a:t>
            </a:r>
          </a:p>
          <a:p>
            <a:pPr>
              <a:defRPr sz="1700">
                <a:solidFill>
                  <a:srgbClr val="1E293B"/>
                </a:solidFill>
                <a:latin typeface="Times New Roman"/>
              </a:defRPr>
            </a:pPr>
            <a:r>
              <a:t>• Đoàn kết chặt chẽ người có đạo và không có đạo, các tôn giáo bình đẳng, tương trợ nhau.</a:t>
            </a:r>
          </a:p>
          <a:p>
            <a:pPr>
              <a:defRPr sz="1700">
                <a:solidFill>
                  <a:srgbClr val="1E293B"/>
                </a:solidFill>
                <a:latin typeface="Times New Roman"/>
              </a:defRPr>
            </a:pPr>
            <a:r>
              <a:t>• Khuyên răn đồng bào công giáo: 'Kính Chúa yêu nước', 'Sống phúc âm giữa lòng dân tộc'.</a:t>
            </a:r>
          </a:p>
        </p:txBody>
      </p:sp>
      <p:sp>
        <p:nvSpPr>
          <p:cNvPr id="13" name="Rounded Rectangle 12"/>
          <p:cNvSpPr/>
          <p:nvPr/>
        </p:nvSpPr>
        <p:spPr>
          <a:xfrm>
            <a:off x="548640" y="4632960"/>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3. Nghiêm trị kẻ đội lốt tôn giáo chống phá</a:t>
            </a:r>
          </a:p>
          <a:p>
            <a:pPr>
              <a:defRPr sz="1700">
                <a:solidFill>
                  <a:srgbClr val="1E293B"/>
                </a:solidFill>
                <a:latin typeface="Times New Roman"/>
              </a:defRPr>
            </a:pPr>
            <a:r>
              <a:t>• Bảo vệ tín đồ chân chính; trừng trị những kẻ lợi dụng tôn giáo phá hoại sự nghiệp cách mạng.</a:t>
            </a:r>
          </a:p>
        </p:txBody>
      </p:sp>
      <p:sp>
        <p:nvSpPr>
          <p:cNvPr id="14" name="Rounded Rectangle 13"/>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etnam_unity.jpg"/>
          <p:cNvPicPr>
            <a:picLocks noChangeAspect="1"/>
          </p:cNvPicPr>
          <p:nvPr/>
        </p:nvPicPr>
        <p:blipFill>
          <a:blip r:embed="rId3"/>
          <a:stretch>
            <a:fillRect/>
          </a:stretch>
        </p:blipFill>
        <p:spPr>
          <a:xfrm>
            <a:off x="7040880" y="1753210"/>
            <a:ext cx="4602175" cy="3068116"/>
          </a:xfrm>
          <a:prstGeom prst="rect">
            <a:avLst/>
          </a:prstGeom>
        </p:spPr>
      </p:pic>
      <p:sp>
        <p:nvSpPr>
          <p:cNvPr id="16" name="TextBox 15"/>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Khối đại đoàn kết bền vững: Toàn thể đồng bào Lương - Giáo cùng chung một lòng phụng sự Tổ quốc, xây dựng đất nước đàng hoàng hơn, to đẹp hơn.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20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GIÁ TRỊ THỰC TIỄN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Ý nghĩa đối với Cách mạng Việt Nam</a:t>
            </a:r>
          </a:p>
        </p:txBody>
      </p:sp>
      <p:sp>
        <p:nvSpPr>
          <p:cNvPr id="11" name="Rounded Rectangle 10"/>
          <p:cNvSpPr/>
          <p:nvPr/>
        </p:nvSpPr>
        <p:spPr>
          <a:xfrm>
            <a:off x="548640" y="1572768"/>
            <a:ext cx="6217920" cy="1420368"/>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A. Kim chỉ nam hoạch định chính sách tôn giáo</a:t>
            </a:r>
          </a:p>
          <a:p>
            <a:pPr>
              <a:defRPr sz="1700">
                <a:solidFill>
                  <a:srgbClr val="1E293B"/>
                </a:solidFill>
                <a:latin typeface="Times New Roman"/>
              </a:defRPr>
            </a:pPr>
            <a:r>
              <a:t>• Cơ sở hiến định: Điều 24 Hiến pháp 2013 và Luật Tín ngưỡng, tôn giáo 2016.</a:t>
            </a:r>
          </a:p>
          <a:p>
            <a:pPr>
              <a:defRPr sz="1700">
                <a:solidFill>
                  <a:srgbClr val="1E293B"/>
                </a:solidFill>
                <a:latin typeface="Times New Roman"/>
              </a:defRPr>
            </a:pPr>
            <a:r>
              <a:t>• Tạo hành lang pháp lý minh bạch, bình đẳng cho mọi sinh hoạt tôn giáo chân chính.</a:t>
            </a:r>
          </a:p>
        </p:txBody>
      </p:sp>
      <p:sp>
        <p:nvSpPr>
          <p:cNvPr id="12" name="Rounded Rectangle 11"/>
          <p:cNvSpPr/>
          <p:nvPr/>
        </p:nvSpPr>
        <p:spPr>
          <a:xfrm>
            <a:off x="548640" y="3102864"/>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B. Huy động nguồn lực các tôn giáo phụng sự xã hội</a:t>
            </a:r>
          </a:p>
          <a:p>
            <a:pPr>
              <a:defRPr sz="1700">
                <a:solidFill>
                  <a:srgbClr val="1E293B"/>
                </a:solidFill>
                <a:latin typeface="Times New Roman"/>
              </a:defRPr>
            </a:pPr>
            <a:r>
              <a:t>• Phát huy truyền thống 'từ bi cứu khổ', 'bác ái dấn thân' trong an sinh, y tế, cứu trợ thiên tai.</a:t>
            </a:r>
          </a:p>
        </p:txBody>
      </p:sp>
      <p:sp>
        <p:nvSpPr>
          <p:cNvPr id="13" name="Rounded Rectangle 12"/>
          <p:cNvSpPr/>
          <p:nvPr/>
        </p:nvSpPr>
        <p:spPr>
          <a:xfrm>
            <a:off x="548640" y="4632960"/>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C. Vô hiệu hóa mưu đồ Diễn biến hòa bình</a:t>
            </a:r>
          </a:p>
          <a:p>
            <a:pPr>
              <a:defRPr sz="1700">
                <a:solidFill>
                  <a:srgbClr val="1E293B"/>
                </a:solidFill>
                <a:latin typeface="Times New Roman"/>
              </a:defRPr>
            </a:pPr>
            <a:r>
              <a:t>• Tăng cường sức đề kháng cho đồng bào có đạo trước các âm mưu kích động ly gián tôn giáo.</a:t>
            </a:r>
          </a:p>
        </p:txBody>
      </p:sp>
      <p:sp>
        <p:nvSpPr>
          <p:cNvPr id="14" name="Rounded Rectangle 13"/>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etnam_culture.jpg"/>
          <p:cNvPicPr>
            <a:picLocks noChangeAspect="1"/>
          </p:cNvPicPr>
          <p:nvPr/>
        </p:nvPicPr>
        <p:blipFill>
          <a:blip r:embed="rId3"/>
          <a:stretch>
            <a:fillRect/>
          </a:stretch>
        </p:blipFill>
        <p:spPr>
          <a:xfrm>
            <a:off x="7040880" y="1849088"/>
            <a:ext cx="4602175" cy="2876359"/>
          </a:xfrm>
          <a:prstGeom prst="rect">
            <a:avLst/>
          </a:prstGeom>
        </p:spPr>
      </p:pic>
      <p:sp>
        <p:nvSpPr>
          <p:cNvPr id="16" name="TextBox 15"/>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Đạo đời hòa hợp: Sự đồng hành của các tôn giáo đã tạo nên sức mạnh tổng hợp to lớn, giữ vững ổn định chính trị - xã hội đất nước.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21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BỨC TRANH TOÀN CẢNH</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Bức tranh Tôn giáo Đa dạng &amp; Hòa hợp tại Việt Nam</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Tôn giáo Đồng hành cùng Dân tộc</a:t>
            </a:r>
          </a:p>
          <a:p>
            <a:pPr>
              <a:defRPr sz="1700">
                <a:solidFill>
                  <a:srgbClr val="1E293B"/>
                </a:solidFill>
                <a:latin typeface="Times New Roman"/>
              </a:defRPr>
            </a:pPr>
            <a:r>
              <a:t>• Phật giáo: 'Đạo pháp - Dân tộc - Chủ nghĩa xã hội'.</a:t>
            </a:r>
          </a:p>
          <a:p>
            <a:pPr>
              <a:defRPr sz="1700">
                <a:solidFill>
                  <a:srgbClr val="1E293B"/>
                </a:solidFill>
                <a:latin typeface="Times New Roman"/>
              </a:defRPr>
            </a:pPr>
            <a:r>
              <a:t>• Công giáo: 'Sống phúc âm giữa lòng dân tộc để phục vụ hạnh phúc của đồng bào'.</a:t>
            </a:r>
          </a:p>
          <a:p>
            <a:pPr>
              <a:defRPr sz="1700">
                <a:solidFill>
                  <a:srgbClr val="1E293B"/>
                </a:solidFill>
                <a:latin typeface="Times New Roman"/>
              </a:defRPr>
            </a:pPr>
            <a:r>
              <a:t>• Tin lành: 'Sống phúc âm, phụng sự Thiên chúa, phục vụ Tổ quốc và Dân tộc'.</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Không có xung đột, chiến tranh tôn giáo</a:t>
            </a:r>
          </a:p>
          <a:p>
            <a:pPr>
              <a:defRPr sz="1700">
                <a:solidFill>
                  <a:srgbClr val="1E293B"/>
                </a:solidFill>
                <a:latin typeface="Times New Roman"/>
              </a:defRPr>
            </a:pPr>
            <a:r>
              <a:t>• Việt Nam chưa từng có chiến tranh tôn giáo. Các tín đồ cùng chung sống hòa thuận trong thôn xóm, gia đình.</a:t>
            </a:r>
          </a:p>
          <a:p>
            <a:pPr>
              <a:defRPr sz="1700">
                <a:solidFill>
                  <a:srgbClr val="1E293B"/>
                </a:solidFill>
                <a:latin typeface="Times New Roman"/>
              </a:defRPr>
            </a:pPr>
            <a:r>
              <a:t>• Đóng góp hàng ngàn tỷ đồng và hàng triệu ngày công cho công tác từ thiện xã hội.</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pagoda.jpg"/>
          <p:cNvPicPr>
            <a:picLocks noChangeAspect="1"/>
          </p:cNvPicPr>
          <p:nvPr/>
        </p:nvPicPr>
        <p:blipFill>
          <a:blip r:embed="rId3"/>
          <a:stretch>
            <a:fillRect/>
          </a:stretch>
        </p:blipFill>
        <p:spPr>
          <a:xfrm>
            <a:off x="7040880" y="1753210"/>
            <a:ext cx="4602175" cy="306811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Chung tay vì cộng đồng: Trong đại dịch và bão lũ, hàng ngàn chức sắc, tu sĩ, tín đồ các tôn giáo đã không quản ngại nguy hiểm tình nguyện hỗ trợ nhân dân.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22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77240"/>
            <a:ext cx="11094415" cy="548640"/>
          </a:xfrm>
          <a:prstGeom prst="rect">
            <a:avLst/>
          </a:prstGeom>
          <a:noFill/>
        </p:spPr>
        <p:txBody>
          <a:bodyPr wrap="none">
            <a:spAutoFit/>
          </a:bodyPr>
          <a:lstStyle/>
          <a:p>
            <a:pPr>
              <a:defRPr sz="2300" b="1">
                <a:solidFill>
                  <a:srgbClr val="00254A"/>
                </a:solidFill>
                <a:latin typeface="Times New Roman"/>
              </a:defRPr>
            </a:pPr>
            <a:r>
              <a:t>Sơ đồ tư duy: Tôn giáo &amp; Quan điểm giải quyết</a:t>
            </a:r>
          </a:p>
        </p:txBody>
      </p:sp>
      <p:sp>
        <p:nvSpPr>
          <p:cNvPr id="10" name="Rounded Rectangle 9"/>
          <p:cNvSpPr/>
          <p:nvPr/>
        </p:nvSpPr>
        <p:spPr>
          <a:xfrm>
            <a:off x="1294790" y="1389888"/>
            <a:ext cx="9601200" cy="777240"/>
          </a:xfrm>
          <a:prstGeom prst="roundRect">
            <a:avLst/>
          </a:prstGeom>
          <a:solidFill>
            <a:srgbClr val="00254A"/>
          </a:solidFill>
          <a:ln w="3175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latin typeface="Times New Roman"/>
              </a:defRPr>
            </a:pPr>
            <a:r>
              <a:t>TÔN GIÁO &amp; QUAN ĐIỂM GIẢI QUYẾT CỦA MÁC - LÊNIN, TƯ TƯỞNG HỒ CHÍ MINH</a:t>
            </a:r>
          </a:p>
        </p:txBody>
      </p:sp>
      <p:sp>
        <p:nvSpPr>
          <p:cNvPr id="11" name="Rounded Rectangle 10"/>
          <p:cNvSpPr/>
          <p:nvPr/>
        </p:nvSpPr>
        <p:spPr>
          <a:xfrm>
            <a:off x="548640" y="2377440"/>
            <a:ext cx="2560320" cy="297180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1. KHÁI NIỆM &amp; NGUỒN GỐC</a:t>
            </a:r>
          </a:p>
          <a:p>
            <a:pPr>
              <a:defRPr sz="1600">
                <a:solidFill>
                  <a:srgbClr val="1E293B"/>
                </a:solidFill>
                <a:latin typeface="Times New Roman"/>
              </a:defRPr>
            </a:pPr>
            <a:r>
              <a:t>• Phân biệt Tôn giáo - Tín ngưỡng - Mê tín</a:t>
            </a:r>
          </a:p>
          <a:p>
            <a:pPr>
              <a:defRPr sz="1600">
                <a:solidFill>
                  <a:srgbClr val="1E293B"/>
                </a:solidFill>
                <a:latin typeface="Times New Roman"/>
              </a:defRPr>
            </a:pPr>
            <a:r>
              <a:t>• 3 nguồn gốc: Tự nhiên-KT-XH, nhận thức, tâm lý</a:t>
            </a:r>
          </a:p>
          <a:p>
            <a:pPr>
              <a:defRPr sz="1600">
                <a:solidFill>
                  <a:srgbClr val="1E293B"/>
                </a:solidFill>
                <a:latin typeface="Times New Roman"/>
              </a:defRPr>
            </a:pPr>
            <a:r>
              <a:t>• 3 tính chất: Lịch sử, quần chúng, chính trị</a:t>
            </a:r>
          </a:p>
        </p:txBody>
      </p:sp>
      <p:sp>
        <p:nvSpPr>
          <p:cNvPr id="12" name="Rounded Rectangle 11"/>
          <p:cNvSpPr/>
          <p:nvPr/>
        </p:nvSpPr>
        <p:spPr>
          <a:xfrm>
            <a:off x="3392424" y="2377440"/>
            <a:ext cx="2560320" cy="29718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2. 4 NGUYÊN TẮC LÊNIN</a:t>
            </a:r>
          </a:p>
          <a:p>
            <a:pPr>
              <a:defRPr sz="1600">
                <a:solidFill>
                  <a:srgbClr val="1E293B"/>
                </a:solidFill>
                <a:latin typeface="Times New Roman"/>
              </a:defRPr>
            </a:pPr>
            <a:r>
              <a:t>• Khắc phục nguồn gốc trần thế</a:t>
            </a:r>
          </a:p>
          <a:p>
            <a:pPr>
              <a:defRPr sz="1600">
                <a:solidFill>
                  <a:srgbClr val="1E293B"/>
                </a:solidFill>
                <a:latin typeface="Times New Roman"/>
              </a:defRPr>
            </a:pPr>
            <a:r>
              <a:t>• Tôn trọng tự do tín ngưỡng</a:t>
            </a:r>
          </a:p>
          <a:p>
            <a:pPr>
              <a:defRPr sz="1600">
                <a:solidFill>
                  <a:srgbClr val="1E293B"/>
                </a:solidFill>
                <a:latin typeface="Times New Roman"/>
              </a:defRPr>
            </a:pPr>
            <a:r>
              <a:t>• Phân biệt mặt Chính trị &amp; Tư tưởng</a:t>
            </a:r>
          </a:p>
          <a:p>
            <a:pPr>
              <a:defRPr sz="1600">
                <a:solidFill>
                  <a:srgbClr val="1E293B"/>
                </a:solidFill>
                <a:latin typeface="Times New Roman"/>
              </a:defRPr>
            </a:pPr>
            <a:r>
              <a:t>• Quan điểm lịch sử - cụ thể</a:t>
            </a:r>
          </a:p>
        </p:txBody>
      </p:sp>
      <p:sp>
        <p:nvSpPr>
          <p:cNvPr id="13" name="Rounded Rectangle 12"/>
          <p:cNvSpPr/>
          <p:nvPr/>
        </p:nvSpPr>
        <p:spPr>
          <a:xfrm>
            <a:off x="6236208" y="2377440"/>
            <a:ext cx="2560320" cy="29718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3. TƯ TƯỞNG BÁC HỒ</a:t>
            </a:r>
          </a:p>
          <a:p>
            <a:pPr>
              <a:defRPr sz="1600">
                <a:solidFill>
                  <a:srgbClr val="1E293B"/>
                </a:solidFill>
                <a:latin typeface="Times New Roman"/>
              </a:defRPr>
            </a:pPr>
            <a:r>
              <a:t>• Tiếp thu giá trị nhân văn tôn giáo</a:t>
            </a:r>
          </a:p>
          <a:p>
            <a:pPr>
              <a:defRPr sz="1600">
                <a:solidFill>
                  <a:srgbClr val="1E293B"/>
                </a:solidFill>
                <a:latin typeface="Times New Roman"/>
              </a:defRPr>
            </a:pPr>
            <a:r>
              <a:t>• Đoàn kết Lương - Giáo keo sơn</a:t>
            </a:r>
          </a:p>
          <a:p>
            <a:pPr>
              <a:defRPr sz="1600">
                <a:solidFill>
                  <a:srgbClr val="1E293B"/>
                </a:solidFill>
                <a:latin typeface="Times New Roman"/>
              </a:defRPr>
            </a:pPr>
            <a:r>
              <a:t>• Kính Chúa yêu nước, tốt đời đẹp đạo</a:t>
            </a:r>
          </a:p>
          <a:p>
            <a:pPr>
              <a:defRPr sz="1600">
                <a:solidFill>
                  <a:srgbClr val="1E293B"/>
                </a:solidFill>
                <a:latin typeface="Times New Roman"/>
              </a:defRPr>
            </a:pPr>
            <a:r>
              <a:t>• Xử nghiêm kẻ đội lốt phá hoại</a:t>
            </a:r>
          </a:p>
        </p:txBody>
      </p:sp>
      <p:sp>
        <p:nvSpPr>
          <p:cNvPr id="14" name="Rounded Rectangle 13"/>
          <p:cNvSpPr/>
          <p:nvPr/>
        </p:nvSpPr>
        <p:spPr>
          <a:xfrm>
            <a:off x="9079992" y="2377440"/>
            <a:ext cx="2560320" cy="297180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4. THỰC TIỄN VIỆT NAM</a:t>
            </a:r>
          </a:p>
          <a:p>
            <a:pPr>
              <a:defRPr sz="1600">
                <a:solidFill>
                  <a:srgbClr val="1E293B"/>
                </a:solidFill>
                <a:latin typeface="Times New Roman"/>
              </a:defRPr>
            </a:pPr>
            <a:r>
              <a:t>• 16 tôn giáo, 27 triệu tín đồ</a:t>
            </a:r>
          </a:p>
          <a:p>
            <a:pPr>
              <a:defRPr sz="1600">
                <a:solidFill>
                  <a:srgbClr val="1E293B"/>
                </a:solidFill>
                <a:latin typeface="Times New Roman"/>
              </a:defRPr>
            </a:pPr>
            <a:r>
              <a:t>• Điều 24 Hiến pháp 2013 &amp; Luật TNTG</a:t>
            </a:r>
          </a:p>
          <a:p>
            <a:pPr>
              <a:defRPr sz="1600">
                <a:solidFill>
                  <a:srgbClr val="1E293B"/>
                </a:solidFill>
                <a:latin typeface="Times New Roman"/>
              </a:defRPr>
            </a:pPr>
            <a:r>
              <a:t>• Đồng hành phụng sự Tổ quốc</a:t>
            </a:r>
          </a:p>
        </p:txBody>
      </p:sp>
      <p:sp>
        <p:nvSpPr>
          <p:cNvPr id="15" name="Rounded Rectangle 14"/>
          <p:cNvSpPr/>
          <p:nvPr/>
        </p:nvSpPr>
        <p:spPr>
          <a:xfrm>
            <a:off x="548640" y="5532120"/>
            <a:ext cx="11094415" cy="640080"/>
          </a:xfrm>
          <a:prstGeom prst="roundRect">
            <a:avLst/>
          </a:prstGeom>
          <a:solidFill>
            <a:srgbClr val="EBF3FA"/>
          </a:solidFill>
          <a:ln w="1905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3B70"/>
                </a:solidFill>
                <a:latin typeface="Times New Roman"/>
              </a:defRPr>
            </a:pPr>
            <a:r>
              <a:t>★ Tôn trọng tự do tín ngưỡng gắn liền với kỷ cương phép nước - Không để bất kỳ ai lợi dụng tôn giáo phá hoại đất nước.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23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TRÁCH NHIỆM CÔNG DÂN - SINH VIÊN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Trách nhiệm của sinh viên Đại học Đại Nam (DNU)</a:t>
            </a:r>
          </a:p>
        </p:txBody>
      </p:sp>
      <p:sp>
        <p:nvSpPr>
          <p:cNvPr id="11" name="Rounded Rectangle 10"/>
          <p:cNvSpPr/>
          <p:nvPr/>
        </p:nvSpPr>
        <p:spPr>
          <a:xfrm>
            <a:off x="548640" y="1572768"/>
            <a:ext cx="5394960" cy="224028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1. Tuyệt đối Trung thành với Đảng, Nhà nước &amp; Tổ quốc</a:t>
            </a:r>
          </a:p>
          <a:p>
            <a:pPr>
              <a:defRPr sz="1700">
                <a:solidFill>
                  <a:srgbClr val="1E293B"/>
                </a:solidFill>
                <a:latin typeface="Times New Roman"/>
              </a:defRPr>
            </a:pPr>
            <a:r>
              <a:t>Kiên định mục tiêu độc lập dân tộc gắn liền với Chủ nghĩa xã hội; chấp hành nghiêm chỉnh đường lối của Đảng, chính sách và pháp luật của Nhà nước.</a:t>
            </a:r>
          </a:p>
        </p:txBody>
      </p:sp>
      <p:sp>
        <p:nvSpPr>
          <p:cNvPr id="12" name="Rounded Rectangle 11"/>
          <p:cNvSpPr/>
          <p:nvPr/>
        </p:nvSpPr>
        <p:spPr>
          <a:xfrm>
            <a:off x="6248095" y="1572768"/>
            <a:ext cx="5394960" cy="224028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2. Tích cực Học tập, Tu dưỡng Đạo đức Cách mạng</a:t>
            </a:r>
          </a:p>
          <a:p>
            <a:pPr>
              <a:defRPr sz="1700">
                <a:solidFill>
                  <a:srgbClr val="1E293B"/>
                </a:solidFill>
                <a:latin typeface="Times New Roman"/>
              </a:defRPr>
            </a:pPr>
            <a:r>
              <a:t>Rèn luyện bản lĩnh chính trị vững vàng, trau dồi tri thức khoa học, nâng cao trình độ chuyên môn; hoàn thành xuất sắc nhiệm vụ rèn luyện tại Nhà trường.</a:t>
            </a:r>
          </a:p>
        </p:txBody>
      </p:sp>
      <p:sp>
        <p:nvSpPr>
          <p:cNvPr id="13" name="Rounded Rectangle 12"/>
          <p:cNvSpPr/>
          <p:nvPr/>
        </p:nvSpPr>
        <p:spPr>
          <a:xfrm>
            <a:off x="548640" y="3977639"/>
            <a:ext cx="5394960" cy="224028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3. Nêu cao Tinh thần Cảnh giác Cách mạng</a:t>
            </a:r>
          </a:p>
          <a:p>
            <a:pPr>
              <a:defRPr sz="1700">
                <a:solidFill>
                  <a:srgbClr val="1E293B"/>
                </a:solidFill>
                <a:latin typeface="Times New Roman"/>
              </a:defRPr>
            </a:pPr>
            <a:r>
              <a:t>Chủ động phòng ngừa và kiên quyết đấu tranh phản bác các quan điểm sai trái, thù địch; không chia sẻ thông tin xấu độc kích động chia rẽ dân tộc.</a:t>
            </a:r>
          </a:p>
        </p:txBody>
      </p:sp>
      <p:sp>
        <p:nvSpPr>
          <p:cNvPr id="14" name="Rounded Rectangle 13"/>
          <p:cNvSpPr/>
          <p:nvPr/>
        </p:nvSpPr>
        <p:spPr>
          <a:xfrm>
            <a:off x="6248095" y="3977639"/>
            <a:ext cx="5394960" cy="224028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4. Xung kích Tham gia Bảo vệ An ninh Tổ quốc</a:t>
            </a:r>
          </a:p>
          <a:p>
            <a:pPr>
              <a:defRPr sz="1700">
                <a:solidFill>
                  <a:srgbClr val="1E293B"/>
                </a:solidFill>
                <a:latin typeface="Times New Roman"/>
              </a:defRPr>
            </a:pPr>
            <a:r>
              <a:t>Gương mẫu trong phong trào toàn dân bảo vệ an ninh Tổ quốc tại học đường và nơi cư trú; sẵn sàng thực hiện nghĩa vụ quân sự bảo vệ vững chắc Tổ quốc.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24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77240"/>
            <a:ext cx="11094415" cy="548640"/>
          </a:xfrm>
          <a:prstGeom prst="rect">
            <a:avLst/>
          </a:prstGeom>
          <a:noFill/>
        </p:spPr>
        <p:txBody>
          <a:bodyPr wrap="none">
            <a:spAutoFit/>
          </a:bodyPr>
          <a:lstStyle/>
          <a:p>
            <a:pPr>
              <a:defRPr sz="2300" b="1">
                <a:solidFill>
                  <a:srgbClr val="00254A"/>
                </a:solidFill>
                <a:latin typeface="Times New Roman"/>
              </a:defRPr>
            </a:pPr>
            <a:r>
              <a:t>Mini Game: Đố vui củng cố kiến thức Vấn đề 2</a:t>
            </a:r>
          </a:p>
        </p:txBody>
      </p:sp>
      <p:sp>
        <p:nvSpPr>
          <p:cNvPr id="10" name="Rounded Rectangle 9"/>
          <p:cNvSpPr/>
          <p:nvPr/>
        </p:nvSpPr>
        <p:spPr>
          <a:xfrm>
            <a:off x="548640" y="1508760"/>
            <a:ext cx="11094415" cy="1051560"/>
          </a:xfrm>
          <a:prstGeom prst="roundRect">
            <a:avLst/>
          </a:prstGeom>
          <a:solidFill>
            <a:srgbClr val="EBF3FA"/>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0254A"/>
                </a:solidFill>
                <a:latin typeface="Times New Roman"/>
              </a:defRPr>
            </a:pPr>
            <a:r>
              <a:t>CÂU HỎI: Theo chủ nghĩa Mác - Lênin, tính chất nào của tôn giáo thường bị các giai cấp bóc lột lợi dụng chống phá?</a:t>
            </a:r>
          </a:p>
        </p:txBody>
      </p:sp>
      <p:sp>
        <p:nvSpPr>
          <p:cNvPr id="11" name="Rounded Rectangle 10"/>
          <p:cNvSpPr/>
          <p:nvPr/>
        </p:nvSpPr>
        <p:spPr>
          <a:xfrm>
            <a:off x="548640" y="278892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A. Tính lịch sử</a:t>
            </a:r>
          </a:p>
        </p:txBody>
      </p:sp>
      <p:sp>
        <p:nvSpPr>
          <p:cNvPr id="12" name="Rounded Rectangle 11"/>
          <p:cNvSpPr/>
          <p:nvPr/>
        </p:nvSpPr>
        <p:spPr>
          <a:xfrm>
            <a:off x="6248095" y="278892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B. Tính quần chúng</a:t>
            </a:r>
          </a:p>
        </p:txBody>
      </p:sp>
      <p:sp>
        <p:nvSpPr>
          <p:cNvPr id="13" name="Rounded Rectangle 12"/>
          <p:cNvSpPr/>
          <p:nvPr/>
        </p:nvSpPr>
        <p:spPr>
          <a:xfrm>
            <a:off x="548640" y="397764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C. Tính chính trị</a:t>
            </a:r>
          </a:p>
        </p:txBody>
      </p:sp>
      <p:sp>
        <p:nvSpPr>
          <p:cNvPr id="14" name="Rounded Rectangle 13"/>
          <p:cNvSpPr/>
          <p:nvPr/>
        </p:nvSpPr>
        <p:spPr>
          <a:xfrm>
            <a:off x="6248095" y="397764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D. Tính nhân đạo</a:t>
            </a:r>
          </a:p>
        </p:txBody>
      </p:sp>
      <p:sp>
        <p:nvSpPr>
          <p:cNvPr id="15" name="Rounded Rectangle 14"/>
          <p:cNvSpPr/>
          <p:nvPr/>
        </p:nvSpPr>
        <p:spPr>
          <a:xfrm>
            <a:off x="548640" y="5257800"/>
            <a:ext cx="11094415" cy="960120"/>
          </a:xfrm>
          <a:prstGeom prst="roundRect">
            <a:avLst/>
          </a:prstGeom>
          <a:solidFill>
            <a:srgbClr val="ECFDF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65F46"/>
                </a:solidFill>
                <a:latin typeface="Times New Roman"/>
              </a:defRPr>
            </a:pPr>
            <a:r>
              <a:t>ĐÁP ÁN ĐÚNG &amp; GIẢI THÍCH: C. Tính chính trị của tôn giáo xuất hiện khi xã hội phân chia giai cấp có đối kháng; các thế lực thù địch thường lợi dụng tôn giáo để chống phá cách mạng.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548640"/>
            <a:ext cx="10911535" cy="5760720"/>
          </a:xfrm>
          <a:prstGeom prst="roundRect">
            <a:avLst/>
          </a:prstGeom>
          <a:solidFill>
            <a:srgbClr val="FFFFFF"/>
          </a:solidFill>
          <a:ln w="381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ai-nam-logo.png"/>
          <p:cNvPicPr>
            <a:picLocks noChangeAspect="1"/>
          </p:cNvPicPr>
          <p:nvPr/>
        </p:nvPicPr>
        <p:blipFill>
          <a:blip r:embed="rId2"/>
          <a:stretch>
            <a:fillRect/>
          </a:stretch>
        </p:blipFill>
        <p:spPr>
          <a:xfrm>
            <a:off x="9396374" y="777240"/>
            <a:ext cx="1850745" cy="502920"/>
          </a:xfrm>
          <a:prstGeom prst="rect">
            <a:avLst/>
          </a:prstGeom>
        </p:spPr>
      </p:pic>
      <p:sp>
        <p:nvSpPr>
          <p:cNvPr id="5" name="TextBox 4"/>
          <p:cNvSpPr txBox="1"/>
          <p:nvPr/>
        </p:nvSpPr>
        <p:spPr>
          <a:xfrm>
            <a:off x="1005840" y="777240"/>
            <a:ext cx="5486400" cy="411480"/>
          </a:xfrm>
          <a:prstGeom prst="rect">
            <a:avLst/>
          </a:prstGeom>
          <a:noFill/>
        </p:spPr>
        <p:txBody>
          <a:bodyPr wrap="none">
            <a:spAutoFit/>
          </a:bodyPr>
          <a:lstStyle/>
          <a:p>
            <a:pPr>
              <a:defRPr sz="1300" b="1">
                <a:solidFill>
                  <a:srgbClr val="F37021"/>
                </a:solidFill>
                <a:latin typeface="Times New Roman"/>
              </a:defRPr>
            </a:pPr>
            <a:r>
              <a:t>TRƯỜNG ĐẠI HỌC ĐẠI NAM  •  HỌC ĐỂ THAY ĐỔI</a:t>
            </a:r>
          </a:p>
        </p:txBody>
      </p:sp>
      <p:sp>
        <p:nvSpPr>
          <p:cNvPr id="6" name="TextBox 5"/>
          <p:cNvSpPr txBox="1"/>
          <p:nvPr/>
        </p:nvSpPr>
        <p:spPr>
          <a:xfrm>
            <a:off x="1005840" y="1371600"/>
            <a:ext cx="10180015" cy="731520"/>
          </a:xfrm>
          <a:prstGeom prst="rect">
            <a:avLst/>
          </a:prstGeom>
          <a:noFill/>
        </p:spPr>
        <p:txBody>
          <a:bodyPr wrap="none">
            <a:spAutoFit/>
          </a:bodyPr>
          <a:lstStyle/>
          <a:p>
            <a:pPr algn="ctr">
              <a:defRPr sz="3600" b="1">
                <a:solidFill>
                  <a:srgbClr val="F37021"/>
                </a:solidFill>
                <a:latin typeface="Times New Roman"/>
              </a:defRPr>
            </a:pPr>
            <a:r>
              <a:t>XIN TRÂN TRỌNG CẢM ƠN!</a:t>
            </a:r>
          </a:p>
        </p:txBody>
      </p:sp>
      <p:sp>
        <p:nvSpPr>
          <p:cNvPr id="7" name="TextBox 6"/>
          <p:cNvSpPr txBox="1"/>
          <p:nvPr/>
        </p:nvSpPr>
        <p:spPr>
          <a:xfrm>
            <a:off x="1005840" y="2148840"/>
            <a:ext cx="10180015" cy="548640"/>
          </a:xfrm>
          <a:prstGeom prst="rect">
            <a:avLst/>
          </a:prstGeom>
          <a:noFill/>
        </p:spPr>
        <p:txBody>
          <a:bodyPr wrap="none">
            <a:spAutoFit/>
          </a:bodyPr>
          <a:lstStyle/>
          <a:p>
            <a:pPr algn="ctr">
              <a:defRPr sz="2000" b="1">
                <a:solidFill>
                  <a:srgbClr val="00254A"/>
                </a:solidFill>
                <a:latin typeface="Times New Roman"/>
              </a:defRPr>
            </a:pPr>
            <a:r>
              <a:t>Kính chúc Thầy/Cô và các bạn sinh viên luôn dồi dào sức khỏe, hạnh phúc và thành công!</a:t>
            </a:r>
          </a:p>
        </p:txBody>
      </p:sp>
      <p:sp>
        <p:nvSpPr>
          <p:cNvPr id="8" name="TextBox 7"/>
          <p:cNvSpPr txBox="1"/>
          <p:nvPr/>
        </p:nvSpPr>
        <p:spPr>
          <a:xfrm>
            <a:off x="1371600" y="2697480"/>
            <a:ext cx="9448495" cy="868680"/>
          </a:xfrm>
          <a:prstGeom prst="rect">
            <a:avLst/>
          </a:prstGeom>
          <a:noFill/>
        </p:spPr>
        <p:txBody>
          <a:bodyPr wrap="square">
            <a:spAutoFit/>
          </a:bodyPr>
          <a:lstStyle/>
          <a:p>
            <a:pPr algn="ctr">
              <a:defRPr sz="1700">
                <a:solidFill>
                  <a:srgbClr val="1E293B"/>
                </a:solidFill>
                <a:latin typeface="Times New Roman"/>
              </a:defRPr>
            </a:pPr>
            <a:r>
              <a:t>Nhóm 2 xin chân thành cảm ơn Thầy/Cô giảng viên bộ môn Giáo dục Quốc phòng &amp; An ninh cùng toàn thể các bạn sinh viên lớp học phần đã chú ý theo dõi và lắng nghe bài thuyết trình của nhóm.</a:t>
            </a:r>
          </a:p>
        </p:txBody>
      </p:sp>
      <p:sp>
        <p:nvSpPr>
          <p:cNvPr id="9" name="Rounded Rectangle 8"/>
          <p:cNvSpPr/>
          <p:nvPr/>
        </p:nvSpPr>
        <p:spPr>
          <a:xfrm>
            <a:off x="1280160" y="3657600"/>
            <a:ext cx="9631375" cy="1417320"/>
          </a:xfrm>
          <a:prstGeom prst="roundRect">
            <a:avLst/>
          </a:prstGeom>
          <a:solidFill>
            <a:srgbClr val="EBF3FA"/>
          </a:solidFill>
          <a:ln w="3175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bIns="137160"/>
          <a:lstStyle/>
          <a:p>
            <a:pPr algn="ctr">
              <a:defRPr sz="1400" b="1">
                <a:solidFill>
                  <a:srgbClr val="003B70"/>
                </a:solidFill>
                <a:latin typeface="Times New Roman"/>
              </a:defRPr>
            </a:pPr>
            <a:r>
              <a:t>★ THÔNG ĐIỆP BẾ MẠC:</a:t>
            </a:r>
          </a:p>
          <a:p>
            <a:pPr>
              <a:defRPr sz="1700" b="1" i="1">
                <a:solidFill>
                  <a:srgbClr val="00254A"/>
                </a:solidFill>
                <a:latin typeface="Times New Roman"/>
              </a:defRPr>
            </a:pPr>
            <a:r>
              <a:t>"Tôn trọng quyền tự do tín ngưỡng chân chính gắn liền với giữ vững kỷ cương phép nước - Toàn thể đồng bào Lương - Giáo đồng lòng xây dựng đất nước bình yên, phồn vinh!"</a:t>
            </a:r>
          </a:p>
        </p:txBody>
      </p:sp>
      <p:sp>
        <p:nvSpPr>
          <p:cNvPr id="10" name="TextBox 9"/>
          <p:cNvSpPr txBox="1"/>
          <p:nvPr/>
        </p:nvSpPr>
        <p:spPr>
          <a:xfrm>
            <a:off x="1005840" y="5303520"/>
            <a:ext cx="10180015" cy="502920"/>
          </a:xfrm>
          <a:prstGeom prst="rect">
            <a:avLst/>
          </a:prstGeom>
          <a:noFill/>
        </p:spPr>
        <p:txBody>
          <a:bodyPr wrap="none">
            <a:spAutoFit/>
          </a:bodyPr>
          <a:lstStyle/>
          <a:p>
            <a:pPr algn="ctr">
              <a:defRPr sz="1400" b="1">
                <a:solidFill>
                  <a:srgbClr val="64748B"/>
                </a:solidFill>
                <a:latin typeface="Times New Roman"/>
              </a:defRPr>
            </a:pPr>
            <a:r>
              <a:t>Nhóm 2 (Lớp GDQP-AN)   •   Khoa Giáo dục Quốc phòng &amp; An ninh   •   Trường Đại học Đại Nam</a:t>
            </a:r>
          </a:p>
          <a:p>
            <a:pPr algn="ctr">
              <a:defRPr sz="1400" b="1">
                <a:solidFill>
                  <a:srgbClr val="F37021"/>
                </a:solidFill>
                <a:latin typeface="Times New Roman"/>
              </a:defRPr>
            </a:pPr>
            <a:r>
              <a:t>HỌC ĐỂ THAY ĐỔI   •   http://dainam.edu.vn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457200"/>
          </a:xfrm>
          <a:prstGeom prst="rect">
            <a:avLst/>
          </a:prstGeom>
          <a:noFill/>
        </p:spPr>
        <p:txBody>
          <a:bodyPr wrap="none">
            <a:spAutoFit/>
          </a:bodyPr>
          <a:lstStyle/>
          <a:p>
            <a:pPr algn="ctr">
              <a:defRPr sz="1400" b="1">
                <a:solidFill>
                  <a:srgbClr val="F37021"/>
                </a:solidFill>
                <a:latin typeface="Times New Roman"/>
              </a:defRPr>
            </a:pPr>
            <a:r>
              <a:t>TRƯỜNG ĐẠI HỌC ĐẠI NAM  •  HỌC ĐỂ THAY ĐỔI</a:t>
            </a:r>
          </a:p>
        </p:txBody>
      </p:sp>
      <p:sp>
        <p:nvSpPr>
          <p:cNvPr id="4" name="TextBox 3"/>
          <p:cNvSpPr txBox="1"/>
          <p:nvPr/>
        </p:nvSpPr>
        <p:spPr>
          <a:xfrm>
            <a:off x="1371600" y="1371600"/>
            <a:ext cx="9448495" cy="548640"/>
          </a:xfrm>
          <a:prstGeom prst="rect">
            <a:avLst/>
          </a:prstGeom>
          <a:noFill/>
        </p:spPr>
        <p:txBody>
          <a:bodyPr wrap="none">
            <a:spAutoFit/>
          </a:bodyPr>
          <a:lstStyle/>
          <a:p>
            <a:pPr algn="ctr">
              <a:defRPr sz="1500" b="1">
                <a:solidFill>
                  <a:srgbClr val="FFFFFF"/>
                </a:solidFill>
                <a:latin typeface="Times New Roman"/>
              </a:defRPr>
            </a:pPr>
            <a:r>
              <a:t>GIÁO DỤC QUỐC PHÒNG &amp; AN NINH (HỌC PHẦN 2) • VẤN ĐỀ 03</a:t>
            </a:r>
          </a:p>
        </p:txBody>
      </p:sp>
      <p:sp>
        <p:nvSpPr>
          <p:cNvPr id="5" name="TextBox 4"/>
          <p:cNvSpPr txBox="1"/>
          <p:nvPr/>
        </p:nvSpPr>
        <p:spPr>
          <a:xfrm>
            <a:off x="914400" y="2103120"/>
            <a:ext cx="10362895" cy="2560320"/>
          </a:xfrm>
          <a:prstGeom prst="rect">
            <a:avLst/>
          </a:prstGeom>
          <a:noFill/>
        </p:spPr>
        <p:txBody>
          <a:bodyPr wrap="square">
            <a:spAutoFit/>
          </a:bodyPr>
          <a:lstStyle/>
          <a:p>
            <a:pPr algn="ctr">
              <a:defRPr sz="3000" b="1">
                <a:solidFill>
                  <a:srgbClr val="F37021"/>
                </a:solidFill>
                <a:latin typeface="Times New Roman"/>
              </a:defRPr>
            </a:pPr>
            <a:r>
              <a:t>TÌNH HÌNH DÂN TỘC Ở VIỆT NAM, ÂM MƯU THỦ ĐOẠN CỦA ĐỊCH VÀ CHÍNH SÁCH CỦA ĐẢNG, NHÀ NƯỚC</a:t>
            </a:r>
          </a:p>
        </p:txBody>
      </p:sp>
      <p:sp>
        <p:nvSpPr>
          <p:cNvPr id="6" name="TextBox 5"/>
          <p:cNvSpPr txBox="1"/>
          <p:nvPr/>
        </p:nvSpPr>
        <p:spPr>
          <a:xfrm>
            <a:off x="914400" y="5303520"/>
            <a:ext cx="10362895" cy="731520"/>
          </a:xfrm>
          <a:prstGeom prst="rect">
            <a:avLst/>
          </a:prstGeom>
          <a:noFill/>
        </p:spPr>
        <p:txBody>
          <a:bodyPr wrap="none">
            <a:spAutoFit/>
          </a:bodyPr>
          <a:lstStyle/>
          <a:p>
            <a:pPr algn="ctr">
              <a:defRPr sz="1900" b="1">
                <a:solidFill>
                  <a:srgbClr val="FFFFFF"/>
                </a:solidFill>
                <a:latin typeface="Times New Roman"/>
              </a:defRPr>
            </a:pPr>
            <a:r>
              <a:t>Nhóm thực hiện: Nhóm 3 (Lớp GDQP-AN)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27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TỔNG QUAN BÀI HỌC</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Mục tiêu &amp; Khung nội dung thuyết trình</a:t>
            </a:r>
          </a:p>
        </p:txBody>
      </p:sp>
      <p:sp>
        <p:nvSpPr>
          <p:cNvPr id="11" name="Rounded Rectangle 10"/>
          <p:cNvSpPr/>
          <p:nvPr/>
        </p:nvSpPr>
        <p:spPr>
          <a:xfrm>
            <a:off x="548640" y="1572768"/>
            <a:ext cx="6217920" cy="1420368"/>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01. Đặc điểm Dân tộc VN</a:t>
            </a:r>
          </a:p>
          <a:p>
            <a:pPr>
              <a:defRPr sz="1700">
                <a:solidFill>
                  <a:srgbClr val="1E293B"/>
                </a:solidFill>
                <a:latin typeface="Times New Roman"/>
              </a:defRPr>
            </a:pPr>
            <a:r>
              <a:t>• 54 dân tộc anh em; dân tộc Kinh chiếm 85,3%, 53 dân tộc thiểu số chiếm 14,7% dân số.</a:t>
            </a:r>
          </a:p>
          <a:p>
            <a:pPr>
              <a:defRPr sz="1700">
                <a:solidFill>
                  <a:srgbClr val="1E293B"/>
                </a:solidFill>
                <a:latin typeface="Times New Roman"/>
              </a:defRPr>
            </a:pPr>
            <a:r>
              <a:t>• 4 đặc điểm nổi bật: Đoàn kết keo sơn; địa bàn chiến lược biên giới; chênh lệch trình độ; văn hóa đa dạng.</a:t>
            </a:r>
          </a:p>
        </p:txBody>
      </p:sp>
      <p:sp>
        <p:nvSpPr>
          <p:cNvPr id="12" name="Rounded Rectangle 11"/>
          <p:cNvSpPr/>
          <p:nvPr/>
        </p:nvSpPr>
        <p:spPr>
          <a:xfrm>
            <a:off x="548640" y="3102864"/>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02. Âm mưu &amp; Thủ đoạn</a:t>
            </a:r>
          </a:p>
          <a:p>
            <a:pPr>
              <a:defRPr sz="1700">
                <a:solidFill>
                  <a:srgbClr val="1E293B"/>
                </a:solidFill>
                <a:latin typeface="Times New Roman"/>
              </a:defRPr>
            </a:pPr>
            <a:r>
              <a:t>• Âm mưu thù địch: Dùng dân tộc làm 'ngòi nổ' Diễn biến hòa bình, kích động ly khai, tự trị.</a:t>
            </a:r>
          </a:p>
          <a:p>
            <a:pPr>
              <a:defRPr sz="1700">
                <a:solidFill>
                  <a:srgbClr val="1E293B"/>
                </a:solidFill>
                <a:latin typeface="Times New Roman"/>
              </a:defRPr>
            </a:pPr>
            <a:r>
              <a:t>• Thủ đoạn: Dựng tổ chức phản động (Đề Ga, Chămpa); gây bạo loạn Tây Nguyên.</a:t>
            </a:r>
          </a:p>
        </p:txBody>
      </p:sp>
      <p:sp>
        <p:nvSpPr>
          <p:cNvPr id="13" name="Rounded Rectangle 12"/>
          <p:cNvSpPr/>
          <p:nvPr/>
        </p:nvSpPr>
        <p:spPr>
          <a:xfrm>
            <a:off x="548640" y="4632960"/>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03. Chính sách &amp; Trách nhiệm</a:t>
            </a:r>
          </a:p>
          <a:p>
            <a:pPr>
              <a:defRPr sz="1700">
                <a:solidFill>
                  <a:srgbClr val="1E293B"/>
                </a:solidFill>
                <a:latin typeface="Times New Roman"/>
              </a:defRPr>
            </a:pPr>
            <a:r>
              <a:t>• Đường lối Đảng, Nhà nước: Hiến pháp 2013; nguyên tắc bình đẳng, đoàn kết, tôn trọng, tương trợ.</a:t>
            </a:r>
          </a:p>
          <a:p>
            <a:pPr>
              <a:defRPr sz="1700">
                <a:solidFill>
                  <a:srgbClr val="1E293B"/>
                </a:solidFill>
                <a:latin typeface="Times New Roman"/>
              </a:defRPr>
            </a:pPr>
            <a:r>
              <a:t>• Trách nhiệm công dân - sinh viên: Tuyệt đối trung thành, học tập rèn luyện, bảo vệ biên cương.</a:t>
            </a:r>
          </a:p>
        </p:txBody>
      </p:sp>
      <p:sp>
        <p:nvSpPr>
          <p:cNvPr id="14" name="Rounded Rectangle 13"/>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etnam_highland.jpg"/>
          <p:cNvPicPr>
            <a:picLocks noChangeAspect="1"/>
          </p:cNvPicPr>
          <p:nvPr/>
        </p:nvPicPr>
        <p:blipFill>
          <a:blip r:embed="rId3"/>
          <a:stretch>
            <a:fillRect/>
          </a:stretch>
        </p:blipFill>
        <p:spPr>
          <a:xfrm>
            <a:off x="7040880" y="1751292"/>
            <a:ext cx="4602175" cy="3071951"/>
          </a:xfrm>
          <a:prstGeom prst="rect">
            <a:avLst/>
          </a:prstGeom>
        </p:spPr>
      </p:pic>
      <p:sp>
        <p:nvSpPr>
          <p:cNvPr id="16" name="TextBox 15"/>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Vị trí chiến lược: Vùng đồng bào DTTS chiếm 3/4 diện tích tự nhiên, án ngữ địa bàn phòng thủ xung yếu dọc biên giới, giữ vai trò đặc biệt trọng yếu đối với quốc phòng an ninh.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28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BỨC TRANH TOÀN CẢNH</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Bức tranh toàn cảnh Dân tộc tại Việt Nam</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Quy mô &amp; Cơ cấu dân cư</a:t>
            </a:r>
          </a:p>
          <a:p>
            <a:pPr>
              <a:defRPr sz="1700">
                <a:solidFill>
                  <a:srgbClr val="1E293B"/>
                </a:solidFill>
                <a:latin typeface="Times New Roman"/>
              </a:defRPr>
            </a:pPr>
            <a:r>
              <a:t>• 54 Dân tộc anh em: Người Kinh phân bố chủ yếu ở đồng bằng, duyên hải và đô thị.</a:t>
            </a:r>
          </a:p>
          <a:p>
            <a:pPr>
              <a:defRPr sz="1700">
                <a:solidFill>
                  <a:srgbClr val="1E293B"/>
                </a:solidFill>
                <a:latin typeface="Times New Roman"/>
              </a:defRPr>
            </a:pPr>
            <a:r>
              <a:t>• 53 Dân tộc thiểu số (14,4+ triệu người) cư trú ở miền núi phía Bắc, Tây Nguyên, Tây Nam Bộ.</a:t>
            </a:r>
          </a:p>
          <a:p>
            <a:pPr>
              <a:defRPr sz="1700">
                <a:solidFill>
                  <a:srgbClr val="1E293B"/>
                </a:solidFill>
                <a:latin typeface="Times New Roman"/>
              </a:defRPr>
            </a:pPr>
            <a:r>
              <a:t>• Các dân tộc trên 1 triệu người: Tày, Thái, Mường, H'Mông, Khmer, Nùng.</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Truyền thống gắn kết keo sơn</a:t>
            </a:r>
          </a:p>
          <a:p>
            <a:pPr>
              <a:defRPr sz="1700">
                <a:solidFill>
                  <a:srgbClr val="1E293B"/>
                </a:solidFill>
                <a:latin typeface="Times New Roman"/>
              </a:defRPr>
            </a:pPr>
            <a:r>
              <a:t>• Các dân tộc cùng chia ngọt sẻ bùi, kề vai sát cánh chống giặc ngoại xâm suốt chiều dài lịch sử.</a:t>
            </a:r>
          </a:p>
          <a:p>
            <a:pPr>
              <a:defRPr sz="1700">
                <a:solidFill>
                  <a:srgbClr val="1E293B"/>
                </a:solidFill>
                <a:latin typeface="Times New Roman"/>
              </a:defRPr>
            </a:pPr>
            <a:r>
              <a:t>• Không có hận thù sắc tộc; chung một cội nguồn và ý thức tự hào Tổ quốc Việt Nam.</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ethnic_people_real.jpg"/>
          <p:cNvPicPr>
            <a:picLocks noChangeAspect="1"/>
          </p:cNvPicPr>
          <p:nvPr/>
        </p:nvPicPr>
        <p:blipFill>
          <a:blip r:embed="rId3"/>
          <a:stretch>
            <a:fillRect/>
          </a:stretch>
        </p:blipFill>
        <p:spPr>
          <a:xfrm>
            <a:off x="8044179" y="1572768"/>
            <a:ext cx="2595576" cy="3429000"/>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54 Dân tộc - Một ý chí Việt Nam: Dù tiếng nói và trang phục mang nét đặc trưng riêng, đồng bào các dân tộc luôn một lòng son sắt đi theo Đảng và Bác Hồ.</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29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ĐẶC ĐIỂM DÂN TỘC</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Bốn đặc điểm nổi bật của Dân tộc ở Việt Nam</a:t>
            </a:r>
          </a:p>
        </p:txBody>
      </p:sp>
      <p:sp>
        <p:nvSpPr>
          <p:cNvPr id="11" name="Rounded Rectangle 10"/>
          <p:cNvSpPr/>
          <p:nvPr/>
        </p:nvSpPr>
        <p:spPr>
          <a:xfrm>
            <a:off x="548640" y="1572768"/>
            <a:ext cx="6217920" cy="1037844"/>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Chênh lệch trình độ phát triển</a:t>
            </a:r>
          </a:p>
          <a:p>
            <a:pPr>
              <a:defRPr sz="1700">
                <a:solidFill>
                  <a:srgbClr val="1E293B"/>
                </a:solidFill>
                <a:latin typeface="Times New Roman"/>
              </a:defRPr>
            </a:pPr>
            <a:r>
              <a:t>• Do địa hình hiểm trở, xuất phát điểm thấp, tỷ lệ hộ nghèo vùng DTTS còn cao hơn bình quân cả nước.</a:t>
            </a:r>
          </a:p>
        </p:txBody>
      </p:sp>
      <p:sp>
        <p:nvSpPr>
          <p:cNvPr id="12" name="Rounded Rectangle 11"/>
          <p:cNvSpPr/>
          <p:nvPr/>
        </p:nvSpPr>
        <p:spPr>
          <a:xfrm>
            <a:off x="548640" y="2720340"/>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Cư trú xen kẽ, phân tán</a:t>
            </a:r>
          </a:p>
          <a:p>
            <a:pPr>
              <a:defRPr sz="1700">
                <a:solidFill>
                  <a:srgbClr val="1E293B"/>
                </a:solidFill>
                <a:latin typeface="Times New Roman"/>
              </a:defRPr>
            </a:pPr>
            <a:r>
              <a:t>• Không có lãnh thổ tộc người riêng biệt; các dân tộc sinh sống xen kẽ trong bản làng, giao lưu văn hóa mật thiết.</a:t>
            </a:r>
          </a:p>
        </p:txBody>
      </p:sp>
      <p:sp>
        <p:nvSpPr>
          <p:cNvPr id="13" name="Rounded Rectangle 12"/>
          <p:cNvSpPr/>
          <p:nvPr/>
        </p:nvSpPr>
        <p:spPr>
          <a:xfrm>
            <a:off x="548640" y="3867912"/>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3. Án ngữ địa bàn chiến lược xung yếu</a:t>
            </a:r>
          </a:p>
          <a:p>
            <a:pPr>
              <a:defRPr sz="1700">
                <a:solidFill>
                  <a:srgbClr val="1E293B"/>
                </a:solidFill>
                <a:latin typeface="Times New Roman"/>
              </a:defRPr>
            </a:pPr>
            <a:r>
              <a:t>• Vùng DTTS nắm giữ vị trí 'phên dậu' biên giới quốc gia, có tài nguyên rừng và khoáng sản vô cùng to lớn.</a:t>
            </a:r>
          </a:p>
        </p:txBody>
      </p:sp>
      <p:sp>
        <p:nvSpPr>
          <p:cNvPr id="14" name="Rounded Rectangle 13"/>
          <p:cNvSpPr/>
          <p:nvPr/>
        </p:nvSpPr>
        <p:spPr>
          <a:xfrm>
            <a:off x="548640" y="5015484"/>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4. Bản sắc văn hóa đa dạng, thống nhất</a:t>
            </a:r>
          </a:p>
          <a:p>
            <a:pPr>
              <a:defRPr sz="1700">
                <a:solidFill>
                  <a:srgbClr val="1E293B"/>
                </a:solidFill>
                <a:latin typeface="Times New Roman"/>
              </a:defRPr>
            </a:pPr>
            <a:r>
              <a:t>• Mỗi dân tộc sở hữu kho tàng văn hóa độc đáo nhưng hòa quyện trong nền văn hóa Việt Nam tiên tiến.</a:t>
            </a:r>
          </a:p>
        </p:txBody>
      </p:sp>
      <p:sp>
        <p:nvSpPr>
          <p:cNvPr id="15" name="Rounded Rectangle 14"/>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vietnam_nature.jpg"/>
          <p:cNvPicPr>
            <a:picLocks noChangeAspect="1"/>
          </p:cNvPicPr>
          <p:nvPr/>
        </p:nvPicPr>
        <p:blipFill>
          <a:blip r:embed="rId3"/>
          <a:stretch>
            <a:fillRect/>
          </a:stretch>
        </p:blipFill>
        <p:spPr>
          <a:xfrm>
            <a:off x="7040880" y="1753210"/>
            <a:ext cx="4602175" cy="3068116"/>
          </a:xfrm>
          <a:prstGeom prst="rect">
            <a:avLst/>
          </a:prstGeom>
        </p:spPr>
      </p:pic>
      <p:sp>
        <p:nvSpPr>
          <p:cNvPr id="17" name="TextBox 16"/>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Địa bàn xung yếu: Vấn đề dân tộc có vị trí chiến lược đặc biệt. Chăm lo cho đồng bào chính là củng cố vững chắc quốc phòng và an ninh Tổ quốc.</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30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ÂM MƯU CỦA ĐỊCH</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Âm mưu &amp; Thủ đoạn lợi dụng vấn đề dân tộc Chống phá</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Âm mưu Thâm độc</a:t>
            </a:r>
          </a:p>
          <a:p>
            <a:pPr>
              <a:defRPr sz="1700">
                <a:solidFill>
                  <a:srgbClr val="1E293B"/>
                </a:solidFill>
                <a:latin typeface="Times New Roman"/>
              </a:defRPr>
            </a:pPr>
            <a:r>
              <a:t>• Lấy vấn đề dân tộc làm 'ngòi nổ' kích động bạo loạn, phá vỡ khối đại đoàn kết toàn dân.</a:t>
            </a:r>
          </a:p>
          <a:p>
            <a:pPr>
              <a:defRPr sz="1700">
                <a:solidFill>
                  <a:srgbClr val="1E293B"/>
                </a:solidFill>
                <a:latin typeface="Times New Roman"/>
              </a:defRPr>
            </a:pPr>
            <a:r>
              <a:t>• Quốc tế hóa vấn đề dân tộc, vu cáo vi phạm nhân quyền để tạo cớ can thiệp ngoại giao, quân sự.</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Bốn Thủ đoạn Nguy hiểm</a:t>
            </a:r>
          </a:p>
          <a:p>
            <a:pPr>
              <a:defRPr sz="1700">
                <a:solidFill>
                  <a:srgbClr val="1E293B"/>
                </a:solidFill>
                <a:latin typeface="Times New Roman"/>
              </a:defRPr>
            </a:pPr>
            <a:r>
              <a:t>• Kích động ly khai: Đòi lập 'Nhà nước Đề Ga', 'Nhà nước Mông', 'Nhà nước Chămpa'.</a:t>
            </a:r>
          </a:p>
          <a:p>
            <a:pPr>
              <a:defRPr sz="1700">
                <a:solidFill>
                  <a:srgbClr val="1E293B"/>
                </a:solidFill>
                <a:latin typeface="Times New Roman"/>
              </a:defRPr>
            </a:pPr>
            <a:r>
              <a:t>• Xuyên tạc lịch sử: Kích động hằn thù quá khứ, vu cáo người Kinh 'cướp đất'.</a:t>
            </a:r>
          </a:p>
          <a:p>
            <a:pPr>
              <a:defRPr sz="1700">
                <a:solidFill>
                  <a:srgbClr val="1E293B"/>
                </a:solidFill>
                <a:latin typeface="Times New Roman"/>
              </a:defRPr>
            </a:pPr>
            <a:r>
              <a:t>• Lợi dụng truyền đạo trái phép: Dựng tà đạo tập hợp lực lượng biểu tình chống chính quyền.</a:t>
            </a:r>
          </a:p>
          <a:p>
            <a:pPr>
              <a:defRPr sz="1700">
                <a:solidFill>
                  <a:srgbClr val="1E293B"/>
                </a:solidFill>
                <a:latin typeface="Times New Roman"/>
              </a:defRPr>
            </a:pPr>
            <a:r>
              <a:t>• Mua chuộc cán bộ: Lôi kéo phần tử cơ hội, biến chất làm tay sai.</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defense.jpg"/>
          <p:cNvPicPr>
            <a:picLocks noChangeAspect="1"/>
          </p:cNvPicPr>
          <p:nvPr/>
        </p:nvPicPr>
        <p:blipFill>
          <a:blip r:embed="rId3"/>
          <a:stretch>
            <a:fillRect/>
          </a:stretch>
        </p:blipFill>
        <p:spPr>
          <a:xfrm>
            <a:off x="7040880" y="1630485"/>
            <a:ext cx="4602175" cy="331356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Cảnh giác giữ vững biên cương: Lực lượng vũ trang cùng đồng bào luôn nêu cao tinh thần cảnh giác, đập tan mọi âm mưu chia rẽ.</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31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QUAN ĐIỂM &amp; PHÁP LUẬT</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Quan điểm của Đảng &amp; Pháp luật Nhà nước về Dân tộc</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Cơ sở Hiến định: Điều 5 Hiến pháp 2013</a:t>
            </a:r>
          </a:p>
          <a:p>
            <a:pPr>
              <a:defRPr sz="1700">
                <a:solidFill>
                  <a:srgbClr val="1E293B"/>
                </a:solidFill>
                <a:latin typeface="Times New Roman"/>
              </a:defRPr>
            </a:pPr>
            <a:r>
              <a:t>• 'Nước CHXHCN Việt Nam là quốc gia thống nhất của các dân tộc cùng sinh sống trên đất nước Việt Nam.'</a:t>
            </a:r>
          </a:p>
          <a:p>
            <a:pPr>
              <a:defRPr sz="1700">
                <a:solidFill>
                  <a:srgbClr val="1E293B"/>
                </a:solidFill>
                <a:latin typeface="Times New Roman"/>
              </a:defRPr>
            </a:pPr>
            <a:r>
              <a:t>• 'Các dân tộc bình đẳng, đoàn kết, tôn trọng và giúp nhau cùng phát triển; nghiêm cấm mọi hành vi kỳ thị, chia rẽ dân tộc.'</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Quan điểm Nhất quán của Đảng</a:t>
            </a:r>
          </a:p>
          <a:p>
            <a:pPr>
              <a:defRPr sz="1700">
                <a:solidFill>
                  <a:srgbClr val="1E293B"/>
                </a:solidFill>
                <a:latin typeface="Times New Roman"/>
              </a:defRPr>
            </a:pPr>
            <a:r>
              <a:t>• Vấn đề dân tộc và công tác dân tộc có vị trí chiến lược lâu dài trong sự nghiệp cách mạng.</a:t>
            </a:r>
          </a:p>
          <a:p>
            <a:pPr>
              <a:defRPr sz="1700">
                <a:solidFill>
                  <a:srgbClr val="1E293B"/>
                </a:solidFill>
                <a:latin typeface="Times New Roman"/>
              </a:defRPr>
            </a:pPr>
            <a:r>
              <a:t>• Phát triển toàn diện chính trị, kinh tế, văn hóa, xã hội và quốc phòng, an ninh trên địa bàn.</a:t>
            </a:r>
          </a:p>
          <a:p>
            <a:pPr>
              <a:defRPr sz="1700">
                <a:solidFill>
                  <a:srgbClr val="1E293B"/>
                </a:solidFill>
                <a:latin typeface="Times New Roman"/>
              </a:defRPr>
            </a:pPr>
            <a:r>
              <a:t>• Ưu tiên đầu tư nguồn lực phát triển kết cấu hạ tầng, xóa đói giảm nghèo bền vững.</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law.jpg"/>
          <p:cNvPicPr>
            <a:picLocks noChangeAspect="1"/>
          </p:cNvPicPr>
          <p:nvPr/>
        </p:nvPicPr>
        <p:blipFill>
          <a:blip r:embed="rId3"/>
          <a:stretch>
            <a:fillRect/>
          </a:stretch>
        </p:blipFill>
        <p:spPr>
          <a:xfrm>
            <a:off x="7040880" y="1753210"/>
            <a:ext cx="4602175" cy="306811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Pháp quyền Xã hội Chủ nghĩa: Bảo đảm quyền bình đẳng tuyệt đối giữa các dân tộc; nghiêm trị mọi hành vi phân biệt đối xử và chia rẽ khối đoàn kết.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32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CHÍNH SÁCH DÂN TỘC</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Chính sách dân tộc trên Các lĩnh vực trọng yếu</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Chính trị &amp; Văn hóa</a:t>
            </a:r>
          </a:p>
          <a:p>
            <a:pPr>
              <a:defRPr sz="1700">
                <a:solidFill>
                  <a:srgbClr val="1E293B"/>
                </a:solidFill>
                <a:latin typeface="Times New Roman"/>
              </a:defRPr>
            </a:pPr>
            <a:r>
              <a:t>• Chính trị: Thực hiện quyền làm chủ; quy hoạch, đào tạo và bố trí cán bộ là người DTTS.</a:t>
            </a:r>
          </a:p>
          <a:p>
            <a:pPr>
              <a:defRPr sz="1700">
                <a:solidFill>
                  <a:srgbClr val="1E293B"/>
                </a:solidFill>
                <a:latin typeface="Times New Roman"/>
              </a:defRPr>
            </a:pPr>
            <a:r>
              <a:t>• Văn hóa: Giữ gìn và phát huy bản sắc; bảo tồn tiếng nói, chữ viết, lễ hội truyền thống; bài trừ hủ tục.</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Kinh tế &amp; Quốc phòng</a:t>
            </a:r>
          </a:p>
          <a:p>
            <a:pPr>
              <a:defRPr sz="1700">
                <a:solidFill>
                  <a:srgbClr val="1E293B"/>
                </a:solidFill>
                <a:latin typeface="Times New Roman"/>
              </a:defRPr>
            </a:pPr>
            <a:r>
              <a:t>• Kinh tế: Triển khai Chương trình Mục tiêu Quốc gia phát triển KT-XH vùng đồng bào DTTS (2021-2030).</a:t>
            </a:r>
          </a:p>
          <a:p>
            <a:pPr>
              <a:defRPr sz="1700">
                <a:solidFill>
                  <a:srgbClr val="1E293B"/>
                </a:solidFill>
                <a:latin typeface="Times New Roman"/>
              </a:defRPr>
            </a:pPr>
            <a:r>
              <a:t>• Quốc phòng - An ninh: Xây dựng 'thế trận lòng dân', củng cố phòng thủ biên giới, bảo vệ chủ quyền.</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highland.jpg"/>
          <p:cNvPicPr>
            <a:picLocks noChangeAspect="1"/>
          </p:cNvPicPr>
          <p:nvPr/>
        </p:nvPicPr>
        <p:blipFill>
          <a:blip r:embed="rId3"/>
          <a:stretch>
            <a:fillRect/>
          </a:stretch>
        </p:blipFill>
        <p:spPr>
          <a:xfrm>
            <a:off x="7040880" y="1751292"/>
            <a:ext cx="4602175" cy="3071951"/>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Nông thôn miền núi đổi mới: Tỷ lệ hộ nghèo giảm nhanh, trường học, trạm y tế, đường bê tông vươn tới 100% các xã vùng cao, củng cố niềm tin với Đảng.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33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BÀI HỌC THỰC TIỄN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Bài học thực tiễn: Đập tan âm mưu tại Tây Nguyên</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Các Vụ việc Gây rối Bạo loạn Điển hình</a:t>
            </a:r>
          </a:p>
          <a:p>
            <a:pPr>
              <a:defRPr sz="1700">
                <a:solidFill>
                  <a:srgbClr val="1E293B"/>
                </a:solidFill>
                <a:latin typeface="Times New Roman"/>
              </a:defRPr>
            </a:pPr>
            <a:r>
              <a:t>• Bạo loạn 2001, 2004: FULRO lưu vong (Ksor Kơk) kích động biểu tình đòi lập 'Nhà nước Đề Ga'.</a:t>
            </a:r>
          </a:p>
          <a:p>
            <a:pPr>
              <a:defRPr sz="1700">
                <a:solidFill>
                  <a:srgbClr val="1E293B"/>
                </a:solidFill>
                <a:latin typeface="Times New Roman"/>
              </a:defRPr>
            </a:pPr>
            <a:r>
              <a:t>• Khủng bố tại Đắk Lắk (11/6/2023): Nhóm vũ trang tấn công trụ sở xã, sát hại cán bộ và nhân dân dã man.</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Ba Bài học Xương máu</a:t>
            </a:r>
          </a:p>
          <a:p>
            <a:pPr>
              <a:defRPr sz="1700">
                <a:solidFill>
                  <a:srgbClr val="1E293B"/>
                </a:solidFill>
                <a:latin typeface="Times New Roman"/>
              </a:defRPr>
            </a:pPr>
            <a:r>
              <a:t>• Bám sát cơ sở: Nắm chắc tâm tư, giải quyết kịp thời nguyện vọng chính đáng của bà con.</a:t>
            </a:r>
          </a:p>
          <a:p>
            <a:pPr>
              <a:defRPr sz="1700">
                <a:solidFill>
                  <a:srgbClr val="1E293B"/>
                </a:solidFill>
                <a:latin typeface="Times New Roman"/>
              </a:defRPr>
            </a:pPr>
            <a:r>
              <a:t>• Củng cố thế trận lòng dân: Đẩy mạnh dân vận, dựa vào Già làng, Trưởng bản có uy tín.</a:t>
            </a:r>
          </a:p>
          <a:p>
            <a:pPr>
              <a:defRPr sz="1700">
                <a:solidFill>
                  <a:srgbClr val="1E293B"/>
                </a:solidFill>
                <a:latin typeface="Times New Roman"/>
              </a:defRPr>
            </a:pPr>
            <a:r>
              <a:t>• Xử lý kiên quyết, nhân văn: Trừng trị nghiêm kẻ cầm đầu; khoan hồng người bị lừa phỉnh.</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nature.jpg"/>
          <p:cNvPicPr>
            <a:picLocks noChangeAspect="1"/>
          </p:cNvPicPr>
          <p:nvPr/>
        </p:nvPicPr>
        <p:blipFill>
          <a:blip r:embed="rId3"/>
          <a:stretch>
            <a:fillRect/>
          </a:stretch>
        </p:blipFill>
        <p:spPr>
          <a:xfrm>
            <a:off x="7040880" y="1753210"/>
            <a:ext cx="4602175" cy="306811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Tây Nguyên bình yên: Nhờ cả hệ thống chính trị vào cuộc và sự đồng lòng của đồng bào, âm mưu lập 'Nhà nước Đề Ga' hoàn toàn bị đập tan.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34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77240"/>
            <a:ext cx="11094415" cy="548640"/>
          </a:xfrm>
          <a:prstGeom prst="rect">
            <a:avLst/>
          </a:prstGeom>
          <a:noFill/>
        </p:spPr>
        <p:txBody>
          <a:bodyPr wrap="none">
            <a:spAutoFit/>
          </a:bodyPr>
          <a:lstStyle/>
          <a:p>
            <a:pPr>
              <a:defRPr sz="2300" b="1">
                <a:solidFill>
                  <a:srgbClr val="00254A"/>
                </a:solidFill>
                <a:latin typeface="Times New Roman"/>
              </a:defRPr>
            </a:pPr>
            <a:r>
              <a:t>Sơ đồ tư duy: Tình hình dân tộc &amp; Chính sách Đảng, Nhà nước</a:t>
            </a:r>
          </a:p>
        </p:txBody>
      </p:sp>
      <p:sp>
        <p:nvSpPr>
          <p:cNvPr id="10" name="Rounded Rectangle 9"/>
          <p:cNvSpPr/>
          <p:nvPr/>
        </p:nvSpPr>
        <p:spPr>
          <a:xfrm>
            <a:off x="1294790" y="1389888"/>
            <a:ext cx="9601200" cy="777240"/>
          </a:xfrm>
          <a:prstGeom prst="roundRect">
            <a:avLst/>
          </a:prstGeom>
          <a:solidFill>
            <a:srgbClr val="00254A"/>
          </a:solidFill>
          <a:ln w="3175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latin typeface="Times New Roman"/>
              </a:defRPr>
            </a:pPr>
            <a:r>
              <a:t>TÌNH HÌNH DÂN TỘC &amp; CHÍNH SÁCH DÂN TỘC CỦA ĐẢNG, NHÀ NƯỚC</a:t>
            </a:r>
          </a:p>
        </p:txBody>
      </p:sp>
      <p:sp>
        <p:nvSpPr>
          <p:cNvPr id="11" name="Rounded Rectangle 10"/>
          <p:cNvSpPr/>
          <p:nvPr/>
        </p:nvSpPr>
        <p:spPr>
          <a:xfrm>
            <a:off x="548640" y="2377440"/>
            <a:ext cx="2560320" cy="297180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1. BỐN ĐẶC ĐIỂM</a:t>
            </a:r>
          </a:p>
          <a:p>
            <a:pPr>
              <a:defRPr sz="1600">
                <a:solidFill>
                  <a:srgbClr val="1E293B"/>
                </a:solidFill>
                <a:latin typeface="Times New Roman"/>
              </a:defRPr>
            </a:pPr>
            <a:r>
              <a:t>• Chênh lệch trình độ phát triển</a:t>
            </a:r>
          </a:p>
          <a:p>
            <a:pPr>
              <a:defRPr sz="1600">
                <a:solidFill>
                  <a:srgbClr val="1E293B"/>
                </a:solidFill>
                <a:latin typeface="Times New Roman"/>
              </a:defRPr>
            </a:pPr>
            <a:r>
              <a:t>• Cư trú xen kẽ, phân tán</a:t>
            </a:r>
          </a:p>
          <a:p>
            <a:pPr>
              <a:defRPr sz="1600">
                <a:solidFill>
                  <a:srgbClr val="1E293B"/>
                </a:solidFill>
                <a:latin typeface="Times New Roman"/>
              </a:defRPr>
            </a:pPr>
            <a:r>
              <a:t>• Địa bàn xung yếu biên cương</a:t>
            </a:r>
          </a:p>
          <a:p>
            <a:pPr>
              <a:defRPr sz="1600">
                <a:solidFill>
                  <a:srgbClr val="1E293B"/>
                </a:solidFill>
                <a:latin typeface="Times New Roman"/>
              </a:defRPr>
            </a:pPr>
            <a:r>
              <a:t>• Văn hóa đa dạng, thống nhất</a:t>
            </a:r>
          </a:p>
        </p:txBody>
      </p:sp>
      <p:sp>
        <p:nvSpPr>
          <p:cNvPr id="12" name="Rounded Rectangle 11"/>
          <p:cNvSpPr/>
          <p:nvPr/>
        </p:nvSpPr>
        <p:spPr>
          <a:xfrm>
            <a:off x="3392424" y="2377440"/>
            <a:ext cx="2560320" cy="29718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2. ÂM MƯU CỦA ĐỊCH</a:t>
            </a:r>
          </a:p>
          <a:p>
            <a:pPr>
              <a:defRPr sz="1600">
                <a:solidFill>
                  <a:srgbClr val="1E293B"/>
                </a:solidFill>
                <a:latin typeface="Times New Roman"/>
              </a:defRPr>
            </a:pPr>
            <a:r>
              <a:t>• Lấy dân tộc làm 'ngòi nổ'</a:t>
            </a:r>
          </a:p>
          <a:p>
            <a:pPr>
              <a:defRPr sz="1600">
                <a:solidFill>
                  <a:srgbClr val="1E293B"/>
                </a:solidFill>
                <a:latin typeface="Times New Roman"/>
              </a:defRPr>
            </a:pPr>
            <a:r>
              <a:t>• Dựng 'Nhà nước Đề Ga, Chămpa'</a:t>
            </a:r>
          </a:p>
          <a:p>
            <a:pPr>
              <a:defRPr sz="1600">
                <a:solidFill>
                  <a:srgbClr val="1E293B"/>
                </a:solidFill>
                <a:latin typeface="Times New Roman"/>
              </a:defRPr>
            </a:pPr>
            <a:r>
              <a:t>• Kích động ly khai, tự trị</a:t>
            </a:r>
          </a:p>
          <a:p>
            <a:pPr>
              <a:defRPr sz="1600">
                <a:solidFill>
                  <a:srgbClr val="1E293B"/>
                </a:solidFill>
                <a:latin typeface="Times New Roman"/>
              </a:defRPr>
            </a:pPr>
            <a:r>
              <a:t>• Quốc tế hóa vu cáo nhân quyền</a:t>
            </a:r>
          </a:p>
        </p:txBody>
      </p:sp>
      <p:sp>
        <p:nvSpPr>
          <p:cNvPr id="13" name="Rounded Rectangle 12"/>
          <p:cNvSpPr/>
          <p:nvPr/>
        </p:nvSpPr>
        <p:spPr>
          <a:xfrm>
            <a:off x="6236208" y="2377440"/>
            <a:ext cx="2560320" cy="29718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3. QUAN ĐIỂM &amp; LUẬT</a:t>
            </a:r>
          </a:p>
          <a:p>
            <a:pPr>
              <a:defRPr sz="1600">
                <a:solidFill>
                  <a:srgbClr val="1E293B"/>
                </a:solidFill>
                <a:latin typeface="Times New Roman"/>
              </a:defRPr>
            </a:pPr>
            <a:r>
              <a:t>• Điều 5 Hiến pháp 2013</a:t>
            </a:r>
          </a:p>
          <a:p>
            <a:pPr>
              <a:defRPr sz="1600">
                <a:solidFill>
                  <a:srgbClr val="1E293B"/>
                </a:solidFill>
                <a:latin typeface="Times New Roman"/>
              </a:defRPr>
            </a:pPr>
            <a:r>
              <a:t>• Bình đẳng, đoàn kết, tương trợ</a:t>
            </a:r>
          </a:p>
          <a:p>
            <a:pPr>
              <a:defRPr sz="1600">
                <a:solidFill>
                  <a:srgbClr val="1E293B"/>
                </a:solidFill>
                <a:latin typeface="Times New Roman"/>
              </a:defRPr>
            </a:pPr>
            <a:r>
              <a:t>• Nghiêm cấm kỳ thị, chia rẽ</a:t>
            </a:r>
          </a:p>
          <a:p>
            <a:pPr>
              <a:defRPr sz="1600">
                <a:solidFill>
                  <a:srgbClr val="1E293B"/>
                </a:solidFill>
                <a:latin typeface="Times New Roman"/>
              </a:defRPr>
            </a:pPr>
            <a:r>
              <a:t>• Phát triển toàn diện các mặt</a:t>
            </a:r>
          </a:p>
        </p:txBody>
      </p:sp>
      <p:sp>
        <p:nvSpPr>
          <p:cNvPr id="14" name="Rounded Rectangle 13"/>
          <p:cNvSpPr/>
          <p:nvPr/>
        </p:nvSpPr>
        <p:spPr>
          <a:xfrm>
            <a:off x="9079992" y="2377440"/>
            <a:ext cx="2560320" cy="297180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4. CHÍNH SÁCH 4 LĨNH VỰC</a:t>
            </a:r>
          </a:p>
          <a:p>
            <a:pPr>
              <a:defRPr sz="1600">
                <a:solidFill>
                  <a:srgbClr val="1E293B"/>
                </a:solidFill>
                <a:latin typeface="Times New Roman"/>
              </a:defRPr>
            </a:pPr>
            <a:r>
              <a:t>• Chính trị: Đào tạo cán bộ DTTS</a:t>
            </a:r>
          </a:p>
          <a:p>
            <a:pPr>
              <a:defRPr sz="1600">
                <a:solidFill>
                  <a:srgbClr val="1E293B"/>
                </a:solidFill>
                <a:latin typeface="Times New Roman"/>
              </a:defRPr>
            </a:pPr>
            <a:r>
              <a:t>• Kinh tế: Đầu tư kết cấu hạ tầng</a:t>
            </a:r>
          </a:p>
          <a:p>
            <a:pPr>
              <a:defRPr sz="1600">
                <a:solidFill>
                  <a:srgbClr val="1E293B"/>
                </a:solidFill>
                <a:latin typeface="Times New Roman"/>
              </a:defRPr>
            </a:pPr>
            <a:r>
              <a:t>• Văn hóa: Bảo tồn bản sắc tốt đẹp</a:t>
            </a:r>
          </a:p>
          <a:p>
            <a:pPr>
              <a:defRPr sz="1600">
                <a:solidFill>
                  <a:srgbClr val="1E293B"/>
                </a:solidFill>
                <a:latin typeface="Times New Roman"/>
              </a:defRPr>
            </a:pPr>
            <a:r>
              <a:t>• Quốc phòng: Xây dựng lòng dân</a:t>
            </a:r>
          </a:p>
        </p:txBody>
      </p:sp>
      <p:sp>
        <p:nvSpPr>
          <p:cNvPr id="15" name="Rounded Rectangle 14"/>
          <p:cNvSpPr/>
          <p:nvPr/>
        </p:nvSpPr>
        <p:spPr>
          <a:xfrm>
            <a:off x="548640" y="5532120"/>
            <a:ext cx="11094415" cy="640080"/>
          </a:xfrm>
          <a:prstGeom prst="roundRect">
            <a:avLst/>
          </a:prstGeom>
          <a:solidFill>
            <a:srgbClr val="EBF3FA"/>
          </a:solidFill>
          <a:ln w="1905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3B70"/>
                </a:solidFill>
                <a:latin typeface="Times New Roman"/>
              </a:defRPr>
            </a:pPr>
            <a:r>
              <a:t>★ Giữ vững thế trận lòng dân vùng biên giới là chìa khóa bảo vệ vững chắc độc lập, chủ quyền Tổ quốc.</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35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TRÁCH NHIỆM CÔNG DÂN - SINH VIÊN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Trách nhiệm của sinh viên Đại học Đại Nam (DNU)</a:t>
            </a:r>
          </a:p>
        </p:txBody>
      </p:sp>
      <p:sp>
        <p:nvSpPr>
          <p:cNvPr id="11" name="Rounded Rectangle 10"/>
          <p:cNvSpPr/>
          <p:nvPr/>
        </p:nvSpPr>
        <p:spPr>
          <a:xfrm>
            <a:off x="548640" y="1572768"/>
            <a:ext cx="5394960" cy="224028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1. Tuyệt đối Trung thành với Đảng, Nhà nước &amp; Tổ quốc</a:t>
            </a:r>
          </a:p>
          <a:p>
            <a:pPr>
              <a:defRPr sz="1700">
                <a:solidFill>
                  <a:srgbClr val="1E293B"/>
                </a:solidFill>
                <a:latin typeface="Times New Roman"/>
              </a:defRPr>
            </a:pPr>
            <a:r>
              <a:t>Kiên định mục tiêu độc lập dân tộc gắn liền với Chủ nghĩa xã hội; chấp hành nghiêm chỉnh đường lối của Đảng, chính sách và pháp luật của Nhà nước.</a:t>
            </a:r>
          </a:p>
        </p:txBody>
      </p:sp>
      <p:sp>
        <p:nvSpPr>
          <p:cNvPr id="12" name="Rounded Rectangle 11"/>
          <p:cNvSpPr/>
          <p:nvPr/>
        </p:nvSpPr>
        <p:spPr>
          <a:xfrm>
            <a:off x="6248095" y="1572768"/>
            <a:ext cx="5394960" cy="224028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2. Tích cực Học tập, Tu dưỡng Đạo đức Cách mạng</a:t>
            </a:r>
          </a:p>
          <a:p>
            <a:pPr>
              <a:defRPr sz="1700">
                <a:solidFill>
                  <a:srgbClr val="1E293B"/>
                </a:solidFill>
                <a:latin typeface="Times New Roman"/>
              </a:defRPr>
            </a:pPr>
            <a:r>
              <a:t>Rèn luyện bản lĩnh chính trị vững vàng, trau dồi tri thức khoa học, nâng cao trình độ chuyên môn; hoàn thành xuất sắc nhiệm vụ rèn luyện tại Nhà trường.</a:t>
            </a:r>
          </a:p>
        </p:txBody>
      </p:sp>
      <p:sp>
        <p:nvSpPr>
          <p:cNvPr id="13" name="Rounded Rectangle 12"/>
          <p:cNvSpPr/>
          <p:nvPr/>
        </p:nvSpPr>
        <p:spPr>
          <a:xfrm>
            <a:off x="548640" y="3977639"/>
            <a:ext cx="5394960" cy="224028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3. Nêu cao Tinh thần Cảnh giác Cách mạng</a:t>
            </a:r>
          </a:p>
          <a:p>
            <a:pPr>
              <a:defRPr sz="1700">
                <a:solidFill>
                  <a:srgbClr val="1E293B"/>
                </a:solidFill>
                <a:latin typeface="Times New Roman"/>
              </a:defRPr>
            </a:pPr>
            <a:r>
              <a:t>Chủ động phòng ngừa và kiên quyết đấu tranh phản bác các quan điểm sai trái, thù địch; không chia sẻ thông tin xấu độc kích động chia rẽ dân tộc.</a:t>
            </a:r>
          </a:p>
        </p:txBody>
      </p:sp>
      <p:sp>
        <p:nvSpPr>
          <p:cNvPr id="14" name="Rounded Rectangle 13"/>
          <p:cNvSpPr/>
          <p:nvPr/>
        </p:nvSpPr>
        <p:spPr>
          <a:xfrm>
            <a:off x="6248095" y="3977639"/>
            <a:ext cx="5394960" cy="224028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4. Xung kích Tham gia Bảo vệ An ninh Tổ quốc</a:t>
            </a:r>
          </a:p>
          <a:p>
            <a:pPr>
              <a:defRPr sz="1700">
                <a:solidFill>
                  <a:srgbClr val="1E293B"/>
                </a:solidFill>
                <a:latin typeface="Times New Roman"/>
              </a:defRPr>
            </a:pPr>
            <a:r>
              <a:t>Gương mẫu trong phong trào toàn dân bảo vệ an ninh Tổ quốc tại học đường và nơi cư trú; sẵn sàng thực hiện nghĩa vụ quân sự bảo vệ vững chắc Tổ quốc.</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36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77240"/>
            <a:ext cx="11094415" cy="548640"/>
          </a:xfrm>
          <a:prstGeom prst="rect">
            <a:avLst/>
          </a:prstGeom>
          <a:noFill/>
        </p:spPr>
        <p:txBody>
          <a:bodyPr wrap="none">
            <a:spAutoFit/>
          </a:bodyPr>
          <a:lstStyle/>
          <a:p>
            <a:pPr>
              <a:defRPr sz="2300" b="1">
                <a:solidFill>
                  <a:srgbClr val="00254A"/>
                </a:solidFill>
                <a:latin typeface="Times New Roman"/>
              </a:defRPr>
            </a:pPr>
            <a:r>
              <a:t>Mini Game: Đố vui củng cố kiến thức Vấn đề 3</a:t>
            </a:r>
          </a:p>
        </p:txBody>
      </p:sp>
      <p:sp>
        <p:nvSpPr>
          <p:cNvPr id="10" name="Rounded Rectangle 9"/>
          <p:cNvSpPr/>
          <p:nvPr/>
        </p:nvSpPr>
        <p:spPr>
          <a:xfrm>
            <a:off x="548640" y="1508760"/>
            <a:ext cx="11094415" cy="1051560"/>
          </a:xfrm>
          <a:prstGeom prst="roundRect">
            <a:avLst/>
          </a:prstGeom>
          <a:solidFill>
            <a:srgbClr val="EBF3FA"/>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0254A"/>
                </a:solidFill>
                <a:latin typeface="Times New Roman"/>
              </a:defRPr>
            </a:pPr>
            <a:r>
              <a:t>CÂU HỎI: Hiến pháp năm 2013 của nước CHXHCN Việt Nam quy định về nguyên tắc quan hệ giữa các dân tộc tại Điều mấy?</a:t>
            </a:r>
          </a:p>
        </p:txBody>
      </p:sp>
      <p:sp>
        <p:nvSpPr>
          <p:cNvPr id="11" name="Rounded Rectangle 10"/>
          <p:cNvSpPr/>
          <p:nvPr/>
        </p:nvSpPr>
        <p:spPr>
          <a:xfrm>
            <a:off x="548640" y="278892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A. Điều 2</a:t>
            </a:r>
          </a:p>
        </p:txBody>
      </p:sp>
      <p:sp>
        <p:nvSpPr>
          <p:cNvPr id="12" name="Rounded Rectangle 11"/>
          <p:cNvSpPr/>
          <p:nvPr/>
        </p:nvSpPr>
        <p:spPr>
          <a:xfrm>
            <a:off x="6248095" y="278892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B. Điều 5</a:t>
            </a:r>
          </a:p>
        </p:txBody>
      </p:sp>
      <p:sp>
        <p:nvSpPr>
          <p:cNvPr id="13" name="Rounded Rectangle 12"/>
          <p:cNvSpPr/>
          <p:nvPr/>
        </p:nvSpPr>
        <p:spPr>
          <a:xfrm>
            <a:off x="548640" y="397764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C. Điều 24</a:t>
            </a:r>
          </a:p>
        </p:txBody>
      </p:sp>
      <p:sp>
        <p:nvSpPr>
          <p:cNvPr id="14" name="Rounded Rectangle 13"/>
          <p:cNvSpPr/>
          <p:nvPr/>
        </p:nvSpPr>
        <p:spPr>
          <a:xfrm>
            <a:off x="6248095" y="397764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D. Điều 68</a:t>
            </a:r>
          </a:p>
        </p:txBody>
      </p:sp>
      <p:sp>
        <p:nvSpPr>
          <p:cNvPr id="15" name="Rounded Rectangle 14"/>
          <p:cNvSpPr/>
          <p:nvPr/>
        </p:nvSpPr>
        <p:spPr>
          <a:xfrm>
            <a:off x="548640" y="5257800"/>
            <a:ext cx="11094415" cy="960120"/>
          </a:xfrm>
          <a:prstGeom prst="roundRect">
            <a:avLst/>
          </a:prstGeom>
          <a:solidFill>
            <a:srgbClr val="ECFDF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65F46"/>
                </a:solidFill>
                <a:latin typeface="Times New Roman"/>
              </a:defRPr>
            </a:pPr>
            <a:r>
              <a:t>ĐÁP ÁN ĐÚNG &amp; GIẢI THÍCH: B. Điều 5 khẳng định: Nước CHXHCN Việt Nam là quốc gia thống nhất của các dân tộc; các dân tộc bình đẳng, đoàn kết, tôn trọng và giúp nhau cùng phát triển.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548640"/>
            <a:ext cx="10911535" cy="5760720"/>
          </a:xfrm>
          <a:prstGeom prst="roundRect">
            <a:avLst/>
          </a:prstGeom>
          <a:solidFill>
            <a:srgbClr val="FFFFFF"/>
          </a:solidFill>
          <a:ln w="381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ai-nam-logo.png"/>
          <p:cNvPicPr>
            <a:picLocks noChangeAspect="1"/>
          </p:cNvPicPr>
          <p:nvPr/>
        </p:nvPicPr>
        <p:blipFill>
          <a:blip r:embed="rId2"/>
          <a:stretch>
            <a:fillRect/>
          </a:stretch>
        </p:blipFill>
        <p:spPr>
          <a:xfrm>
            <a:off x="9396374" y="777240"/>
            <a:ext cx="1850745" cy="502920"/>
          </a:xfrm>
          <a:prstGeom prst="rect">
            <a:avLst/>
          </a:prstGeom>
        </p:spPr>
      </p:pic>
      <p:sp>
        <p:nvSpPr>
          <p:cNvPr id="5" name="TextBox 4"/>
          <p:cNvSpPr txBox="1"/>
          <p:nvPr/>
        </p:nvSpPr>
        <p:spPr>
          <a:xfrm>
            <a:off x="1005840" y="777240"/>
            <a:ext cx="5486400" cy="411480"/>
          </a:xfrm>
          <a:prstGeom prst="rect">
            <a:avLst/>
          </a:prstGeom>
          <a:noFill/>
        </p:spPr>
        <p:txBody>
          <a:bodyPr wrap="none">
            <a:spAutoFit/>
          </a:bodyPr>
          <a:lstStyle/>
          <a:p>
            <a:pPr>
              <a:defRPr sz="1300" b="1">
                <a:solidFill>
                  <a:srgbClr val="F37021"/>
                </a:solidFill>
                <a:latin typeface="Times New Roman"/>
              </a:defRPr>
            </a:pPr>
            <a:r>
              <a:t>TRƯỜNG ĐẠI HỌC ĐẠI NAM  •  HỌC ĐỂ THAY ĐỔI</a:t>
            </a:r>
          </a:p>
        </p:txBody>
      </p:sp>
      <p:sp>
        <p:nvSpPr>
          <p:cNvPr id="6" name="TextBox 5"/>
          <p:cNvSpPr txBox="1"/>
          <p:nvPr/>
        </p:nvSpPr>
        <p:spPr>
          <a:xfrm>
            <a:off x="1005840" y="1371600"/>
            <a:ext cx="10180015" cy="731520"/>
          </a:xfrm>
          <a:prstGeom prst="rect">
            <a:avLst/>
          </a:prstGeom>
          <a:noFill/>
        </p:spPr>
        <p:txBody>
          <a:bodyPr wrap="none">
            <a:spAutoFit/>
          </a:bodyPr>
          <a:lstStyle/>
          <a:p>
            <a:pPr algn="ctr">
              <a:defRPr sz="3600" b="1">
                <a:solidFill>
                  <a:srgbClr val="F37021"/>
                </a:solidFill>
                <a:latin typeface="Times New Roman"/>
              </a:defRPr>
            </a:pPr>
            <a:r>
              <a:t>XIN TRÂN TRỌNG CẢM ƠN!</a:t>
            </a:r>
          </a:p>
        </p:txBody>
      </p:sp>
      <p:sp>
        <p:nvSpPr>
          <p:cNvPr id="7" name="TextBox 6"/>
          <p:cNvSpPr txBox="1"/>
          <p:nvPr/>
        </p:nvSpPr>
        <p:spPr>
          <a:xfrm>
            <a:off x="1005840" y="2148840"/>
            <a:ext cx="10180015" cy="548640"/>
          </a:xfrm>
          <a:prstGeom prst="rect">
            <a:avLst/>
          </a:prstGeom>
          <a:noFill/>
        </p:spPr>
        <p:txBody>
          <a:bodyPr wrap="none">
            <a:spAutoFit/>
          </a:bodyPr>
          <a:lstStyle/>
          <a:p>
            <a:pPr algn="ctr">
              <a:defRPr sz="2000" b="1">
                <a:solidFill>
                  <a:srgbClr val="00254A"/>
                </a:solidFill>
                <a:latin typeface="Times New Roman"/>
              </a:defRPr>
            </a:pPr>
            <a:r>
              <a:t>Kính chúc Thầy/Cô và các bạn sinh viên luôn dồi dào sức khỏe, hạnh phúc và thành công!</a:t>
            </a:r>
          </a:p>
        </p:txBody>
      </p:sp>
      <p:sp>
        <p:nvSpPr>
          <p:cNvPr id="8" name="TextBox 7"/>
          <p:cNvSpPr txBox="1"/>
          <p:nvPr/>
        </p:nvSpPr>
        <p:spPr>
          <a:xfrm>
            <a:off x="1371600" y="2697480"/>
            <a:ext cx="9448495" cy="868680"/>
          </a:xfrm>
          <a:prstGeom prst="rect">
            <a:avLst/>
          </a:prstGeom>
          <a:noFill/>
        </p:spPr>
        <p:txBody>
          <a:bodyPr wrap="square">
            <a:spAutoFit/>
          </a:bodyPr>
          <a:lstStyle/>
          <a:p>
            <a:pPr algn="ctr">
              <a:defRPr sz="1700">
                <a:solidFill>
                  <a:srgbClr val="1E293B"/>
                </a:solidFill>
                <a:latin typeface="Times New Roman"/>
              </a:defRPr>
            </a:pPr>
            <a:r>
              <a:t>Nhóm 3 xin chân thành cảm ơn Thầy/Cô giảng viên bộ môn Giáo dục Quốc phòng &amp; An ninh cùng toàn thể các bạn sinh viên lớp học phần đã chú ý theo dõi và lắng nghe bài thuyết trình của nhóm.</a:t>
            </a:r>
          </a:p>
        </p:txBody>
      </p:sp>
      <p:sp>
        <p:nvSpPr>
          <p:cNvPr id="9" name="Rounded Rectangle 8"/>
          <p:cNvSpPr/>
          <p:nvPr/>
        </p:nvSpPr>
        <p:spPr>
          <a:xfrm>
            <a:off x="1280160" y="3657600"/>
            <a:ext cx="9631375" cy="1417320"/>
          </a:xfrm>
          <a:prstGeom prst="roundRect">
            <a:avLst/>
          </a:prstGeom>
          <a:solidFill>
            <a:srgbClr val="EBF3FA"/>
          </a:solidFill>
          <a:ln w="3175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bIns="137160"/>
          <a:lstStyle/>
          <a:p>
            <a:pPr algn="ctr">
              <a:defRPr sz="1400" b="1">
                <a:solidFill>
                  <a:srgbClr val="003B70"/>
                </a:solidFill>
                <a:latin typeface="Times New Roman"/>
              </a:defRPr>
            </a:pPr>
            <a:r>
              <a:t>★ THÔNG ĐIỆP BẾ MẠC:</a:t>
            </a:r>
          </a:p>
          <a:p>
            <a:pPr>
              <a:defRPr sz="1700" b="1" i="1">
                <a:solidFill>
                  <a:srgbClr val="00254A"/>
                </a:solidFill>
                <a:latin typeface="Times New Roman"/>
              </a:defRPr>
            </a:pPr>
            <a:r>
              <a:t>"Chăm lo phát triển toàn diện và bảo vệ vững chắc vùng đồng bào các dân tộc thiểu số là củng cố nền tảng quốc phòng, an ninh và tương lai giàu mạnh của Tổ quốc!"</a:t>
            </a:r>
          </a:p>
        </p:txBody>
      </p:sp>
      <p:sp>
        <p:nvSpPr>
          <p:cNvPr id="10" name="TextBox 9"/>
          <p:cNvSpPr txBox="1"/>
          <p:nvPr/>
        </p:nvSpPr>
        <p:spPr>
          <a:xfrm>
            <a:off x="1005840" y="5303520"/>
            <a:ext cx="10180015" cy="502920"/>
          </a:xfrm>
          <a:prstGeom prst="rect">
            <a:avLst/>
          </a:prstGeom>
          <a:noFill/>
        </p:spPr>
        <p:txBody>
          <a:bodyPr wrap="none">
            <a:spAutoFit/>
          </a:bodyPr>
          <a:lstStyle/>
          <a:p>
            <a:pPr algn="ctr">
              <a:defRPr sz="1400" b="1">
                <a:solidFill>
                  <a:srgbClr val="64748B"/>
                </a:solidFill>
                <a:latin typeface="Times New Roman"/>
              </a:defRPr>
            </a:pPr>
            <a:r>
              <a:t>Nhóm 3 (Lớp GDQP-AN)   •   Khoa Giáo dục Quốc phòng &amp; An ninh   •   Trường Đại học Đại Nam</a:t>
            </a:r>
          </a:p>
          <a:p>
            <a:pPr algn="ctr">
              <a:defRPr sz="1400" b="1">
                <a:solidFill>
                  <a:srgbClr val="F37021"/>
                </a:solidFill>
                <a:latin typeface="Times New Roman"/>
              </a:defRPr>
            </a:pPr>
            <a:r>
              <a:t>HỌC ĐỂ THAY ĐỔI   •   http://dainam.edu.vn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457200"/>
          </a:xfrm>
          <a:prstGeom prst="rect">
            <a:avLst/>
          </a:prstGeom>
          <a:noFill/>
        </p:spPr>
        <p:txBody>
          <a:bodyPr wrap="none">
            <a:spAutoFit/>
          </a:bodyPr>
          <a:lstStyle/>
          <a:p>
            <a:pPr algn="ctr">
              <a:defRPr sz="1400" b="1">
                <a:solidFill>
                  <a:srgbClr val="F37021"/>
                </a:solidFill>
                <a:latin typeface="Times New Roman"/>
              </a:defRPr>
            </a:pPr>
            <a:r>
              <a:t>TRƯỜNG ĐẠI HỌC ĐẠI NAM  •  HỌC ĐỂ THAY ĐỔI</a:t>
            </a:r>
          </a:p>
        </p:txBody>
      </p:sp>
      <p:sp>
        <p:nvSpPr>
          <p:cNvPr id="4" name="TextBox 3"/>
          <p:cNvSpPr txBox="1"/>
          <p:nvPr/>
        </p:nvSpPr>
        <p:spPr>
          <a:xfrm>
            <a:off x="1371600" y="1371600"/>
            <a:ext cx="9448495" cy="548640"/>
          </a:xfrm>
          <a:prstGeom prst="rect">
            <a:avLst/>
          </a:prstGeom>
          <a:noFill/>
        </p:spPr>
        <p:txBody>
          <a:bodyPr wrap="none">
            <a:spAutoFit/>
          </a:bodyPr>
          <a:lstStyle/>
          <a:p>
            <a:pPr algn="ctr">
              <a:defRPr sz="1500" b="1">
                <a:solidFill>
                  <a:srgbClr val="FFFFFF"/>
                </a:solidFill>
                <a:latin typeface="Times New Roman"/>
              </a:defRPr>
            </a:pPr>
            <a:r>
              <a:t>GIÁO DỤC QUỐC PHÒNG &amp; AN NINH (HỌC PHẦN 2) • VẤN ĐỀ 04</a:t>
            </a:r>
          </a:p>
        </p:txBody>
      </p:sp>
      <p:sp>
        <p:nvSpPr>
          <p:cNvPr id="5" name="TextBox 4"/>
          <p:cNvSpPr txBox="1"/>
          <p:nvPr/>
        </p:nvSpPr>
        <p:spPr>
          <a:xfrm>
            <a:off x="914400" y="2103120"/>
            <a:ext cx="10362895" cy="2560320"/>
          </a:xfrm>
          <a:prstGeom prst="rect">
            <a:avLst/>
          </a:prstGeom>
          <a:noFill/>
        </p:spPr>
        <p:txBody>
          <a:bodyPr wrap="square">
            <a:spAutoFit/>
          </a:bodyPr>
          <a:lstStyle/>
          <a:p>
            <a:pPr algn="ctr">
              <a:defRPr sz="3000" b="1">
                <a:solidFill>
                  <a:srgbClr val="F37021"/>
                </a:solidFill>
                <a:latin typeface="Times New Roman"/>
              </a:defRPr>
            </a:pPr>
            <a:r>
              <a:t>TÌNH HÌNH TÔN GIÁO Ở VIỆT NAM, ÂM MƯU THỦ ĐOẠN CỦA ĐỊCH VÀ CHÍNH SÁCH CỦA ĐẢNG, NHÀ NƯỚC</a:t>
            </a:r>
          </a:p>
        </p:txBody>
      </p:sp>
      <p:sp>
        <p:nvSpPr>
          <p:cNvPr id="6" name="TextBox 5"/>
          <p:cNvSpPr txBox="1"/>
          <p:nvPr/>
        </p:nvSpPr>
        <p:spPr>
          <a:xfrm>
            <a:off x="914400" y="5303520"/>
            <a:ext cx="10362895" cy="731520"/>
          </a:xfrm>
          <a:prstGeom prst="rect">
            <a:avLst/>
          </a:prstGeom>
          <a:noFill/>
        </p:spPr>
        <p:txBody>
          <a:bodyPr wrap="none">
            <a:spAutoFit/>
          </a:bodyPr>
          <a:lstStyle/>
          <a:p>
            <a:pPr algn="ctr">
              <a:defRPr sz="1900" b="1">
                <a:solidFill>
                  <a:srgbClr val="FFFFFF"/>
                </a:solidFill>
                <a:latin typeface="Times New Roman"/>
              </a:defRPr>
            </a:pPr>
            <a:r>
              <a:t>Nhóm thực hiện: Nhóm 4 (Lớp GDQP-AN)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39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TỔNG QUAN BÀI HỌC</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Mục tiêu &amp; Khung nội dung thuyết trình</a:t>
            </a:r>
          </a:p>
        </p:txBody>
      </p:sp>
      <p:sp>
        <p:nvSpPr>
          <p:cNvPr id="11" name="Rounded Rectangle 10"/>
          <p:cNvSpPr/>
          <p:nvPr/>
        </p:nvSpPr>
        <p:spPr>
          <a:xfrm>
            <a:off x="548640" y="1572768"/>
            <a:ext cx="6217920" cy="1420368"/>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01. Thực trạng Tôn giáo VN</a:t>
            </a:r>
          </a:p>
          <a:p>
            <a:pPr>
              <a:defRPr sz="1700">
                <a:solidFill>
                  <a:srgbClr val="1E293B"/>
                </a:solidFill>
                <a:latin typeface="Times New Roman"/>
              </a:defRPr>
            </a:pPr>
            <a:r>
              <a:t>• Bức tranh đa dạng: 16 tôn giáo, 43 tổ chức hợp pháp, 27 triệu tín đồ.</a:t>
            </a:r>
          </a:p>
          <a:p>
            <a:pPr>
              <a:defRPr sz="1700">
                <a:solidFill>
                  <a:srgbClr val="1E293B"/>
                </a:solidFill>
                <a:latin typeface="Times New Roman"/>
              </a:defRPr>
            </a:pPr>
            <a:r>
              <a:t>• Đặc điểm nổi bật: Chung sống hòa bình; tín đồ là nhân dân lao động; đồng hành cùng dân tộc.</a:t>
            </a:r>
          </a:p>
        </p:txBody>
      </p:sp>
      <p:sp>
        <p:nvSpPr>
          <p:cNvPr id="12" name="Rounded Rectangle 11"/>
          <p:cNvSpPr/>
          <p:nvPr/>
        </p:nvSpPr>
        <p:spPr>
          <a:xfrm>
            <a:off x="548640" y="3102864"/>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02. Âm mưu &amp; Thủ đoạn</a:t>
            </a:r>
          </a:p>
          <a:p>
            <a:pPr>
              <a:defRPr sz="1700">
                <a:solidFill>
                  <a:srgbClr val="1E293B"/>
                </a:solidFill>
                <a:latin typeface="Times New Roman"/>
              </a:defRPr>
            </a:pPr>
            <a:r>
              <a:t>• Âm mưu: Dùng tôn giáo làm 'lực lượng đối trọng chính trị', quốc tế hóa tự do tôn giáo.</a:t>
            </a:r>
          </a:p>
          <a:p>
            <a:pPr>
              <a:defRPr sz="1700">
                <a:solidFill>
                  <a:srgbClr val="1E293B"/>
                </a:solidFill>
                <a:latin typeface="Times New Roman"/>
              </a:defRPr>
            </a:pPr>
            <a:r>
              <a:t>• Thủ đoạn: Dựng tà đạo, kích động khiếu kiện đất đai, móc nối phần tử cực đoan.</a:t>
            </a:r>
          </a:p>
        </p:txBody>
      </p:sp>
      <p:sp>
        <p:nvSpPr>
          <p:cNvPr id="13" name="Rounded Rectangle 12"/>
          <p:cNvSpPr/>
          <p:nvPr/>
        </p:nvSpPr>
        <p:spPr>
          <a:xfrm>
            <a:off x="548640" y="4632960"/>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03. Chính sách &amp; Nguyên tắc Xây - Chống</a:t>
            </a:r>
          </a:p>
          <a:p>
            <a:pPr>
              <a:defRPr sz="1700">
                <a:solidFill>
                  <a:srgbClr val="1E293B"/>
                </a:solidFill>
                <a:latin typeface="Times New Roman"/>
              </a:defRPr>
            </a:pPr>
            <a:r>
              <a:t>• Quan điểm Đảng &amp; Pháp luật: Điều 24 Hiến pháp 2013; Luật Tín ngưỡng, tôn giáo 2016.</a:t>
            </a:r>
          </a:p>
          <a:p>
            <a:pPr>
              <a:defRPr sz="1700">
                <a:solidFill>
                  <a:srgbClr val="1E293B"/>
                </a:solidFill>
                <a:latin typeface="Times New Roman"/>
              </a:defRPr>
            </a:pPr>
            <a:r>
              <a:t>• Trách nhiệm công dân - sinh viên: Tuyệt đối trung thành, học tập đạo đức, bài trừ tà đạo.</a:t>
            </a:r>
          </a:p>
        </p:txBody>
      </p:sp>
      <p:sp>
        <p:nvSpPr>
          <p:cNvPr id="14" name="Rounded Rectangle 13"/>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etnam_pagoda.jpg"/>
          <p:cNvPicPr>
            <a:picLocks noChangeAspect="1"/>
          </p:cNvPicPr>
          <p:nvPr/>
        </p:nvPicPr>
        <p:blipFill>
          <a:blip r:embed="rId3"/>
          <a:stretch>
            <a:fillRect/>
          </a:stretch>
        </p:blipFill>
        <p:spPr>
          <a:xfrm>
            <a:off x="7040880" y="1753210"/>
            <a:ext cx="4602175" cy="3068116"/>
          </a:xfrm>
          <a:prstGeom prst="rect">
            <a:avLst/>
          </a:prstGeom>
        </p:spPr>
      </p:pic>
      <p:sp>
        <p:nvSpPr>
          <p:cNvPr id="16" name="TextBox 15"/>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Không gian tôn giáo hòa bình: Việt Nam là quốc gia đa tôn giáo nhưng chưa từng xảy ra xung đột hay chiến tranh tôn giáo.</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40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BỨC TRANH TOÀN CẢNH</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Thực trạng Tôn giáo Việt Nam hiện nay</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Các Tôn giáo Lớn tại Việt Nam</a:t>
            </a:r>
          </a:p>
          <a:p>
            <a:pPr>
              <a:defRPr sz="1700">
                <a:solidFill>
                  <a:srgbClr val="1E293B"/>
                </a:solidFill>
                <a:latin typeface="Times New Roman"/>
              </a:defRPr>
            </a:pPr>
            <a:r>
              <a:t>• Tôn giáo du nhập: Phật giáo (tín đồ đông nhất), Công giáo, Tin lành, Hồi giáo.</a:t>
            </a:r>
          </a:p>
          <a:p>
            <a:pPr>
              <a:defRPr sz="1700">
                <a:solidFill>
                  <a:srgbClr val="1E293B"/>
                </a:solidFill>
                <a:latin typeface="Times New Roman"/>
              </a:defRPr>
            </a:pPr>
            <a:r>
              <a:t>• Tôn giáo nội sinh: Cao Đài, Phật giáo Hòa Hảo, Tịnh độ Cư sĩ Phật hội...</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Sinh hoạt Tôn giáo Sôi động &amp; Tự do</a:t>
            </a:r>
          </a:p>
          <a:p>
            <a:pPr>
              <a:defRPr sz="1700">
                <a:solidFill>
                  <a:srgbClr val="1E293B"/>
                </a:solidFill>
                <a:latin typeface="Times New Roman"/>
              </a:defRPr>
            </a:pPr>
            <a:r>
              <a:t>• Hàng năm diễn ra hàng ngàn lễ hội tôn giáo lớn (Phật đản, Giáng sinh, Vu Lan).</a:t>
            </a:r>
          </a:p>
          <a:p>
            <a:pPr>
              <a:defRPr sz="1700">
                <a:solidFill>
                  <a:srgbClr val="1E293B"/>
                </a:solidFill>
                <a:latin typeface="Times New Roman"/>
              </a:defRPr>
            </a:pPr>
            <a:r>
              <a:t>• Đăng cai thành công Đại lễ Vesak Liên Hợp Quốc (2008, 2014, 2019).</a:t>
            </a:r>
          </a:p>
          <a:p>
            <a:pPr>
              <a:defRPr sz="1700">
                <a:solidFill>
                  <a:srgbClr val="1E293B"/>
                </a:solidFill>
                <a:latin typeface="Times New Roman"/>
              </a:defRPr>
            </a:pPr>
            <a:r>
              <a:t>• Gần 30.000 cơ sở thờ tự được xây dựng, tu bổ khang trang trên khắp cả nước.</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church.jpg"/>
          <p:cNvPicPr>
            <a:picLocks noChangeAspect="1"/>
          </p:cNvPicPr>
          <p:nvPr/>
        </p:nvPicPr>
        <p:blipFill>
          <a:blip r:embed="rId3"/>
          <a:stretch>
            <a:fillRect/>
          </a:stretch>
        </p:blipFill>
        <p:spPr>
          <a:xfrm>
            <a:off x="8377411" y="1572768"/>
            <a:ext cx="1929113" cy="3429000"/>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Minh chứng tự do tôn giáo: Kinh sách tôn giáo được in ấn, phát hành rộng rãi bằng tiếng Việt và ngôn ngữ các dân tộc thiểu số.</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41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ĐẶC ĐIỂM TÔN GIÁO</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Bốn đặc điểm nổi bật của Tôn giáo tại Việt Nam</a:t>
            </a:r>
          </a:p>
        </p:txBody>
      </p:sp>
      <p:sp>
        <p:nvSpPr>
          <p:cNvPr id="11" name="Rounded Rectangle 10"/>
          <p:cNvSpPr/>
          <p:nvPr/>
        </p:nvSpPr>
        <p:spPr>
          <a:xfrm>
            <a:off x="548640" y="1572768"/>
            <a:ext cx="6217920" cy="1037844"/>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Đa tôn giáo, chung sống hòa thuận</a:t>
            </a:r>
          </a:p>
          <a:p>
            <a:pPr>
              <a:defRPr sz="1700">
                <a:solidFill>
                  <a:srgbClr val="1E293B"/>
                </a:solidFill>
                <a:latin typeface="Times New Roman"/>
              </a:defRPr>
            </a:pPr>
            <a:r>
              <a:t>• Không có tôn giáo nào là 'quốc giáo'. Các tôn giáo bình đẳng, giao lưu và tôn trọng lẫn nhau.</a:t>
            </a:r>
          </a:p>
        </p:txBody>
      </p:sp>
      <p:sp>
        <p:nvSpPr>
          <p:cNvPr id="12" name="Rounded Rectangle 11"/>
          <p:cNvSpPr/>
          <p:nvPr/>
        </p:nvSpPr>
        <p:spPr>
          <a:xfrm>
            <a:off x="548640" y="2720340"/>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Tín đồ là nhân dân lao động</a:t>
            </a:r>
          </a:p>
          <a:p>
            <a:pPr>
              <a:defRPr sz="1700">
                <a:solidFill>
                  <a:srgbClr val="1E293B"/>
                </a:solidFill>
                <a:latin typeface="Times New Roman"/>
              </a:defRPr>
            </a:pPr>
            <a:r>
              <a:t>• Đồng bào có đạo trước hết là người công dân yêu nước, gắn bó mật thiết với Tổ quốc.</a:t>
            </a:r>
          </a:p>
        </p:txBody>
      </p:sp>
      <p:sp>
        <p:nvSpPr>
          <p:cNvPr id="13" name="Rounded Rectangle 12"/>
          <p:cNvSpPr/>
          <p:nvPr/>
        </p:nvSpPr>
        <p:spPr>
          <a:xfrm>
            <a:off x="548640" y="3867912"/>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3. Truyền thống đồng hành cùng Dân tộc</a:t>
            </a:r>
          </a:p>
          <a:p>
            <a:pPr>
              <a:defRPr sz="1700">
                <a:solidFill>
                  <a:srgbClr val="1E293B"/>
                </a:solidFill>
                <a:latin typeface="Times New Roman"/>
              </a:defRPr>
            </a:pPr>
            <a:r>
              <a:t>• Gắn bó máu thịt với sự nghiệp giải phóng dân tộc; tích cực tham gia thi đua yêu nước.</a:t>
            </a:r>
          </a:p>
        </p:txBody>
      </p:sp>
      <p:sp>
        <p:nvSpPr>
          <p:cNvPr id="14" name="Rounded Rectangle 13"/>
          <p:cNvSpPr/>
          <p:nvPr/>
        </p:nvSpPr>
        <p:spPr>
          <a:xfrm>
            <a:off x="548640" y="5015484"/>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4. Có mối liên hệ quốc tế rộng rãi</a:t>
            </a:r>
          </a:p>
          <a:p>
            <a:pPr>
              <a:defRPr sz="1700">
                <a:solidFill>
                  <a:srgbClr val="1E293B"/>
                </a:solidFill>
                <a:latin typeface="Times New Roman"/>
              </a:defRPr>
            </a:pPr>
            <a:r>
              <a:t>• Nhiều tôn giáo có tổ chức quốc tế, dễ bị các thế lực xấu nhòm ngó, tác động can thiệp.</a:t>
            </a:r>
          </a:p>
        </p:txBody>
      </p:sp>
      <p:sp>
        <p:nvSpPr>
          <p:cNvPr id="15" name="Rounded Rectangle 14"/>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vietnam_unity.jpg"/>
          <p:cNvPicPr>
            <a:picLocks noChangeAspect="1"/>
          </p:cNvPicPr>
          <p:nvPr/>
        </p:nvPicPr>
        <p:blipFill>
          <a:blip r:embed="rId3"/>
          <a:stretch>
            <a:fillRect/>
          </a:stretch>
        </p:blipFill>
        <p:spPr>
          <a:xfrm>
            <a:off x="7040880" y="1753210"/>
            <a:ext cx="4602175" cy="3068116"/>
          </a:xfrm>
          <a:prstGeom prst="rect">
            <a:avLst/>
          </a:prstGeom>
        </p:spPr>
      </p:pic>
      <p:sp>
        <p:nvSpPr>
          <p:cNvPr id="17" name="TextBox 16"/>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Sức mạnh hòa hợp: Nét đẹp văn hóa hòa hợp tôn giáo là bức tường thành vô hiệu hóa mọi toan tính chia rẽ của ngoại bang.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42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ÂM MƯU CỦA ĐỊCH</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Âm mưu &amp; Thủ đoạn lợi dụng tôn giáo Chống phá</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Âm mưu Chiến lược</a:t>
            </a:r>
          </a:p>
          <a:p>
            <a:pPr>
              <a:defRPr sz="1700">
                <a:solidFill>
                  <a:srgbClr val="1E293B"/>
                </a:solidFill>
                <a:latin typeface="Times New Roman"/>
              </a:defRPr>
            </a:pPr>
            <a:r>
              <a:t>• Biến tôn giáo thành 'lực lượng đối trọng chính trị' đối lập với Đảng và Nhà nước.</a:t>
            </a:r>
          </a:p>
          <a:p>
            <a:pPr>
              <a:defRPr sz="1700">
                <a:solidFill>
                  <a:srgbClr val="1E293B"/>
                </a:solidFill>
                <a:latin typeface="Times New Roman"/>
              </a:defRPr>
            </a:pPr>
            <a:r>
              <a:t>• Lợi dụng chiêu bài 'tự do tôn giáo' gây sức ép quốc tế can thiệp nội bộ Việt Nam.</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Bốn Thủ đoạn Nguy hiểm</a:t>
            </a:r>
          </a:p>
          <a:p>
            <a:pPr>
              <a:defRPr sz="1700">
                <a:solidFill>
                  <a:srgbClr val="1E293B"/>
                </a:solidFill>
                <a:latin typeface="Times New Roman"/>
              </a:defRPr>
            </a:pPr>
            <a:r>
              <a:t>• Kích động tranh chấp: Xúi giục khiếu kiện đòi lại đất đai cơ sở thờ tự trái luật.</a:t>
            </a:r>
          </a:p>
          <a:p>
            <a:pPr>
              <a:defRPr sz="1700">
                <a:solidFill>
                  <a:srgbClr val="1E293B"/>
                </a:solidFill>
                <a:latin typeface="Times New Roman"/>
              </a:defRPr>
            </a:pPr>
            <a:r>
              <a:t>• Dựng 'tà đạo, đạo lạ': Lập hội nhóm phi pháp (Hà Mòn, Tin lành Đề Ga, Pháp Luân Công...).</a:t>
            </a:r>
          </a:p>
          <a:p>
            <a:pPr>
              <a:defRPr sz="1700">
                <a:solidFill>
                  <a:srgbClr val="1E293B"/>
                </a:solidFill>
                <a:latin typeface="Times New Roman"/>
              </a:defRPr>
            </a:pPr>
            <a:r>
              <a:t>• Lợi dụng sự cố xã hội: Kích động tuần hành trái phép, gây rối an ninh (vụ Formosa 2016).</a:t>
            </a:r>
          </a:p>
          <a:p>
            <a:pPr>
              <a:defRPr sz="1700">
                <a:solidFill>
                  <a:srgbClr val="1E293B"/>
                </a:solidFill>
                <a:latin typeface="Times New Roman"/>
              </a:defRPr>
            </a:pPr>
            <a:r>
              <a:t>• Móc nối phần tử cực đoan: Tài trợ kinh phí cho đối tượng đội lốt tôn giáo chống phá.</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cyber.jpg"/>
          <p:cNvPicPr>
            <a:picLocks noChangeAspect="1"/>
          </p:cNvPicPr>
          <p:nvPr/>
        </p:nvPicPr>
        <p:blipFill>
          <a:blip r:embed="rId3"/>
          <a:stretch>
            <a:fillRect/>
          </a:stretch>
        </p:blipFill>
        <p:spPr>
          <a:xfrm>
            <a:off x="7040880" y="1751292"/>
            <a:ext cx="4602175" cy="3071951"/>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Đấu tranh trên mặt trận tư tưởng: Các thế lực xấu triệt để dùng mạng xã hội phát tán tin giả vu cáo 'đàn áp tôn giáo'.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43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QUAN ĐIỂM &amp; PHÁP LUẬT</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Quan điểm của Đảng &amp; Pháp luật Nhà nước về Tôn giáo</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Cơ sở Hiến định: Điều 24 Hiến pháp 2013</a:t>
            </a:r>
          </a:p>
          <a:p>
            <a:pPr>
              <a:defRPr sz="1700">
                <a:solidFill>
                  <a:srgbClr val="1E293B"/>
                </a:solidFill>
                <a:latin typeface="Times New Roman"/>
              </a:defRPr>
            </a:pPr>
            <a:r>
              <a:t>• 'Mọi người có quyền tự do tín ngưỡng, tôn giáo, theo hoặc không theo một tôn giáo nào.'</a:t>
            </a:r>
          </a:p>
          <a:p>
            <a:pPr>
              <a:defRPr sz="1700">
                <a:solidFill>
                  <a:srgbClr val="1E293B"/>
                </a:solidFill>
                <a:latin typeface="Times New Roman"/>
              </a:defRPr>
            </a:pPr>
            <a:r>
              <a:t>• 'Các tôn giáo bình đẳng trước pháp luật. Nhà nước tôn trọng và bảo hộ quyền tự do tín ngưỡng.'</a:t>
            </a:r>
          </a:p>
          <a:p>
            <a:pPr>
              <a:defRPr sz="1700">
                <a:solidFill>
                  <a:srgbClr val="1E293B"/>
                </a:solidFill>
                <a:latin typeface="Times New Roman"/>
              </a:defRPr>
            </a:pPr>
            <a:r>
              <a:t>• 'Không ai được lợi dụng tín ngưỡng, tôn giáo để vi phạm pháp luật.'</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Quan điểm Nhất quán của Đảng</a:t>
            </a:r>
          </a:p>
          <a:p>
            <a:pPr>
              <a:defRPr sz="1700">
                <a:solidFill>
                  <a:srgbClr val="1E293B"/>
                </a:solidFill>
                <a:latin typeface="Times New Roman"/>
              </a:defRPr>
            </a:pPr>
            <a:r>
              <a:t>• Tín ngưỡng, tôn giáo là nhu cầu tinh thần của một bộ phận nhân dân, tồn tại lâu dài.</a:t>
            </a:r>
          </a:p>
          <a:p>
            <a:pPr>
              <a:defRPr sz="1700">
                <a:solidFill>
                  <a:srgbClr val="1E293B"/>
                </a:solidFill>
                <a:latin typeface="Times New Roman"/>
              </a:defRPr>
            </a:pPr>
            <a:r>
              <a:t>• Đồng bào các tôn giáo là bộ phận không thể tách rời của khối đại đoàn kết toàn dân tộc.</a:t>
            </a:r>
          </a:p>
          <a:p>
            <a:pPr>
              <a:defRPr sz="1700">
                <a:solidFill>
                  <a:srgbClr val="1E293B"/>
                </a:solidFill>
                <a:latin typeface="Times New Roman"/>
              </a:defRPr>
            </a:pPr>
            <a:r>
              <a:t>• Nội dung cốt lõi của công tác tôn giáo là công tác vận động quần chúng.</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law.jpg"/>
          <p:cNvPicPr>
            <a:picLocks noChangeAspect="1"/>
          </p:cNvPicPr>
          <p:nvPr/>
        </p:nvPicPr>
        <p:blipFill>
          <a:blip r:embed="rId3"/>
          <a:stretch>
            <a:fillRect/>
          </a:stretch>
        </p:blipFill>
        <p:spPr>
          <a:xfrm>
            <a:off x="7040880" y="1753210"/>
            <a:ext cx="4602175" cy="306811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Hành lang pháp lý minh bạch: Luật Tín ngưỡng, tôn giáo 2016 bảo vệ tối đa quyền và lợi ích hợp pháp của các tổ chức tôn giáo và tín đồ.</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44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NGUYÊN TẮC THỰC THI</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Nguyên tắc: Kết hợp chặt chẽ giữa “XÂY” và “CHỐNG”</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Mặt 'XÂY' (Nhiệm vụ cơ bản, lâu dài)</a:t>
            </a:r>
          </a:p>
          <a:p>
            <a:pPr>
              <a:defRPr sz="1700">
                <a:solidFill>
                  <a:srgbClr val="1E293B"/>
                </a:solidFill>
                <a:latin typeface="Times New Roman"/>
              </a:defRPr>
            </a:pPr>
            <a:r>
              <a:t>• Tạo điều kiện thuận lợi cho các tổ chức tôn giáo hoạt động theo hiến chương và pháp luật.</a:t>
            </a:r>
          </a:p>
          <a:p>
            <a:pPr>
              <a:defRPr sz="1700">
                <a:solidFill>
                  <a:srgbClr val="1E293B"/>
                </a:solidFill>
                <a:latin typeface="Times New Roman"/>
              </a:defRPr>
            </a:pPr>
            <a:r>
              <a:t>• Chăm lo phát triển kinh tế, nâng cao đời sống vật chất và văn hóa vùng đồng bào có đạo.</a:t>
            </a:r>
          </a:p>
          <a:p>
            <a:pPr>
              <a:defRPr sz="1700">
                <a:solidFill>
                  <a:srgbClr val="1E293B"/>
                </a:solidFill>
                <a:latin typeface="Times New Roman"/>
              </a:defRPr>
            </a:pPr>
            <a:r>
              <a:t>• Phát huy giá trị đạo đức tốt đẹp và nguồn lực tôn giáo tham gia các hoạt động xã hội.</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Mặt 'CHỐNG' (Nhiệm vụ cấp bách, thường xuyên)</a:t>
            </a:r>
          </a:p>
          <a:p>
            <a:pPr>
              <a:defRPr sz="1700">
                <a:solidFill>
                  <a:srgbClr val="1E293B"/>
                </a:solidFill>
                <a:latin typeface="Times New Roman"/>
              </a:defRPr>
            </a:pPr>
            <a:r>
              <a:t>• Kiên quyết đấu tranh vạch trần âm mưu, thủ đoạn lợi dụng tôn giáo chống phá của địch.</a:t>
            </a:r>
          </a:p>
          <a:p>
            <a:pPr>
              <a:defRPr sz="1700">
                <a:solidFill>
                  <a:srgbClr val="1E293B"/>
                </a:solidFill>
                <a:latin typeface="Times New Roman"/>
              </a:defRPr>
            </a:pPr>
            <a:r>
              <a:t>• Xử lý nghiêm minh theo pháp luật các hành vi lợi dụng tôn giáo để chia rẽ dân tộc.</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defense.jpg"/>
          <p:cNvPicPr>
            <a:picLocks noChangeAspect="1"/>
          </p:cNvPicPr>
          <p:nvPr/>
        </p:nvPicPr>
        <p:blipFill>
          <a:blip r:embed="rId3"/>
          <a:stretch>
            <a:fillRect/>
          </a:stretch>
        </p:blipFill>
        <p:spPr>
          <a:xfrm>
            <a:off x="7040880" y="1630485"/>
            <a:ext cx="4602175" cy="331356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Hài hòa tự do và pháp trị: 'Xây' để bồi đắp lòng tin và sức đề kháng; 'Chống' để giữ vững kỷ cương phép nước, bảo vệ bình yên xã hội.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45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THỰC TIỄN SINH ĐỘNG</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Đồng bào các tôn giáo Đồng hành cùng Dân tộc</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Đóng góp To lớn trong An sinh Xã hội</a:t>
            </a:r>
          </a:p>
          <a:p>
            <a:pPr>
              <a:defRPr sz="1700">
                <a:solidFill>
                  <a:srgbClr val="1E293B"/>
                </a:solidFill>
                <a:latin typeface="Times New Roman"/>
              </a:defRPr>
            </a:pPr>
            <a:r>
              <a:t>• Các tổ chức tôn giáo điều hành hàng trăm cơ sở bảo trợ xã hội, trường mầm non, phòng khám.</a:t>
            </a:r>
          </a:p>
          <a:p>
            <a:pPr>
              <a:defRPr sz="1700">
                <a:solidFill>
                  <a:srgbClr val="1E293B"/>
                </a:solidFill>
                <a:latin typeface="Times New Roman"/>
              </a:defRPr>
            </a:pPr>
            <a:r>
              <a:t>• Quyên góp hàng ngàn tỷ đồng hỗ trợ người nghèo, cứu trợ bão lũ thiên tai hàng năm.</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Tinh thần Dấn thân trong Biến cố</a:t>
            </a:r>
          </a:p>
          <a:p>
            <a:pPr>
              <a:defRPr sz="1700">
                <a:solidFill>
                  <a:srgbClr val="1E293B"/>
                </a:solidFill>
                <a:latin typeface="Times New Roman"/>
              </a:defRPr>
            </a:pPr>
            <a:r>
              <a:t>• Trong đại dịch COVID-19, hàng ngàn tu sĩ, linh mục, tăng ni tình nguyện 'cởi áo cà sa, khoác áo blouse' xung phong vào tuyến đầu chống dịch tại tâm dịch miền Nam.</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culture.jpg"/>
          <p:cNvPicPr>
            <a:picLocks noChangeAspect="1"/>
          </p:cNvPicPr>
          <p:nvPr/>
        </p:nvPicPr>
        <p:blipFill>
          <a:blip r:embed="rId3"/>
          <a:stretch>
            <a:fillRect/>
          </a:stretch>
        </p:blipFill>
        <p:spPr>
          <a:xfrm>
            <a:off x="7040880" y="1849088"/>
            <a:ext cx="4602175" cy="2876359"/>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Tốt đời đẹp đạo: Những nghĩa cử nhân ái là minh chứng cho truyền thống bác ái, từ bi hòa quyện cùng lòng yêu nước của dân tộc Việt Nam.</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46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77240"/>
            <a:ext cx="11094415" cy="548640"/>
          </a:xfrm>
          <a:prstGeom prst="rect">
            <a:avLst/>
          </a:prstGeom>
          <a:noFill/>
        </p:spPr>
        <p:txBody>
          <a:bodyPr wrap="none">
            <a:spAutoFit/>
          </a:bodyPr>
          <a:lstStyle/>
          <a:p>
            <a:pPr>
              <a:defRPr sz="2300" b="1">
                <a:solidFill>
                  <a:srgbClr val="00254A"/>
                </a:solidFill>
                <a:latin typeface="Times New Roman"/>
              </a:defRPr>
            </a:pPr>
            <a:r>
              <a:t>Sơ đồ tư duy: Tình hình tôn giáo &amp; Chính sách Đảng, Nhà nước</a:t>
            </a:r>
          </a:p>
        </p:txBody>
      </p:sp>
      <p:sp>
        <p:nvSpPr>
          <p:cNvPr id="10" name="Rounded Rectangle 9"/>
          <p:cNvSpPr/>
          <p:nvPr/>
        </p:nvSpPr>
        <p:spPr>
          <a:xfrm>
            <a:off x="1294790" y="1389888"/>
            <a:ext cx="9601200" cy="777240"/>
          </a:xfrm>
          <a:prstGeom prst="roundRect">
            <a:avLst/>
          </a:prstGeom>
          <a:solidFill>
            <a:srgbClr val="00254A"/>
          </a:solidFill>
          <a:ln w="3175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latin typeface="Times New Roman"/>
              </a:defRPr>
            </a:pPr>
            <a:r>
              <a:t>TÌNH HÌNH TÔN GIÁO &amp; CHÍNH SÁCH TÔN GIÁO CỦA ĐẢNG, NHÀ NƯỚC</a:t>
            </a:r>
          </a:p>
        </p:txBody>
      </p:sp>
      <p:sp>
        <p:nvSpPr>
          <p:cNvPr id="11" name="Rounded Rectangle 10"/>
          <p:cNvSpPr/>
          <p:nvPr/>
        </p:nvSpPr>
        <p:spPr>
          <a:xfrm>
            <a:off x="548640" y="2377440"/>
            <a:ext cx="2560320" cy="297180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1. THỰC TRẠNG &amp; ĐẶC ĐIỂM</a:t>
            </a:r>
          </a:p>
          <a:p>
            <a:pPr>
              <a:defRPr sz="1600">
                <a:solidFill>
                  <a:srgbClr val="1E293B"/>
                </a:solidFill>
                <a:latin typeface="Times New Roman"/>
              </a:defRPr>
            </a:pPr>
            <a:r>
              <a:t>• 16 tôn giáo, 27 triệu tín đồ</a:t>
            </a:r>
          </a:p>
          <a:p>
            <a:pPr>
              <a:defRPr sz="1600">
                <a:solidFill>
                  <a:srgbClr val="1E293B"/>
                </a:solidFill>
                <a:latin typeface="Times New Roman"/>
              </a:defRPr>
            </a:pPr>
            <a:r>
              <a:t>• Chung sống hòa thuận, không xung đột</a:t>
            </a:r>
          </a:p>
          <a:p>
            <a:pPr>
              <a:defRPr sz="1600">
                <a:solidFill>
                  <a:srgbClr val="1E293B"/>
                </a:solidFill>
                <a:latin typeface="Times New Roman"/>
              </a:defRPr>
            </a:pPr>
            <a:r>
              <a:t>• Tín đồ là nhân dân lao động</a:t>
            </a:r>
          </a:p>
          <a:p>
            <a:pPr>
              <a:defRPr sz="1600">
                <a:solidFill>
                  <a:srgbClr val="1E293B"/>
                </a:solidFill>
                <a:latin typeface="Times New Roman"/>
              </a:defRPr>
            </a:pPr>
            <a:r>
              <a:t>• Đồng hành cùng dân tộc</a:t>
            </a:r>
          </a:p>
        </p:txBody>
      </p:sp>
      <p:sp>
        <p:nvSpPr>
          <p:cNvPr id="12" name="Rounded Rectangle 11"/>
          <p:cNvSpPr/>
          <p:nvPr/>
        </p:nvSpPr>
        <p:spPr>
          <a:xfrm>
            <a:off x="3392424" y="2377440"/>
            <a:ext cx="2560320" cy="29718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2. ÂM MƯU CỦA ĐỊCH</a:t>
            </a:r>
          </a:p>
          <a:p>
            <a:pPr>
              <a:defRPr sz="1600">
                <a:solidFill>
                  <a:srgbClr val="1E293B"/>
                </a:solidFill>
                <a:latin typeface="Times New Roman"/>
              </a:defRPr>
            </a:pPr>
            <a:r>
              <a:t>• Tạo lực lượng đối trọng chính trị</a:t>
            </a:r>
          </a:p>
          <a:p>
            <a:pPr>
              <a:defRPr sz="1600">
                <a:solidFill>
                  <a:srgbClr val="1E293B"/>
                </a:solidFill>
                <a:latin typeface="Times New Roman"/>
              </a:defRPr>
            </a:pPr>
            <a:r>
              <a:t>• Kích động khiếu kiện đất đai</a:t>
            </a:r>
          </a:p>
          <a:p>
            <a:pPr>
              <a:defRPr sz="1600">
                <a:solidFill>
                  <a:srgbClr val="1E293B"/>
                </a:solidFill>
                <a:latin typeface="Times New Roman"/>
              </a:defRPr>
            </a:pPr>
            <a:r>
              <a:t>• Dựng tà đạo phi pháp</a:t>
            </a:r>
          </a:p>
          <a:p>
            <a:pPr>
              <a:defRPr sz="1600">
                <a:solidFill>
                  <a:srgbClr val="1E293B"/>
                </a:solidFill>
                <a:latin typeface="Times New Roman"/>
              </a:defRPr>
            </a:pPr>
            <a:r>
              <a:t>• Quốc tế hóa vu cáo đàn áp</a:t>
            </a:r>
          </a:p>
        </p:txBody>
      </p:sp>
      <p:sp>
        <p:nvSpPr>
          <p:cNvPr id="13" name="Rounded Rectangle 12"/>
          <p:cNvSpPr/>
          <p:nvPr/>
        </p:nvSpPr>
        <p:spPr>
          <a:xfrm>
            <a:off x="6236208" y="2377440"/>
            <a:ext cx="2560320" cy="29718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3. QUAN ĐIỂM &amp; LUẬT</a:t>
            </a:r>
          </a:p>
          <a:p>
            <a:pPr>
              <a:defRPr sz="1600">
                <a:solidFill>
                  <a:srgbClr val="1E293B"/>
                </a:solidFill>
                <a:latin typeface="Times New Roman"/>
              </a:defRPr>
            </a:pPr>
            <a:r>
              <a:t>• Điều 24 Hiến pháp 2013</a:t>
            </a:r>
          </a:p>
          <a:p>
            <a:pPr>
              <a:defRPr sz="1600">
                <a:solidFill>
                  <a:srgbClr val="1E293B"/>
                </a:solidFill>
                <a:latin typeface="Times New Roman"/>
              </a:defRPr>
            </a:pPr>
            <a:r>
              <a:t>• Luật Tín ngưỡng, tôn giáo 2016</a:t>
            </a:r>
          </a:p>
          <a:p>
            <a:pPr>
              <a:defRPr sz="1600">
                <a:solidFill>
                  <a:srgbClr val="1E293B"/>
                </a:solidFill>
                <a:latin typeface="Times New Roman"/>
              </a:defRPr>
            </a:pPr>
            <a:r>
              <a:t>• Nhu cầu tinh thần tồn tại lâu dài</a:t>
            </a:r>
          </a:p>
          <a:p>
            <a:pPr>
              <a:defRPr sz="1600">
                <a:solidFill>
                  <a:srgbClr val="1E293B"/>
                </a:solidFill>
                <a:latin typeface="Times New Roman"/>
              </a:defRPr>
            </a:pPr>
            <a:r>
              <a:t>• Cốt lõi là vận động quần chúng</a:t>
            </a:r>
          </a:p>
        </p:txBody>
      </p:sp>
      <p:sp>
        <p:nvSpPr>
          <p:cNvPr id="14" name="Rounded Rectangle 13"/>
          <p:cNvSpPr/>
          <p:nvPr/>
        </p:nvSpPr>
        <p:spPr>
          <a:xfrm>
            <a:off x="9079992" y="2377440"/>
            <a:ext cx="2560320" cy="297180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4. NGUYÊN TẮC THỰC THI</a:t>
            </a:r>
          </a:p>
          <a:p>
            <a:pPr>
              <a:defRPr sz="1600">
                <a:solidFill>
                  <a:srgbClr val="1E293B"/>
                </a:solidFill>
                <a:latin typeface="Times New Roman"/>
              </a:defRPr>
            </a:pPr>
            <a:r>
              <a:t>• Mặt XÂY: Tạo điều kiện hợp pháp</a:t>
            </a:r>
          </a:p>
          <a:p>
            <a:pPr>
              <a:defRPr sz="1600">
                <a:solidFill>
                  <a:srgbClr val="1E293B"/>
                </a:solidFill>
                <a:latin typeface="Times New Roman"/>
              </a:defRPr>
            </a:pPr>
            <a:r>
              <a:t>• Mặt CHỐNG: Xử nghiêm kẻ lợi dụng</a:t>
            </a:r>
          </a:p>
          <a:p>
            <a:pPr>
              <a:defRPr sz="1600">
                <a:solidFill>
                  <a:srgbClr val="1E293B"/>
                </a:solidFill>
                <a:latin typeface="Times New Roman"/>
              </a:defRPr>
            </a:pPr>
            <a:r>
              <a:t>• Đoàn kết Lương - Giáo keo sơn</a:t>
            </a:r>
          </a:p>
        </p:txBody>
      </p:sp>
      <p:sp>
        <p:nvSpPr>
          <p:cNvPr id="15" name="Rounded Rectangle 14"/>
          <p:cNvSpPr/>
          <p:nvPr/>
        </p:nvSpPr>
        <p:spPr>
          <a:xfrm>
            <a:off x="548640" y="5532120"/>
            <a:ext cx="11094415" cy="640080"/>
          </a:xfrm>
          <a:prstGeom prst="roundRect">
            <a:avLst/>
          </a:prstGeom>
          <a:solidFill>
            <a:srgbClr val="EBF3FA"/>
          </a:solidFill>
          <a:ln w="1905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3B70"/>
                </a:solidFill>
                <a:latin typeface="Times New Roman"/>
              </a:defRPr>
            </a:pPr>
            <a:r>
              <a:t>★ Tôn trọng tự do tín ngưỡng chân chính - Kiên quyết trừng trị hành vi lợi dụng tôn giáo chống phá đất nước.</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47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TRÁCH NHIỆM CÔNG DÂN - SINH VIÊN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Trách nhiệm của sinh viên Đại học Đại Nam (DNU)</a:t>
            </a:r>
          </a:p>
        </p:txBody>
      </p:sp>
      <p:sp>
        <p:nvSpPr>
          <p:cNvPr id="11" name="Rounded Rectangle 10"/>
          <p:cNvSpPr/>
          <p:nvPr/>
        </p:nvSpPr>
        <p:spPr>
          <a:xfrm>
            <a:off x="548640" y="1572768"/>
            <a:ext cx="5394960" cy="224028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1. Tuyệt đối Trung thành với Đảng, Nhà nước &amp; Tổ quốc</a:t>
            </a:r>
          </a:p>
          <a:p>
            <a:pPr>
              <a:defRPr sz="1700">
                <a:solidFill>
                  <a:srgbClr val="1E293B"/>
                </a:solidFill>
                <a:latin typeface="Times New Roman"/>
              </a:defRPr>
            </a:pPr>
            <a:r>
              <a:t>Kiên định mục tiêu độc lập dân tộc gắn liền với Chủ nghĩa xã hội; chấp hành nghiêm chỉnh đường lối của Đảng, chính sách và pháp luật của Nhà nước.</a:t>
            </a:r>
          </a:p>
        </p:txBody>
      </p:sp>
      <p:sp>
        <p:nvSpPr>
          <p:cNvPr id="12" name="Rounded Rectangle 11"/>
          <p:cNvSpPr/>
          <p:nvPr/>
        </p:nvSpPr>
        <p:spPr>
          <a:xfrm>
            <a:off x="6248095" y="1572768"/>
            <a:ext cx="5394960" cy="224028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2. Tích cực Học tập, Tu dưỡng Đạo đức Cách mạng</a:t>
            </a:r>
          </a:p>
          <a:p>
            <a:pPr>
              <a:defRPr sz="1700">
                <a:solidFill>
                  <a:srgbClr val="1E293B"/>
                </a:solidFill>
                <a:latin typeface="Times New Roman"/>
              </a:defRPr>
            </a:pPr>
            <a:r>
              <a:t>Rèn luyện bản lĩnh chính trị vững vàng, trau dồi tri thức khoa học, nâng cao trình độ chuyên môn; hoàn thành xuất sắc nhiệm vụ rèn luyện tại Nhà trường.</a:t>
            </a:r>
          </a:p>
        </p:txBody>
      </p:sp>
      <p:sp>
        <p:nvSpPr>
          <p:cNvPr id="13" name="Rounded Rectangle 12"/>
          <p:cNvSpPr/>
          <p:nvPr/>
        </p:nvSpPr>
        <p:spPr>
          <a:xfrm>
            <a:off x="548640" y="3977639"/>
            <a:ext cx="5394960" cy="224028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3. Nêu cao Tinh thần Cảnh giác Cách mạng</a:t>
            </a:r>
          </a:p>
          <a:p>
            <a:pPr>
              <a:defRPr sz="1700">
                <a:solidFill>
                  <a:srgbClr val="1E293B"/>
                </a:solidFill>
                <a:latin typeface="Times New Roman"/>
              </a:defRPr>
            </a:pPr>
            <a:r>
              <a:t>Chủ động phòng ngừa và kiên quyết đấu tranh phản bác các quan điểm sai trái, thù địch; không chia sẻ thông tin xấu độc kích động chia rẽ dân tộc.</a:t>
            </a:r>
          </a:p>
        </p:txBody>
      </p:sp>
      <p:sp>
        <p:nvSpPr>
          <p:cNvPr id="14" name="Rounded Rectangle 13"/>
          <p:cNvSpPr/>
          <p:nvPr/>
        </p:nvSpPr>
        <p:spPr>
          <a:xfrm>
            <a:off x="6248095" y="3977639"/>
            <a:ext cx="5394960" cy="224028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4. Xung kích Tham gia Bảo vệ An ninh Tổ quốc</a:t>
            </a:r>
          </a:p>
          <a:p>
            <a:pPr>
              <a:defRPr sz="1700">
                <a:solidFill>
                  <a:srgbClr val="1E293B"/>
                </a:solidFill>
                <a:latin typeface="Times New Roman"/>
              </a:defRPr>
            </a:pPr>
            <a:r>
              <a:t>Gương mẫu trong phong trào toàn dân bảo vệ an ninh Tổ quốc tại học đường và nơi cư trú; sẵn sàng thực hiện nghĩa vụ quân sự bảo vệ vững chắc Tổ quốc.</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48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77240"/>
            <a:ext cx="11094415" cy="548640"/>
          </a:xfrm>
          <a:prstGeom prst="rect">
            <a:avLst/>
          </a:prstGeom>
          <a:noFill/>
        </p:spPr>
        <p:txBody>
          <a:bodyPr wrap="none">
            <a:spAutoFit/>
          </a:bodyPr>
          <a:lstStyle/>
          <a:p>
            <a:pPr>
              <a:defRPr sz="2300" b="1">
                <a:solidFill>
                  <a:srgbClr val="00254A"/>
                </a:solidFill>
                <a:latin typeface="Times New Roman"/>
              </a:defRPr>
            </a:pPr>
            <a:r>
              <a:t>Mini Game: Đố vui củng cố kiến thức Vấn đề 4</a:t>
            </a:r>
          </a:p>
        </p:txBody>
      </p:sp>
      <p:sp>
        <p:nvSpPr>
          <p:cNvPr id="10" name="Rounded Rectangle 9"/>
          <p:cNvSpPr/>
          <p:nvPr/>
        </p:nvSpPr>
        <p:spPr>
          <a:xfrm>
            <a:off x="548640" y="1508760"/>
            <a:ext cx="11094415" cy="1051560"/>
          </a:xfrm>
          <a:prstGeom prst="roundRect">
            <a:avLst/>
          </a:prstGeom>
          <a:solidFill>
            <a:srgbClr val="EBF3FA"/>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0254A"/>
                </a:solidFill>
                <a:latin typeface="Times New Roman"/>
              </a:defRPr>
            </a:pPr>
            <a:r>
              <a:t>CÂU HỎI: Điều 24 Hiến pháp năm 2013 của nước ta quy định quyền gì đối với mọi công dân?</a:t>
            </a:r>
          </a:p>
        </p:txBody>
      </p:sp>
      <p:sp>
        <p:nvSpPr>
          <p:cNvPr id="11" name="Rounded Rectangle 10"/>
          <p:cNvSpPr/>
          <p:nvPr/>
        </p:nvSpPr>
        <p:spPr>
          <a:xfrm>
            <a:off x="548640" y="278892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A. Quyền tự do cư trú</a:t>
            </a:r>
          </a:p>
        </p:txBody>
      </p:sp>
      <p:sp>
        <p:nvSpPr>
          <p:cNvPr id="12" name="Rounded Rectangle 11"/>
          <p:cNvSpPr/>
          <p:nvPr/>
        </p:nvSpPr>
        <p:spPr>
          <a:xfrm>
            <a:off x="6248095" y="278892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B. Quyền tự do tín ngưỡng, tôn giáo</a:t>
            </a:r>
          </a:p>
        </p:txBody>
      </p:sp>
      <p:sp>
        <p:nvSpPr>
          <p:cNvPr id="13" name="Rounded Rectangle 12"/>
          <p:cNvSpPr/>
          <p:nvPr/>
        </p:nvSpPr>
        <p:spPr>
          <a:xfrm>
            <a:off x="548640" y="397764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C. Quyền tự do kinh doanh</a:t>
            </a:r>
          </a:p>
        </p:txBody>
      </p:sp>
      <p:sp>
        <p:nvSpPr>
          <p:cNvPr id="14" name="Rounded Rectangle 13"/>
          <p:cNvSpPr/>
          <p:nvPr/>
        </p:nvSpPr>
        <p:spPr>
          <a:xfrm>
            <a:off x="6248095" y="397764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D. Quyền lao động và học tập</a:t>
            </a:r>
          </a:p>
        </p:txBody>
      </p:sp>
      <p:sp>
        <p:nvSpPr>
          <p:cNvPr id="15" name="Rounded Rectangle 14"/>
          <p:cNvSpPr/>
          <p:nvPr/>
        </p:nvSpPr>
        <p:spPr>
          <a:xfrm>
            <a:off x="548640" y="5257800"/>
            <a:ext cx="11094415" cy="960120"/>
          </a:xfrm>
          <a:prstGeom prst="roundRect">
            <a:avLst/>
          </a:prstGeom>
          <a:solidFill>
            <a:srgbClr val="ECFDF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65F46"/>
                </a:solidFill>
                <a:latin typeface="Times New Roman"/>
              </a:defRPr>
            </a:pPr>
            <a:r>
              <a:t>ĐÁP ÁN ĐÚNG &amp; GIẢI THÍCH: B. Điều 24 khẳng định: Mọi người có quyền tự do tín ngưỡng, tôn giáo, theo hoặc không theo một tôn giáo nào. Các tôn giáo bình đẳng trước pháp luật.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548640"/>
            <a:ext cx="10911535" cy="5760720"/>
          </a:xfrm>
          <a:prstGeom prst="roundRect">
            <a:avLst/>
          </a:prstGeom>
          <a:solidFill>
            <a:srgbClr val="FFFFFF"/>
          </a:solidFill>
          <a:ln w="381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ai-nam-logo.png"/>
          <p:cNvPicPr>
            <a:picLocks noChangeAspect="1"/>
          </p:cNvPicPr>
          <p:nvPr/>
        </p:nvPicPr>
        <p:blipFill>
          <a:blip r:embed="rId2"/>
          <a:stretch>
            <a:fillRect/>
          </a:stretch>
        </p:blipFill>
        <p:spPr>
          <a:xfrm>
            <a:off x="9396374" y="777240"/>
            <a:ext cx="1850745" cy="502920"/>
          </a:xfrm>
          <a:prstGeom prst="rect">
            <a:avLst/>
          </a:prstGeom>
        </p:spPr>
      </p:pic>
      <p:sp>
        <p:nvSpPr>
          <p:cNvPr id="5" name="TextBox 4"/>
          <p:cNvSpPr txBox="1"/>
          <p:nvPr/>
        </p:nvSpPr>
        <p:spPr>
          <a:xfrm>
            <a:off x="1005840" y="777240"/>
            <a:ext cx="5486400" cy="411480"/>
          </a:xfrm>
          <a:prstGeom prst="rect">
            <a:avLst/>
          </a:prstGeom>
          <a:noFill/>
        </p:spPr>
        <p:txBody>
          <a:bodyPr wrap="none">
            <a:spAutoFit/>
          </a:bodyPr>
          <a:lstStyle/>
          <a:p>
            <a:pPr>
              <a:defRPr sz="1300" b="1">
                <a:solidFill>
                  <a:srgbClr val="F37021"/>
                </a:solidFill>
                <a:latin typeface="Times New Roman"/>
              </a:defRPr>
            </a:pPr>
            <a:r>
              <a:t>TRƯỜNG ĐẠI HỌC ĐẠI NAM  •  HỌC ĐỂ THAY ĐỔI</a:t>
            </a:r>
          </a:p>
        </p:txBody>
      </p:sp>
      <p:sp>
        <p:nvSpPr>
          <p:cNvPr id="6" name="TextBox 5"/>
          <p:cNvSpPr txBox="1"/>
          <p:nvPr/>
        </p:nvSpPr>
        <p:spPr>
          <a:xfrm>
            <a:off x="1005840" y="1371600"/>
            <a:ext cx="10180015" cy="731520"/>
          </a:xfrm>
          <a:prstGeom prst="rect">
            <a:avLst/>
          </a:prstGeom>
          <a:noFill/>
        </p:spPr>
        <p:txBody>
          <a:bodyPr wrap="none">
            <a:spAutoFit/>
          </a:bodyPr>
          <a:lstStyle/>
          <a:p>
            <a:pPr algn="ctr">
              <a:defRPr sz="3600" b="1">
                <a:solidFill>
                  <a:srgbClr val="F37021"/>
                </a:solidFill>
                <a:latin typeface="Times New Roman"/>
              </a:defRPr>
            </a:pPr>
            <a:r>
              <a:t>XIN TRÂN TRỌNG CẢM ƠN!</a:t>
            </a:r>
          </a:p>
        </p:txBody>
      </p:sp>
      <p:sp>
        <p:nvSpPr>
          <p:cNvPr id="7" name="TextBox 6"/>
          <p:cNvSpPr txBox="1"/>
          <p:nvPr/>
        </p:nvSpPr>
        <p:spPr>
          <a:xfrm>
            <a:off x="1005840" y="2148840"/>
            <a:ext cx="10180015" cy="548640"/>
          </a:xfrm>
          <a:prstGeom prst="rect">
            <a:avLst/>
          </a:prstGeom>
          <a:noFill/>
        </p:spPr>
        <p:txBody>
          <a:bodyPr wrap="none">
            <a:spAutoFit/>
          </a:bodyPr>
          <a:lstStyle/>
          <a:p>
            <a:pPr algn="ctr">
              <a:defRPr sz="2000" b="1">
                <a:solidFill>
                  <a:srgbClr val="00254A"/>
                </a:solidFill>
                <a:latin typeface="Times New Roman"/>
              </a:defRPr>
            </a:pPr>
            <a:r>
              <a:t>Kính chúc Thầy/Cô và các bạn sinh viên luôn dồi dào sức khỏe, hạnh phúc và thành công!</a:t>
            </a:r>
          </a:p>
        </p:txBody>
      </p:sp>
      <p:sp>
        <p:nvSpPr>
          <p:cNvPr id="8" name="TextBox 7"/>
          <p:cNvSpPr txBox="1"/>
          <p:nvPr/>
        </p:nvSpPr>
        <p:spPr>
          <a:xfrm>
            <a:off x="1371600" y="2697480"/>
            <a:ext cx="9448495" cy="868680"/>
          </a:xfrm>
          <a:prstGeom prst="rect">
            <a:avLst/>
          </a:prstGeom>
          <a:noFill/>
        </p:spPr>
        <p:txBody>
          <a:bodyPr wrap="square">
            <a:spAutoFit/>
          </a:bodyPr>
          <a:lstStyle/>
          <a:p>
            <a:pPr algn="ctr">
              <a:defRPr sz="1700">
                <a:solidFill>
                  <a:srgbClr val="1E293B"/>
                </a:solidFill>
                <a:latin typeface="Times New Roman"/>
              </a:defRPr>
            </a:pPr>
            <a:r>
              <a:t>Nhóm 4 xin chân thành cảm ơn Thầy/Cô giảng viên bộ môn Giáo dục Quốc phòng &amp; An ninh cùng toàn thể các bạn sinh viên lớp học phần đã chú ý theo dõi và lắng nghe bài thuyết trình của nhóm.</a:t>
            </a:r>
          </a:p>
        </p:txBody>
      </p:sp>
      <p:sp>
        <p:nvSpPr>
          <p:cNvPr id="9" name="Rounded Rectangle 8"/>
          <p:cNvSpPr/>
          <p:nvPr/>
        </p:nvSpPr>
        <p:spPr>
          <a:xfrm>
            <a:off x="1280160" y="3657600"/>
            <a:ext cx="9631375" cy="1417320"/>
          </a:xfrm>
          <a:prstGeom prst="roundRect">
            <a:avLst/>
          </a:prstGeom>
          <a:solidFill>
            <a:srgbClr val="EBF3FA"/>
          </a:solidFill>
          <a:ln w="3175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bIns="137160"/>
          <a:lstStyle/>
          <a:p>
            <a:pPr algn="ctr">
              <a:defRPr sz="1400" b="1">
                <a:solidFill>
                  <a:srgbClr val="003B70"/>
                </a:solidFill>
                <a:latin typeface="Times New Roman"/>
              </a:defRPr>
            </a:pPr>
            <a:r>
              <a:t>★ THÔNG ĐIỆP BẾ MẠC:</a:t>
            </a:r>
          </a:p>
          <a:p>
            <a:pPr>
              <a:defRPr sz="1700" b="1" i="1">
                <a:solidFill>
                  <a:srgbClr val="00254A"/>
                </a:solidFill>
                <a:latin typeface="Times New Roman"/>
              </a:defRPr>
            </a:pPr>
            <a:r>
              <a:t>"Đạo đời hòa quyện, đồng hành cùng dân tộc - Đồng bào các tôn giáo chung tay xây dựng nước Việt Nam dân giàu, nước mạnh, dân chủ, công bằng, văn minh!"</a:t>
            </a:r>
          </a:p>
        </p:txBody>
      </p:sp>
      <p:sp>
        <p:nvSpPr>
          <p:cNvPr id="10" name="TextBox 9"/>
          <p:cNvSpPr txBox="1"/>
          <p:nvPr/>
        </p:nvSpPr>
        <p:spPr>
          <a:xfrm>
            <a:off x="1005840" y="5303520"/>
            <a:ext cx="10180015" cy="502920"/>
          </a:xfrm>
          <a:prstGeom prst="rect">
            <a:avLst/>
          </a:prstGeom>
          <a:noFill/>
        </p:spPr>
        <p:txBody>
          <a:bodyPr wrap="none">
            <a:spAutoFit/>
          </a:bodyPr>
          <a:lstStyle/>
          <a:p>
            <a:pPr algn="ctr">
              <a:defRPr sz="1400" b="1">
                <a:solidFill>
                  <a:srgbClr val="64748B"/>
                </a:solidFill>
                <a:latin typeface="Times New Roman"/>
              </a:defRPr>
            </a:pPr>
            <a:r>
              <a:t>Nhóm 4 (Lớp GDQP-AN)   •   Khoa Giáo dục Quốc phòng &amp; An ninh   •   Trường Đại học Đại Nam</a:t>
            </a:r>
          </a:p>
          <a:p>
            <a:pPr algn="ctr">
              <a:defRPr sz="1400" b="1">
                <a:solidFill>
                  <a:srgbClr val="F37021"/>
                </a:solidFill>
                <a:latin typeface="Times New Roman"/>
              </a:defRPr>
            </a:pPr>
            <a:r>
              <a:t>HỌC ĐỂ THAY ĐỔI   •   http://dainam.edu.vn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457200"/>
          </a:xfrm>
          <a:prstGeom prst="rect">
            <a:avLst/>
          </a:prstGeom>
          <a:noFill/>
        </p:spPr>
        <p:txBody>
          <a:bodyPr wrap="none">
            <a:spAutoFit/>
          </a:bodyPr>
          <a:lstStyle/>
          <a:p>
            <a:pPr algn="ctr">
              <a:defRPr sz="1400" b="1">
                <a:solidFill>
                  <a:srgbClr val="F37021"/>
                </a:solidFill>
                <a:latin typeface="Times New Roman"/>
              </a:defRPr>
            </a:pPr>
            <a:r>
              <a:t>TRƯỜNG ĐẠI HỌC ĐẠI NAM  •  HỌC ĐỂ THAY ĐỔI</a:t>
            </a:r>
          </a:p>
        </p:txBody>
      </p:sp>
      <p:sp>
        <p:nvSpPr>
          <p:cNvPr id="4" name="TextBox 3"/>
          <p:cNvSpPr txBox="1"/>
          <p:nvPr/>
        </p:nvSpPr>
        <p:spPr>
          <a:xfrm>
            <a:off x="1371600" y="1371600"/>
            <a:ext cx="9448495" cy="548640"/>
          </a:xfrm>
          <a:prstGeom prst="rect">
            <a:avLst/>
          </a:prstGeom>
          <a:noFill/>
        </p:spPr>
        <p:txBody>
          <a:bodyPr wrap="none">
            <a:spAutoFit/>
          </a:bodyPr>
          <a:lstStyle/>
          <a:p>
            <a:pPr algn="ctr">
              <a:defRPr sz="1500" b="1">
                <a:solidFill>
                  <a:srgbClr val="FFFFFF"/>
                </a:solidFill>
                <a:latin typeface="Times New Roman"/>
              </a:defRPr>
            </a:pPr>
            <a:r>
              <a:t>GIÁO DỤC QUỐC PHÒNG &amp; AN NINH (HỌC PHẦN 2) • VẤN ĐỀ 05</a:t>
            </a:r>
          </a:p>
        </p:txBody>
      </p:sp>
      <p:sp>
        <p:nvSpPr>
          <p:cNvPr id="5" name="TextBox 4"/>
          <p:cNvSpPr txBox="1"/>
          <p:nvPr/>
        </p:nvSpPr>
        <p:spPr>
          <a:xfrm>
            <a:off x="914400" y="2103120"/>
            <a:ext cx="10362895" cy="2560320"/>
          </a:xfrm>
          <a:prstGeom prst="rect">
            <a:avLst/>
          </a:prstGeom>
          <a:noFill/>
        </p:spPr>
        <p:txBody>
          <a:bodyPr wrap="square">
            <a:spAutoFit/>
          </a:bodyPr>
          <a:lstStyle/>
          <a:p>
            <a:pPr algn="ctr">
              <a:defRPr sz="3000" b="1">
                <a:solidFill>
                  <a:srgbClr val="F37021"/>
                </a:solidFill>
                <a:latin typeface="Times New Roman"/>
              </a:defRPr>
            </a:pPr>
            <a:r>
              <a:t>ÂM MƯU, THỦ ĐOẠN LỢI DỤNG VẤN ĐỀ DÂN TỘC VÀ CÁC GIẢI PHÁP CƠ BẢN PHÒNG, CHỐNG</a:t>
            </a:r>
          </a:p>
        </p:txBody>
      </p:sp>
      <p:sp>
        <p:nvSpPr>
          <p:cNvPr id="6" name="TextBox 5"/>
          <p:cNvSpPr txBox="1"/>
          <p:nvPr/>
        </p:nvSpPr>
        <p:spPr>
          <a:xfrm>
            <a:off x="914400" y="5303520"/>
            <a:ext cx="10362895" cy="731520"/>
          </a:xfrm>
          <a:prstGeom prst="rect">
            <a:avLst/>
          </a:prstGeom>
          <a:noFill/>
        </p:spPr>
        <p:txBody>
          <a:bodyPr wrap="none">
            <a:spAutoFit/>
          </a:bodyPr>
          <a:lstStyle/>
          <a:p>
            <a:pPr algn="ctr">
              <a:defRPr sz="1900" b="1">
                <a:solidFill>
                  <a:srgbClr val="FFFFFF"/>
                </a:solidFill>
                <a:latin typeface="Times New Roman"/>
              </a:defRPr>
            </a:pPr>
            <a:r>
              <a:t>Nhóm thực hiện: Nhóm 5 (Lớp GDQP-AN)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51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TỔNG QUAN BÀI HỌC</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Mục tiêu &amp; Khung nội dung thuyết trình</a:t>
            </a:r>
          </a:p>
        </p:txBody>
      </p:sp>
      <p:sp>
        <p:nvSpPr>
          <p:cNvPr id="11" name="Rounded Rectangle 10"/>
          <p:cNvSpPr/>
          <p:nvPr/>
        </p:nvSpPr>
        <p:spPr>
          <a:xfrm>
            <a:off x="548640" y="1572768"/>
            <a:ext cx="6217920" cy="1420368"/>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01. Âm mưu &amp; 4 Thủ đoạn</a:t>
            </a:r>
          </a:p>
          <a:p>
            <a:pPr>
              <a:defRPr sz="1700">
                <a:solidFill>
                  <a:srgbClr val="1E293B"/>
                </a:solidFill>
                <a:latin typeface="Times New Roman"/>
              </a:defRPr>
            </a:pPr>
            <a:r>
              <a:t>• Âm mưu: Dùng vấn đề dân tộc làm 'ngòi nổ' Diễn biến hòa bình, kích động ly khai, tự trị.</a:t>
            </a:r>
          </a:p>
          <a:p>
            <a:pPr>
              <a:defRPr sz="1700">
                <a:solidFill>
                  <a:srgbClr val="1E293B"/>
                </a:solidFill>
                <a:latin typeface="Times New Roman"/>
              </a:defRPr>
            </a:pPr>
            <a:r>
              <a:t>• 4 thủ đoạn: Xuyên tạc lịch sử; kích động tranh chấp đất đai; tài trợ FULRO; quốc tế hóa nhân quyền.</a:t>
            </a:r>
          </a:p>
        </p:txBody>
      </p:sp>
      <p:sp>
        <p:nvSpPr>
          <p:cNvPr id="12" name="Rounded Rectangle 11"/>
          <p:cNvSpPr/>
          <p:nvPr/>
        </p:nvSpPr>
        <p:spPr>
          <a:xfrm>
            <a:off x="548640" y="3102864"/>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02. 4 Giải pháp Chiến lược</a:t>
            </a:r>
          </a:p>
          <a:p>
            <a:pPr>
              <a:defRPr sz="1700">
                <a:solidFill>
                  <a:srgbClr val="1E293B"/>
                </a:solidFill>
                <a:latin typeface="Times New Roman"/>
              </a:defRPr>
            </a:pPr>
            <a:r>
              <a:t>• GP1: Đẩy mạnh tuyên truyền tạo 'miễn dịch tư tưởng'.</a:t>
            </a:r>
          </a:p>
          <a:p>
            <a:pPr>
              <a:defRPr sz="1700">
                <a:solidFill>
                  <a:srgbClr val="1E293B"/>
                </a:solidFill>
                <a:latin typeface="Times New Roman"/>
              </a:defRPr>
            </a:pPr>
            <a:r>
              <a:t>• GP2: Phát triển KT-XH tăng 'nội lực xã hội'.</a:t>
            </a:r>
          </a:p>
          <a:p>
            <a:pPr>
              <a:defRPr sz="1700">
                <a:solidFill>
                  <a:srgbClr val="1E293B"/>
                </a:solidFill>
                <a:latin typeface="Times New Roman"/>
              </a:defRPr>
            </a:pPr>
            <a:r>
              <a:t>• GP3: Xây dựng hệ thống chính trị cơ sở vững mạnh (then chốt).</a:t>
            </a:r>
          </a:p>
          <a:p>
            <a:pPr>
              <a:defRPr sz="1700">
                <a:solidFill>
                  <a:srgbClr val="1E293B"/>
                </a:solidFill>
                <a:latin typeface="Times New Roman"/>
              </a:defRPr>
            </a:pPr>
            <a:r>
              <a:t>• GP4: Chủ động đấu tranh và xử lý dứt điểm điểm nóng.</a:t>
            </a:r>
          </a:p>
        </p:txBody>
      </p:sp>
      <p:sp>
        <p:nvSpPr>
          <p:cNvPr id="13" name="Rounded Rectangle 12"/>
          <p:cNvSpPr/>
          <p:nvPr/>
        </p:nvSpPr>
        <p:spPr>
          <a:xfrm>
            <a:off x="548640" y="4632960"/>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03. Trách nhiệm Sinh viên DNU</a:t>
            </a:r>
          </a:p>
          <a:p>
            <a:pPr>
              <a:defRPr sz="1700">
                <a:solidFill>
                  <a:srgbClr val="1E293B"/>
                </a:solidFill>
                <a:latin typeface="Times New Roman"/>
              </a:defRPr>
            </a:pPr>
            <a:r>
              <a:t>• Tuyệt đối trung thành với Đảng, tu dưỡng đạo đức, nâng cao cảnh giác, xung kích bảo vệ Tổ quốc.</a:t>
            </a:r>
          </a:p>
        </p:txBody>
      </p:sp>
      <p:sp>
        <p:nvSpPr>
          <p:cNvPr id="14" name="Rounded Rectangle 13"/>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etnam_defense.jpg"/>
          <p:cNvPicPr>
            <a:picLocks noChangeAspect="1"/>
          </p:cNvPicPr>
          <p:nvPr/>
        </p:nvPicPr>
        <p:blipFill>
          <a:blip r:embed="rId3"/>
          <a:stretch>
            <a:fillRect/>
          </a:stretch>
        </p:blipFill>
        <p:spPr>
          <a:xfrm>
            <a:off x="7040880" y="1630485"/>
            <a:ext cx="4602175" cy="3313566"/>
          </a:xfrm>
          <a:prstGeom prst="rect">
            <a:avLst/>
          </a:prstGeom>
        </p:spPr>
      </p:pic>
      <p:sp>
        <p:nvSpPr>
          <p:cNvPr id="16" name="TextBox 15"/>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Giữ vững thế trận lòng dân: Nhận diện chuẩn xác âm mưu và thực hiện đồng bộ 4 giải pháp là chìa khóa giữ vững bình yên Tổ quốc.</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52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NHẬN DIỆN ÂM MƯU</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Âm mưu thù địch: Lấy vấn đề dân tộc làm “Ngòi nổ”</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Vị trí 'Ngòi nổ' trong Diễn biến hòa bình</a:t>
            </a:r>
          </a:p>
          <a:p>
            <a:pPr>
              <a:defRPr sz="1700">
                <a:solidFill>
                  <a:srgbClr val="1E293B"/>
                </a:solidFill>
                <a:latin typeface="Times New Roman"/>
              </a:defRPr>
            </a:pPr>
            <a:r>
              <a:t>• Kẻ địch coi dân tộc là mũi nhọn dễ kích động nhất để gây mất ổn định chính trị từ bên trong.</a:t>
            </a:r>
          </a:p>
          <a:p>
            <a:pPr>
              <a:defRPr sz="1700">
                <a:solidFill>
                  <a:srgbClr val="1E293B"/>
                </a:solidFill>
                <a:latin typeface="Times New Roman"/>
              </a:defRPr>
            </a:pPr>
            <a:r>
              <a:t>• Mục tiêu cốt lõi: Phá vỡ khối đại đoàn kết toàn dân tộc, cô lập Đảng với nhân dân.</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Hai Mục tiêu Chiến lược của Địch</a:t>
            </a:r>
          </a:p>
          <a:p>
            <a:pPr>
              <a:defRPr sz="1700">
                <a:solidFill>
                  <a:srgbClr val="1E293B"/>
                </a:solidFill>
                <a:latin typeface="Times New Roman"/>
              </a:defRPr>
            </a:pPr>
            <a:r>
              <a:t>• Trong nước: Tạo các 'điểm nóng chính trị', kích động bạo loạn, làm suy yếu chính quyền.</a:t>
            </a:r>
          </a:p>
          <a:p>
            <a:pPr>
              <a:defRPr sz="1700">
                <a:solidFill>
                  <a:srgbClr val="1E293B"/>
                </a:solidFill>
                <a:latin typeface="Times New Roman"/>
              </a:defRPr>
            </a:pPr>
            <a:r>
              <a:t>• Quốc tế: Quốc tế hóa vấn đề dân tộc, vu cáo vi phạm nhân quyền, tạo cớ can thiệp ngoại giao.</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highland.jpg"/>
          <p:cNvPicPr>
            <a:picLocks noChangeAspect="1"/>
          </p:cNvPicPr>
          <p:nvPr/>
        </p:nvPicPr>
        <p:blipFill>
          <a:blip r:embed="rId3"/>
          <a:stretch>
            <a:fillRect/>
          </a:stretch>
        </p:blipFill>
        <p:spPr>
          <a:xfrm>
            <a:off x="7040880" y="1751292"/>
            <a:ext cx="4602175" cy="3071951"/>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Địa bàn trọng điểm: Tây Nguyên, Tây Bắc và Tây Nam Bộ là 3 địa bàn bị kẻ xấu tập trung chống phá do vị trí biên giới hiểm trở và đời sống còn khó khăn.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53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THỦ ĐOẠN CHỐNG PHÁ</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Bốn thủ đoạn chống phá Cực kỳ tinh vi &amp; nguy hiểm</a:t>
            </a:r>
          </a:p>
        </p:txBody>
      </p:sp>
      <p:sp>
        <p:nvSpPr>
          <p:cNvPr id="11" name="Rounded Rectangle 10"/>
          <p:cNvSpPr/>
          <p:nvPr/>
        </p:nvSpPr>
        <p:spPr>
          <a:xfrm>
            <a:off x="548640" y="1572768"/>
            <a:ext cx="6217920" cy="1037844"/>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Xuyên tạc lịch sử &amp; Kích động hằn thù</a:t>
            </a:r>
          </a:p>
          <a:p>
            <a:pPr>
              <a:defRPr sz="1700">
                <a:solidFill>
                  <a:srgbClr val="1E293B"/>
                </a:solidFill>
                <a:latin typeface="Times New Roman"/>
              </a:defRPr>
            </a:pPr>
            <a:r>
              <a:t>• Kích động tư tưởng dân tộc hẹp hòi, rêu rao luận điệu người Kinh 'xâm chiếm đất đai, đồng hóa văn hóa'.</a:t>
            </a:r>
          </a:p>
        </p:txBody>
      </p:sp>
      <p:sp>
        <p:nvSpPr>
          <p:cNvPr id="12" name="Rounded Rectangle 11"/>
          <p:cNvSpPr/>
          <p:nvPr/>
        </p:nvSpPr>
        <p:spPr>
          <a:xfrm>
            <a:off x="548640" y="2720340"/>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Lợi dụng tôn giáo lập tà đạo</a:t>
            </a:r>
          </a:p>
          <a:p>
            <a:pPr>
              <a:defRPr sz="1700">
                <a:solidFill>
                  <a:srgbClr val="1E293B"/>
                </a:solidFill>
                <a:latin typeface="Times New Roman"/>
              </a:defRPr>
            </a:pPr>
            <a:r>
              <a:t>• Thành lập 'Tin lành Đề Ga', 'Hà Mòn' để tập hợp lực lượng, lén lút sinh hoạt chính trị dưới vỏ bọc tôn giáo.</a:t>
            </a:r>
          </a:p>
        </p:txBody>
      </p:sp>
      <p:sp>
        <p:nvSpPr>
          <p:cNvPr id="13" name="Rounded Rectangle 12"/>
          <p:cNvSpPr/>
          <p:nvPr/>
        </p:nvSpPr>
        <p:spPr>
          <a:xfrm>
            <a:off x="548640" y="3867912"/>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3. Nuôi dưỡng tổ chức phản động lưu vong</a:t>
            </a:r>
          </a:p>
          <a:p>
            <a:pPr>
              <a:defRPr sz="1700">
                <a:solidFill>
                  <a:srgbClr val="1E293B"/>
                </a:solidFill>
                <a:latin typeface="Times New Roman"/>
              </a:defRPr>
            </a:pPr>
            <a:r>
              <a:t>• Duy trì tàn dư FULRO, tổ chức 'Người Thượng vì Công lý' ở nước ngoài tài trợ tiền, vũ khí kích động bạo loạn.</a:t>
            </a:r>
          </a:p>
        </p:txBody>
      </p:sp>
      <p:sp>
        <p:nvSpPr>
          <p:cNvPr id="14" name="Rounded Rectangle 13"/>
          <p:cNvSpPr/>
          <p:nvPr/>
        </p:nvSpPr>
        <p:spPr>
          <a:xfrm>
            <a:off x="548640" y="5015484"/>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4. Triệt để lợi dụng mạng xã hội</a:t>
            </a:r>
          </a:p>
          <a:p>
            <a:pPr>
              <a:defRPr sz="1700">
                <a:solidFill>
                  <a:srgbClr val="1E293B"/>
                </a:solidFill>
                <a:latin typeface="Times New Roman"/>
              </a:defRPr>
            </a:pPr>
            <a:r>
              <a:t>• Lập trang mạng giả mạo phát tán video cắt ghép, kích động khiếu kiện đông người và chống chính quyền.</a:t>
            </a:r>
          </a:p>
        </p:txBody>
      </p:sp>
      <p:sp>
        <p:nvSpPr>
          <p:cNvPr id="15" name="Rounded Rectangle 14"/>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vietnam_cyber.jpg"/>
          <p:cNvPicPr>
            <a:picLocks noChangeAspect="1"/>
          </p:cNvPicPr>
          <p:nvPr/>
        </p:nvPicPr>
        <p:blipFill>
          <a:blip r:embed="rId3"/>
          <a:stretch>
            <a:fillRect/>
          </a:stretch>
        </p:blipFill>
        <p:spPr>
          <a:xfrm>
            <a:off x="7040880" y="1751292"/>
            <a:ext cx="4602175" cy="3071951"/>
          </a:xfrm>
          <a:prstGeom prst="rect">
            <a:avLst/>
          </a:prstGeom>
        </p:spPr>
      </p:pic>
      <p:sp>
        <p:nvSpPr>
          <p:cNvPr id="17" name="TextBox 16"/>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Mặt trận không gian mạng: Kẻ xấu triệt để khai thác Internet để lôi kéo thanh niên nhẹ dạ. Nâng cao kỹ năng nhận diện thông tin độc hại là yêu cầu bức thiết.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54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BÀI HỌC THỰC TIỄN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Case Study: Bạo loạn Tây Nguyên (2001, 2004) &amp; Bài học</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Bản chất &amp; Diễn biến Vụ việc</a:t>
            </a:r>
          </a:p>
          <a:p>
            <a:pPr>
              <a:defRPr sz="1700">
                <a:solidFill>
                  <a:srgbClr val="1E293B"/>
                </a:solidFill>
                <a:latin typeface="Times New Roman"/>
              </a:defRPr>
            </a:pPr>
            <a:r>
              <a:t>• Tháng 2/2001 và 4/2004: FULRO lưu vong (Ksor Kơk) xúi giục hàng ngàn đồng bào biểu tình tại Gia Lai, Đắk Lắk, đòi lập 'Nhà nước Đề Ga'.</a:t>
            </a:r>
          </a:p>
          <a:p>
            <a:pPr>
              <a:defRPr sz="1700">
                <a:solidFill>
                  <a:srgbClr val="1E293B"/>
                </a:solidFill>
                <a:latin typeface="Times New Roman"/>
              </a:defRPr>
            </a:pPr>
            <a:r>
              <a:t>• Ngày 11/6/2023: Nhóm vũ trang tấn công 2 trụ sở xã tại Đắk Lắk sát hại dã man cán bộ và người dân.</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Ba Bài học Xương máu</a:t>
            </a:r>
          </a:p>
          <a:p>
            <a:pPr>
              <a:defRPr sz="1700">
                <a:solidFill>
                  <a:srgbClr val="1E293B"/>
                </a:solidFill>
                <a:latin typeface="Times New Roman"/>
              </a:defRPr>
            </a:pPr>
            <a:r>
              <a:t>• Không để bị động bất ngờ: Nắm chắc tình hình buôn làng, lắng nghe tâm tư nguyện vọng của dân.</a:t>
            </a:r>
          </a:p>
          <a:p>
            <a:pPr>
              <a:defRPr sz="1700">
                <a:solidFill>
                  <a:srgbClr val="1E293B"/>
                </a:solidFill>
                <a:latin typeface="Times New Roman"/>
              </a:defRPr>
            </a:pPr>
            <a:r>
              <a:t>• Phát huy vai trò người có uy tín: Già làng, Trưởng bản là cầu nối tin cậy giúp bà con nhận rõ lẽ phải.</a:t>
            </a:r>
          </a:p>
          <a:p>
            <a:pPr>
              <a:defRPr sz="1700">
                <a:solidFill>
                  <a:srgbClr val="1E293B"/>
                </a:solidFill>
                <a:latin typeface="Times New Roman"/>
              </a:defRPr>
            </a:pPr>
            <a:r>
              <a:t>• Chăm lo sinh kế bền vững: Giải quyết căn bản vấn đề đất sản xuất, nước sinh hoạt và việc làm.</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nature.jpg"/>
          <p:cNvPicPr>
            <a:picLocks noChangeAspect="1"/>
          </p:cNvPicPr>
          <p:nvPr/>
        </p:nvPicPr>
        <p:blipFill>
          <a:blip r:embed="rId3"/>
          <a:stretch>
            <a:fillRect/>
          </a:stretch>
        </p:blipFill>
        <p:spPr>
          <a:xfrm>
            <a:off x="7040880" y="1753210"/>
            <a:ext cx="4602175" cy="306811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Bài học cảnh giác: Khi kinh tế phát triển, đời sống bà con được nâng cao và hệ thống chính trị vững mạnh thì không âm mưu nào chia rẽ được lòng dân.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55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GIẢI PHÁP CHIẾN LƯỢC</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Giải pháp 1 &amp; 2: Tạo “Miễn dịch tư tưởng” &amp; Tăng “Nội lực xã hội”</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Giải pháp 1: Tuyên truyền tạo 'Miễn dịch tư tưởng'</a:t>
            </a:r>
          </a:p>
          <a:p>
            <a:pPr>
              <a:defRPr sz="1700">
                <a:solidFill>
                  <a:srgbClr val="1E293B"/>
                </a:solidFill>
                <a:latin typeface="Times New Roman"/>
              </a:defRPr>
            </a:pPr>
            <a:r>
              <a:t>• Tuyên truyền sâu rộng chủ trương dân tộc của Đảng và pháp luật Nhà nước.</a:t>
            </a:r>
          </a:p>
          <a:p>
            <a:pPr>
              <a:defRPr sz="1700">
                <a:solidFill>
                  <a:srgbClr val="1E293B"/>
                </a:solidFill>
                <a:latin typeface="Times New Roman"/>
              </a:defRPr>
            </a:pPr>
            <a:r>
              <a:t>• Vạch trần bản chất phản động của FULRO, 'Nhà nước Đề Ga', 'Tin lành Đề Ga'.</a:t>
            </a:r>
          </a:p>
          <a:p>
            <a:pPr>
              <a:defRPr sz="1700">
                <a:solidFill>
                  <a:srgbClr val="1E293B"/>
                </a:solidFill>
                <a:latin typeface="Times New Roman"/>
              </a:defRPr>
            </a:pPr>
            <a:r>
              <a:t>• Đổi mới phương thức: Dùng tiếng mẹ đẻ của đồng bào, phát thanh truyền hình tiếng dân tộc.</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Giải pháp 2: Phát triển KT-XH tăng 'Nội lực xã hội'</a:t>
            </a:r>
          </a:p>
          <a:p>
            <a:pPr>
              <a:defRPr sz="1700">
                <a:solidFill>
                  <a:srgbClr val="1E293B"/>
                </a:solidFill>
                <a:latin typeface="Times New Roman"/>
              </a:defRPr>
            </a:pPr>
            <a:r>
              <a:t>• Đẩy mạnh giảm nghèo bền vững, xây dựng nông thôn mới vùng sâu vùng xa.</a:t>
            </a:r>
          </a:p>
          <a:p>
            <a:pPr>
              <a:defRPr sz="1700">
                <a:solidFill>
                  <a:srgbClr val="1E293B"/>
                </a:solidFill>
                <a:latin typeface="Times New Roman"/>
              </a:defRPr>
            </a:pPr>
            <a:r>
              <a:t>• Giải quyết đất ở, đất sản xuất, nước sinh hoạt và đào tạo nghề cho thanh niên DTTS.</a:t>
            </a:r>
          </a:p>
          <a:p>
            <a:pPr>
              <a:defRPr sz="1700">
                <a:solidFill>
                  <a:srgbClr val="1E293B"/>
                </a:solidFill>
                <a:latin typeface="Times New Roman"/>
              </a:defRPr>
            </a:pPr>
            <a:r>
              <a:t>• Bảo tồn và phát huy bản sắc văn hóa truyền thống tốt đẹp.</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highland.jpg"/>
          <p:cNvPicPr>
            <a:picLocks noChangeAspect="1"/>
          </p:cNvPicPr>
          <p:nvPr/>
        </p:nvPicPr>
        <p:blipFill>
          <a:blip r:embed="rId3"/>
          <a:stretch>
            <a:fillRect/>
          </a:stretch>
        </p:blipFill>
        <p:spPr>
          <a:xfrm>
            <a:off x="7040880" y="1751292"/>
            <a:ext cx="4602175" cy="3071951"/>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Phát triển kinh tế là nền tảng: No ấm, bình yên chính là bức tường thành vững chắc nhất. Đời sống no đủ thì kẻ xấu không còn đất kích động.</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56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GIẢI PHÁP THEN CHỐT</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Giải pháp 3: Xây dựng hệ thống chính trị cơ sở Vững mạnh</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Vị trí Then chốt của Hệ thống Cơ sở</a:t>
            </a:r>
          </a:p>
          <a:p>
            <a:pPr>
              <a:defRPr sz="1700">
                <a:solidFill>
                  <a:srgbClr val="1E293B"/>
                </a:solidFill>
                <a:latin typeface="Times New Roman"/>
              </a:defRPr>
            </a:pPr>
            <a:r>
              <a:t>• Cơ sở (xã, thôn, buôn làng) là nơi trực tiếp đưa chủ trương đến với nhân dân.</a:t>
            </a:r>
          </a:p>
          <a:p>
            <a:pPr>
              <a:defRPr sz="1700">
                <a:solidFill>
                  <a:srgbClr val="1E293B"/>
                </a:solidFill>
                <a:latin typeface="Times New Roman"/>
              </a:defRPr>
            </a:pPr>
            <a:r>
              <a:t>• Tuyến đầu phát hiện và ngăn chặn mọi biểu hiện mất ổn định an ninh trật tự.</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3. Ba Nhiệm vụ Trọng tâm Cần thực hiện</a:t>
            </a:r>
          </a:p>
          <a:p>
            <a:pPr>
              <a:defRPr sz="1700">
                <a:solidFill>
                  <a:srgbClr val="1E293B"/>
                </a:solidFill>
                <a:latin typeface="Times New Roman"/>
              </a:defRPr>
            </a:pPr>
            <a:r>
              <a:t>• Kiện toàn tổ chức: Nâng cao sức chiến đấu của chi bộ Đảng thôn buôn; xóa thôn buôn 'trắng đảng viên'.</a:t>
            </a:r>
          </a:p>
          <a:p>
            <a:pPr>
              <a:defRPr sz="1700">
                <a:solidFill>
                  <a:srgbClr val="1E293B"/>
                </a:solidFill>
                <a:latin typeface="Times New Roman"/>
              </a:defRPr>
            </a:pPr>
            <a:r>
              <a:t>• Đào tạo cán bộ DTTS: Bố trí cán bộ là người bản địa am hiểu phong tục tập quán.</a:t>
            </a:r>
          </a:p>
          <a:p>
            <a:pPr>
              <a:defRPr sz="1700">
                <a:solidFill>
                  <a:srgbClr val="1E293B"/>
                </a:solidFill>
                <a:latin typeface="Times New Roman"/>
              </a:defRPr>
            </a:pPr>
            <a:r>
              <a:t>• Phát huy Già làng, Trưởng bản: Tôn vinh và phát huy vai trò người có uy tín trong hòa giải cơ sở.</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unity.jpg"/>
          <p:cNvPicPr>
            <a:picLocks noChangeAspect="1"/>
          </p:cNvPicPr>
          <p:nvPr/>
        </p:nvPicPr>
        <p:blipFill>
          <a:blip r:embed="rId3"/>
          <a:stretch>
            <a:fillRect/>
          </a:stretch>
        </p:blipFill>
        <p:spPr>
          <a:xfrm>
            <a:off x="7040880" y="1753210"/>
            <a:ext cx="4602175" cy="306811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Gần dân, hiểu dân: Cán bộ cơ sở thực hiện tốt 'Cùng ăn, cùng ở, cùng làm, cùng nói tiếng dân tộc' để củng cố vững chắc niềm tin của nhân dân.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57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ĐẤU TRANH &amp; XỬ LÝ</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Giải pháp 4: Chủ động đấu tranh tư tưởng &amp; Xử lý dứt điểm điểm nóng</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Chủ động Đấu tranh Tư tưởng - Lý luận</a:t>
            </a:r>
          </a:p>
          <a:p>
            <a:pPr>
              <a:defRPr sz="1700">
                <a:solidFill>
                  <a:srgbClr val="1E293B"/>
                </a:solidFill>
                <a:latin typeface="Times New Roman"/>
              </a:defRPr>
            </a:pPr>
            <a:r>
              <a:t>• Kịp thời vạch trần các luận điệu vu cáo, xuyên tạc của các thế lực thù địch.</a:t>
            </a:r>
          </a:p>
          <a:p>
            <a:pPr>
              <a:defRPr sz="1700">
                <a:solidFill>
                  <a:srgbClr val="1E293B"/>
                </a:solidFill>
                <a:latin typeface="Times New Roman"/>
              </a:defRPr>
            </a:pPr>
            <a:r>
              <a:t>• Vô hiệu hóa hoạt động của hội nhóm phản động lưu vong; cô lập phần tử kích động.</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Nguyên tắc Xử lý Điểm nóng Dân tộc</a:t>
            </a:r>
          </a:p>
          <a:p>
            <a:pPr>
              <a:defRPr sz="1700">
                <a:solidFill>
                  <a:srgbClr val="1E293B"/>
                </a:solidFill>
                <a:latin typeface="Times New Roman"/>
              </a:defRPr>
            </a:pPr>
            <a:r>
              <a:t>• Thực hiện phương châm '4 tại chỗ': Chỉ huy, lực lượng, phương tiện, hậu cần tại chỗ.</a:t>
            </a:r>
          </a:p>
          <a:p>
            <a:pPr>
              <a:defRPr sz="1700">
                <a:solidFill>
                  <a:srgbClr val="1E293B"/>
                </a:solidFill>
                <a:latin typeface="Times New Roman"/>
              </a:defRPr>
            </a:pPr>
            <a:r>
              <a:t>• Dập tắt mầm mống bất ổn ngay từ cơ sở, không để lan rộng hay quốc tế hóa.</a:t>
            </a:r>
          </a:p>
          <a:p>
            <a:pPr>
              <a:defRPr sz="1700">
                <a:solidFill>
                  <a:srgbClr val="1E293B"/>
                </a:solidFill>
                <a:latin typeface="Times New Roman"/>
              </a:defRPr>
            </a:pPr>
            <a:r>
              <a:t>• Phân hóa đối tượng: Trừng trị nghiêm kẻ chủ mưu; bao dung người bị lừa gạt.</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law.jpg"/>
          <p:cNvPicPr>
            <a:picLocks noChangeAspect="1"/>
          </p:cNvPicPr>
          <p:nvPr/>
        </p:nvPicPr>
        <p:blipFill>
          <a:blip r:embed="rId3"/>
          <a:stretch>
            <a:fillRect/>
          </a:stretch>
        </p:blipFill>
        <p:spPr>
          <a:xfrm>
            <a:off x="7040880" y="1753210"/>
            <a:ext cx="4602175" cy="306811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Bình yên từ sự chủ động: Pháp luật nghiêm minh trừng trị kẻ phá hoại, song chính sách nhân văn luôn rộng mở đón người lầm đường trở về buôn làng.</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58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77240"/>
            <a:ext cx="11094415" cy="548640"/>
          </a:xfrm>
          <a:prstGeom prst="rect">
            <a:avLst/>
          </a:prstGeom>
          <a:noFill/>
        </p:spPr>
        <p:txBody>
          <a:bodyPr wrap="none">
            <a:spAutoFit/>
          </a:bodyPr>
          <a:lstStyle/>
          <a:p>
            <a:pPr>
              <a:defRPr sz="2300" b="1">
                <a:solidFill>
                  <a:srgbClr val="00254A"/>
                </a:solidFill>
                <a:latin typeface="Times New Roman"/>
              </a:defRPr>
            </a:pPr>
            <a:r>
              <a:t>Sơ đồ tư duy: Âm mưu của địch &amp; 4 Giải pháp phòng chống</a:t>
            </a:r>
          </a:p>
        </p:txBody>
      </p:sp>
      <p:sp>
        <p:nvSpPr>
          <p:cNvPr id="10" name="Rounded Rectangle 9"/>
          <p:cNvSpPr/>
          <p:nvPr/>
        </p:nvSpPr>
        <p:spPr>
          <a:xfrm>
            <a:off x="1294790" y="1389888"/>
            <a:ext cx="9601200" cy="777240"/>
          </a:xfrm>
          <a:prstGeom prst="roundRect">
            <a:avLst/>
          </a:prstGeom>
          <a:solidFill>
            <a:srgbClr val="00254A"/>
          </a:solidFill>
          <a:ln w="3175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latin typeface="Times New Roman"/>
              </a:defRPr>
            </a:pPr>
            <a:r>
              <a:t>PHÒNG CHỐNG ĐỊCH LỢI DỤNG VẤN ĐỀ DÂN TỘC CHỐNG PHÁ VIỆT NAM</a:t>
            </a:r>
          </a:p>
        </p:txBody>
      </p:sp>
      <p:sp>
        <p:nvSpPr>
          <p:cNvPr id="11" name="Rounded Rectangle 10"/>
          <p:cNvSpPr/>
          <p:nvPr/>
        </p:nvSpPr>
        <p:spPr>
          <a:xfrm>
            <a:off x="548640" y="2377440"/>
            <a:ext cx="2560320" cy="297180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1. ÂM MƯU CỦA ĐỊCH</a:t>
            </a:r>
          </a:p>
          <a:p>
            <a:pPr>
              <a:defRPr sz="1600">
                <a:solidFill>
                  <a:srgbClr val="1E293B"/>
                </a:solidFill>
                <a:latin typeface="Times New Roman"/>
              </a:defRPr>
            </a:pPr>
            <a:r>
              <a:t>• Lấy dân tộc làm 'ngòi nổ'</a:t>
            </a:r>
          </a:p>
          <a:p>
            <a:pPr>
              <a:defRPr sz="1600">
                <a:solidFill>
                  <a:srgbClr val="1E293B"/>
                </a:solidFill>
                <a:latin typeface="Times New Roman"/>
              </a:defRPr>
            </a:pPr>
            <a:r>
              <a:t>• Xuyên tạc lịch sử, kích động ly khai</a:t>
            </a:r>
          </a:p>
          <a:p>
            <a:pPr>
              <a:defRPr sz="1600">
                <a:solidFill>
                  <a:srgbClr val="1E293B"/>
                </a:solidFill>
                <a:latin typeface="Times New Roman"/>
              </a:defRPr>
            </a:pPr>
            <a:r>
              <a:t>• Nuôi dưỡng FULRO bạo loạn</a:t>
            </a:r>
          </a:p>
          <a:p>
            <a:pPr>
              <a:defRPr sz="1600">
                <a:solidFill>
                  <a:srgbClr val="1E293B"/>
                </a:solidFill>
                <a:latin typeface="Times New Roman"/>
              </a:defRPr>
            </a:pPr>
            <a:r>
              <a:t>• Quốc tế hóa vấn đề nhân quyền</a:t>
            </a:r>
          </a:p>
        </p:txBody>
      </p:sp>
      <p:sp>
        <p:nvSpPr>
          <p:cNvPr id="12" name="Rounded Rectangle 11"/>
          <p:cNvSpPr/>
          <p:nvPr/>
        </p:nvSpPr>
        <p:spPr>
          <a:xfrm>
            <a:off x="3392424" y="2377440"/>
            <a:ext cx="2560320" cy="29718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2. GP 1 &amp; 2 (NỘI LỰC)</a:t>
            </a:r>
          </a:p>
          <a:p>
            <a:pPr>
              <a:defRPr sz="1600">
                <a:solidFill>
                  <a:srgbClr val="1E293B"/>
                </a:solidFill>
                <a:latin typeface="Times New Roman"/>
              </a:defRPr>
            </a:pPr>
            <a:r>
              <a:t>• GP1: Tuyên truyền tạo miễn dịch tư tưởng</a:t>
            </a:r>
          </a:p>
          <a:p>
            <a:pPr>
              <a:defRPr sz="1600">
                <a:solidFill>
                  <a:srgbClr val="1E293B"/>
                </a:solidFill>
                <a:latin typeface="Times New Roman"/>
              </a:defRPr>
            </a:pPr>
            <a:r>
              <a:t>• GP2: Phát triển KT-XH tăng nội lực</a:t>
            </a:r>
          </a:p>
          <a:p>
            <a:pPr>
              <a:defRPr sz="1600">
                <a:solidFill>
                  <a:srgbClr val="1E293B"/>
                </a:solidFill>
                <a:latin typeface="Times New Roman"/>
              </a:defRPr>
            </a:pPr>
            <a:r>
              <a:t>• Chăm lo đất sản xuất, việc làm</a:t>
            </a:r>
          </a:p>
        </p:txBody>
      </p:sp>
      <p:sp>
        <p:nvSpPr>
          <p:cNvPr id="13" name="Rounded Rectangle 12"/>
          <p:cNvSpPr/>
          <p:nvPr/>
        </p:nvSpPr>
        <p:spPr>
          <a:xfrm>
            <a:off x="6236208" y="2377440"/>
            <a:ext cx="2560320" cy="29718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3. GP 3 (THEN CHỐT)</a:t>
            </a:r>
          </a:p>
          <a:p>
            <a:pPr>
              <a:defRPr sz="1600">
                <a:solidFill>
                  <a:srgbClr val="1E293B"/>
                </a:solidFill>
                <a:latin typeface="Times New Roman"/>
              </a:defRPr>
            </a:pPr>
            <a:r>
              <a:t>• Xây dựng chính trị cơ sở vững chắc</a:t>
            </a:r>
          </a:p>
          <a:p>
            <a:pPr>
              <a:defRPr sz="1600">
                <a:solidFill>
                  <a:srgbClr val="1E293B"/>
                </a:solidFill>
                <a:latin typeface="Times New Roman"/>
              </a:defRPr>
            </a:pPr>
            <a:r>
              <a:t>• Đào tạo cán bộ là người DTTS</a:t>
            </a:r>
          </a:p>
          <a:p>
            <a:pPr>
              <a:defRPr sz="1600">
                <a:solidFill>
                  <a:srgbClr val="1E293B"/>
                </a:solidFill>
                <a:latin typeface="Times New Roman"/>
              </a:defRPr>
            </a:pPr>
            <a:r>
              <a:t>• Phát huy vai trò Già làng, Trưởng bản</a:t>
            </a:r>
          </a:p>
        </p:txBody>
      </p:sp>
      <p:sp>
        <p:nvSpPr>
          <p:cNvPr id="14" name="Rounded Rectangle 13"/>
          <p:cNvSpPr/>
          <p:nvPr/>
        </p:nvSpPr>
        <p:spPr>
          <a:xfrm>
            <a:off x="9079992" y="2377440"/>
            <a:ext cx="2560320" cy="297180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4. GP 4 (ĐẤU TRANH)</a:t>
            </a:r>
          </a:p>
          <a:p>
            <a:pPr>
              <a:defRPr sz="1600">
                <a:solidFill>
                  <a:srgbClr val="1E293B"/>
                </a:solidFill>
                <a:latin typeface="Times New Roman"/>
              </a:defRPr>
            </a:pPr>
            <a:r>
              <a:t>• Chủ động đấu tranh tư tưởng</a:t>
            </a:r>
          </a:p>
          <a:p>
            <a:pPr>
              <a:defRPr sz="1600">
                <a:solidFill>
                  <a:srgbClr val="1E293B"/>
                </a:solidFill>
                <a:latin typeface="Times New Roman"/>
              </a:defRPr>
            </a:pPr>
            <a:r>
              <a:t>• Xử lý điểm nóng theo '4 tại chỗ'</a:t>
            </a:r>
          </a:p>
          <a:p>
            <a:pPr>
              <a:defRPr sz="1600">
                <a:solidFill>
                  <a:srgbClr val="1E293B"/>
                </a:solidFill>
                <a:latin typeface="Times New Roman"/>
              </a:defRPr>
            </a:pPr>
            <a:r>
              <a:t>• Trừng trị kẻ đầu sỏ, khoan hồng</a:t>
            </a:r>
          </a:p>
        </p:txBody>
      </p:sp>
      <p:sp>
        <p:nvSpPr>
          <p:cNvPr id="15" name="Rounded Rectangle 14"/>
          <p:cNvSpPr/>
          <p:nvPr/>
        </p:nvSpPr>
        <p:spPr>
          <a:xfrm>
            <a:off x="548640" y="5532120"/>
            <a:ext cx="11094415" cy="640080"/>
          </a:xfrm>
          <a:prstGeom prst="roundRect">
            <a:avLst/>
          </a:prstGeom>
          <a:solidFill>
            <a:srgbClr val="EBF3FA"/>
          </a:solidFill>
          <a:ln w="1905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3B70"/>
                </a:solidFill>
                <a:latin typeface="Times New Roman"/>
              </a:defRPr>
            </a:pPr>
            <a:r>
              <a:t>★ Giữ vững an ninh chính trị và trật tự vùng dân tộc là trách nhiệm của cả hệ thống chính trị và toàn dân.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59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TRÁCH NHIỆM CÔNG DÂN - SINH VIÊN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Trách nhiệm của sinh viên Đại học Đại Nam (DNU)</a:t>
            </a:r>
          </a:p>
        </p:txBody>
      </p:sp>
      <p:sp>
        <p:nvSpPr>
          <p:cNvPr id="11" name="Rounded Rectangle 10"/>
          <p:cNvSpPr/>
          <p:nvPr/>
        </p:nvSpPr>
        <p:spPr>
          <a:xfrm>
            <a:off x="548640" y="1572768"/>
            <a:ext cx="5394960" cy="224028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1. Tuyệt đối Trung thành với Đảng, Nhà nước &amp; Tổ quốc</a:t>
            </a:r>
          </a:p>
          <a:p>
            <a:pPr>
              <a:defRPr sz="1700">
                <a:solidFill>
                  <a:srgbClr val="1E293B"/>
                </a:solidFill>
                <a:latin typeface="Times New Roman"/>
              </a:defRPr>
            </a:pPr>
            <a:r>
              <a:t>Kiên định mục tiêu độc lập dân tộc gắn liền với Chủ nghĩa xã hội; chấp hành nghiêm chỉnh đường lối của Đảng, chính sách và pháp luật của Nhà nước.</a:t>
            </a:r>
          </a:p>
        </p:txBody>
      </p:sp>
      <p:sp>
        <p:nvSpPr>
          <p:cNvPr id="12" name="Rounded Rectangle 11"/>
          <p:cNvSpPr/>
          <p:nvPr/>
        </p:nvSpPr>
        <p:spPr>
          <a:xfrm>
            <a:off x="6248095" y="1572768"/>
            <a:ext cx="5394960" cy="224028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2. Tích cực Học tập, Tu dưỡng Đạo đức Cách mạng</a:t>
            </a:r>
          </a:p>
          <a:p>
            <a:pPr>
              <a:defRPr sz="1700">
                <a:solidFill>
                  <a:srgbClr val="1E293B"/>
                </a:solidFill>
                <a:latin typeface="Times New Roman"/>
              </a:defRPr>
            </a:pPr>
            <a:r>
              <a:t>Rèn luyện bản lĩnh chính trị vững vàng, trau dồi tri thức khoa học, nâng cao trình độ chuyên môn; hoàn thành xuất sắc nhiệm vụ rèn luyện tại Nhà trường.</a:t>
            </a:r>
          </a:p>
        </p:txBody>
      </p:sp>
      <p:sp>
        <p:nvSpPr>
          <p:cNvPr id="13" name="Rounded Rectangle 12"/>
          <p:cNvSpPr/>
          <p:nvPr/>
        </p:nvSpPr>
        <p:spPr>
          <a:xfrm>
            <a:off x="548640" y="3977639"/>
            <a:ext cx="5394960" cy="224028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3. Nêu cao Tinh thần Cảnh giác Cách mạng</a:t>
            </a:r>
          </a:p>
          <a:p>
            <a:pPr>
              <a:defRPr sz="1700">
                <a:solidFill>
                  <a:srgbClr val="1E293B"/>
                </a:solidFill>
                <a:latin typeface="Times New Roman"/>
              </a:defRPr>
            </a:pPr>
            <a:r>
              <a:t>Chủ động phòng ngừa và kiên quyết đấu tranh phản bác các quan điểm sai trái, thù địch; không chia sẻ thông tin xấu độc kích động chia rẽ dân tộc.</a:t>
            </a:r>
          </a:p>
        </p:txBody>
      </p:sp>
      <p:sp>
        <p:nvSpPr>
          <p:cNvPr id="14" name="Rounded Rectangle 13"/>
          <p:cNvSpPr/>
          <p:nvPr/>
        </p:nvSpPr>
        <p:spPr>
          <a:xfrm>
            <a:off x="6248095" y="3977639"/>
            <a:ext cx="5394960" cy="224028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4. Xung kích Tham gia Bảo vệ An ninh Tổ quốc</a:t>
            </a:r>
          </a:p>
          <a:p>
            <a:pPr>
              <a:defRPr sz="1700">
                <a:solidFill>
                  <a:srgbClr val="1E293B"/>
                </a:solidFill>
                <a:latin typeface="Times New Roman"/>
              </a:defRPr>
            </a:pPr>
            <a:r>
              <a:t>Gương mẫu trong phong trào toàn dân bảo vệ an ninh Tổ quốc tại học đường và nơi cư trú; sẵn sàng thực hiện nghĩa vụ quân sự bảo vệ vững chắc Tổ quốc.</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60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77240"/>
            <a:ext cx="11094415" cy="548640"/>
          </a:xfrm>
          <a:prstGeom prst="rect">
            <a:avLst/>
          </a:prstGeom>
          <a:noFill/>
        </p:spPr>
        <p:txBody>
          <a:bodyPr wrap="none">
            <a:spAutoFit/>
          </a:bodyPr>
          <a:lstStyle/>
          <a:p>
            <a:pPr>
              <a:defRPr sz="2300" b="1">
                <a:solidFill>
                  <a:srgbClr val="00254A"/>
                </a:solidFill>
                <a:latin typeface="Times New Roman"/>
              </a:defRPr>
            </a:pPr>
            <a:r>
              <a:t>Mini Game: Đố vui củng cố kiến thức Vấn đề 5</a:t>
            </a:r>
          </a:p>
        </p:txBody>
      </p:sp>
      <p:sp>
        <p:nvSpPr>
          <p:cNvPr id="10" name="Rounded Rectangle 9"/>
          <p:cNvSpPr/>
          <p:nvPr/>
        </p:nvSpPr>
        <p:spPr>
          <a:xfrm>
            <a:off x="548640" y="1508760"/>
            <a:ext cx="11094415" cy="1051560"/>
          </a:xfrm>
          <a:prstGeom prst="roundRect">
            <a:avLst/>
          </a:prstGeom>
          <a:solidFill>
            <a:srgbClr val="EBF3FA"/>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0254A"/>
                </a:solidFill>
                <a:latin typeface="Times New Roman"/>
              </a:defRPr>
            </a:pPr>
            <a:r>
              <a:t>CÂU HỎI: Trong các giải pháp phòng chống địch lợi dụng vấn đề dân tộc, giải pháp nào giữ vị trí 'then chốt'?</a:t>
            </a:r>
          </a:p>
        </p:txBody>
      </p:sp>
      <p:sp>
        <p:nvSpPr>
          <p:cNvPr id="11" name="Rounded Rectangle 10"/>
          <p:cNvSpPr/>
          <p:nvPr/>
        </p:nvSpPr>
        <p:spPr>
          <a:xfrm>
            <a:off x="548640" y="278892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A. Tuyên truyền giáo dục truyền thông</a:t>
            </a:r>
          </a:p>
        </p:txBody>
      </p:sp>
      <p:sp>
        <p:nvSpPr>
          <p:cNvPr id="12" name="Rounded Rectangle 11"/>
          <p:cNvSpPr/>
          <p:nvPr/>
        </p:nvSpPr>
        <p:spPr>
          <a:xfrm>
            <a:off x="6248095" y="278892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B. Phát triển kinh tế - xã hội</a:t>
            </a:r>
          </a:p>
        </p:txBody>
      </p:sp>
      <p:sp>
        <p:nvSpPr>
          <p:cNvPr id="13" name="Rounded Rectangle 12"/>
          <p:cNvSpPr/>
          <p:nvPr/>
        </p:nvSpPr>
        <p:spPr>
          <a:xfrm>
            <a:off x="548640" y="397764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C. Xây dựng hệ thống chính trị cơ sở vững mạnh</a:t>
            </a:r>
          </a:p>
        </p:txBody>
      </p:sp>
      <p:sp>
        <p:nvSpPr>
          <p:cNvPr id="14" name="Rounded Rectangle 13"/>
          <p:cNvSpPr/>
          <p:nvPr/>
        </p:nvSpPr>
        <p:spPr>
          <a:xfrm>
            <a:off x="6248095" y="397764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D. Đấu tranh trên mặt trận ngoại giao</a:t>
            </a:r>
          </a:p>
        </p:txBody>
      </p:sp>
      <p:sp>
        <p:nvSpPr>
          <p:cNvPr id="15" name="Rounded Rectangle 14"/>
          <p:cNvSpPr/>
          <p:nvPr/>
        </p:nvSpPr>
        <p:spPr>
          <a:xfrm>
            <a:off x="548640" y="5257800"/>
            <a:ext cx="11094415" cy="960120"/>
          </a:xfrm>
          <a:prstGeom prst="roundRect">
            <a:avLst/>
          </a:prstGeom>
          <a:solidFill>
            <a:srgbClr val="ECFDF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65F46"/>
                </a:solidFill>
                <a:latin typeface="Times New Roman"/>
              </a:defRPr>
            </a:pPr>
            <a:r>
              <a:t>ĐÁP ÁN ĐÚNG &amp; GIẢI THÍCH: C. Xây dựng hệ thống chính trị cơ sở vững mạnh là giải pháp then chốt, quyết định sự thành bại trong việc bảo đảm an ninh chính trị và trật tự vùng dân tộc.</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548640"/>
            <a:ext cx="10911535" cy="5760720"/>
          </a:xfrm>
          <a:prstGeom prst="roundRect">
            <a:avLst/>
          </a:prstGeom>
          <a:solidFill>
            <a:srgbClr val="FFFFFF"/>
          </a:solidFill>
          <a:ln w="381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ai-nam-logo.png"/>
          <p:cNvPicPr>
            <a:picLocks noChangeAspect="1"/>
          </p:cNvPicPr>
          <p:nvPr/>
        </p:nvPicPr>
        <p:blipFill>
          <a:blip r:embed="rId2"/>
          <a:stretch>
            <a:fillRect/>
          </a:stretch>
        </p:blipFill>
        <p:spPr>
          <a:xfrm>
            <a:off x="9396374" y="777240"/>
            <a:ext cx="1850745" cy="502920"/>
          </a:xfrm>
          <a:prstGeom prst="rect">
            <a:avLst/>
          </a:prstGeom>
        </p:spPr>
      </p:pic>
      <p:sp>
        <p:nvSpPr>
          <p:cNvPr id="5" name="TextBox 4"/>
          <p:cNvSpPr txBox="1"/>
          <p:nvPr/>
        </p:nvSpPr>
        <p:spPr>
          <a:xfrm>
            <a:off x="1005840" y="777240"/>
            <a:ext cx="5486400" cy="411480"/>
          </a:xfrm>
          <a:prstGeom prst="rect">
            <a:avLst/>
          </a:prstGeom>
          <a:noFill/>
        </p:spPr>
        <p:txBody>
          <a:bodyPr wrap="none">
            <a:spAutoFit/>
          </a:bodyPr>
          <a:lstStyle/>
          <a:p>
            <a:pPr>
              <a:defRPr sz="1300" b="1">
                <a:solidFill>
                  <a:srgbClr val="F37021"/>
                </a:solidFill>
                <a:latin typeface="Times New Roman"/>
              </a:defRPr>
            </a:pPr>
            <a:r>
              <a:t>TRƯỜNG ĐẠI HỌC ĐẠI NAM  •  HỌC ĐỂ THAY ĐỔI</a:t>
            </a:r>
          </a:p>
        </p:txBody>
      </p:sp>
      <p:sp>
        <p:nvSpPr>
          <p:cNvPr id="6" name="TextBox 5"/>
          <p:cNvSpPr txBox="1"/>
          <p:nvPr/>
        </p:nvSpPr>
        <p:spPr>
          <a:xfrm>
            <a:off x="1005840" y="1371600"/>
            <a:ext cx="10180015" cy="731520"/>
          </a:xfrm>
          <a:prstGeom prst="rect">
            <a:avLst/>
          </a:prstGeom>
          <a:noFill/>
        </p:spPr>
        <p:txBody>
          <a:bodyPr wrap="none">
            <a:spAutoFit/>
          </a:bodyPr>
          <a:lstStyle/>
          <a:p>
            <a:pPr algn="ctr">
              <a:defRPr sz="3600" b="1">
                <a:solidFill>
                  <a:srgbClr val="F37021"/>
                </a:solidFill>
                <a:latin typeface="Times New Roman"/>
              </a:defRPr>
            </a:pPr>
            <a:r>
              <a:t>XIN TRÂN TRỌNG CẢM ƠN!</a:t>
            </a:r>
          </a:p>
        </p:txBody>
      </p:sp>
      <p:sp>
        <p:nvSpPr>
          <p:cNvPr id="7" name="TextBox 6"/>
          <p:cNvSpPr txBox="1"/>
          <p:nvPr/>
        </p:nvSpPr>
        <p:spPr>
          <a:xfrm>
            <a:off x="1005840" y="2148840"/>
            <a:ext cx="10180015" cy="548640"/>
          </a:xfrm>
          <a:prstGeom prst="rect">
            <a:avLst/>
          </a:prstGeom>
          <a:noFill/>
        </p:spPr>
        <p:txBody>
          <a:bodyPr wrap="none">
            <a:spAutoFit/>
          </a:bodyPr>
          <a:lstStyle/>
          <a:p>
            <a:pPr algn="ctr">
              <a:defRPr sz="2000" b="1">
                <a:solidFill>
                  <a:srgbClr val="00254A"/>
                </a:solidFill>
                <a:latin typeface="Times New Roman"/>
              </a:defRPr>
            </a:pPr>
            <a:r>
              <a:t>Kính chúc Thầy/Cô và các bạn sinh viên luôn dồi dào sức khỏe, hạnh phúc và thành công!</a:t>
            </a:r>
          </a:p>
        </p:txBody>
      </p:sp>
      <p:sp>
        <p:nvSpPr>
          <p:cNvPr id="8" name="TextBox 7"/>
          <p:cNvSpPr txBox="1"/>
          <p:nvPr/>
        </p:nvSpPr>
        <p:spPr>
          <a:xfrm>
            <a:off x="1371600" y="2697480"/>
            <a:ext cx="9448495" cy="868680"/>
          </a:xfrm>
          <a:prstGeom prst="rect">
            <a:avLst/>
          </a:prstGeom>
          <a:noFill/>
        </p:spPr>
        <p:txBody>
          <a:bodyPr wrap="square">
            <a:spAutoFit/>
          </a:bodyPr>
          <a:lstStyle/>
          <a:p>
            <a:pPr algn="ctr">
              <a:defRPr sz="1700">
                <a:solidFill>
                  <a:srgbClr val="1E293B"/>
                </a:solidFill>
                <a:latin typeface="Times New Roman"/>
              </a:defRPr>
            </a:pPr>
            <a:r>
              <a:t>Nhóm 5 xin chân thành cảm ơn Thầy/Cô giảng viên bộ môn Giáo dục Quốc phòng &amp; An ninh cùng toàn thể các bạn sinh viên lớp học phần đã chú ý theo dõi và lắng nghe bài thuyết trình của nhóm.</a:t>
            </a:r>
          </a:p>
        </p:txBody>
      </p:sp>
      <p:sp>
        <p:nvSpPr>
          <p:cNvPr id="9" name="Rounded Rectangle 8"/>
          <p:cNvSpPr/>
          <p:nvPr/>
        </p:nvSpPr>
        <p:spPr>
          <a:xfrm>
            <a:off x="1280160" y="3657600"/>
            <a:ext cx="9631375" cy="1417320"/>
          </a:xfrm>
          <a:prstGeom prst="roundRect">
            <a:avLst/>
          </a:prstGeom>
          <a:solidFill>
            <a:srgbClr val="EBF3FA"/>
          </a:solidFill>
          <a:ln w="3175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bIns="137160"/>
          <a:lstStyle/>
          <a:p>
            <a:pPr algn="ctr">
              <a:defRPr sz="1400" b="1">
                <a:solidFill>
                  <a:srgbClr val="003B70"/>
                </a:solidFill>
                <a:latin typeface="Times New Roman"/>
              </a:defRPr>
            </a:pPr>
            <a:r>
              <a:t>★ THÔNG ĐIỆP BẾ MẠC:</a:t>
            </a:r>
          </a:p>
          <a:p>
            <a:pPr>
              <a:defRPr sz="1700" b="1" i="1">
                <a:solidFill>
                  <a:srgbClr val="00254A"/>
                </a:solidFill>
                <a:latin typeface="Times New Roman"/>
              </a:defRPr>
            </a:pPr>
            <a:r>
              <a:t>"Nêu cao tinh thần cảnh giác cách mạng, kiên quyết đập tan mọi âm mưu lợi dụng vấn đề dân tộc phá hoại khối đại đoàn kết toàn dân và chủ quyền đất nước!"</a:t>
            </a:r>
          </a:p>
        </p:txBody>
      </p:sp>
      <p:sp>
        <p:nvSpPr>
          <p:cNvPr id="10" name="TextBox 9"/>
          <p:cNvSpPr txBox="1"/>
          <p:nvPr/>
        </p:nvSpPr>
        <p:spPr>
          <a:xfrm>
            <a:off x="1005840" y="5303520"/>
            <a:ext cx="10180015" cy="502920"/>
          </a:xfrm>
          <a:prstGeom prst="rect">
            <a:avLst/>
          </a:prstGeom>
          <a:noFill/>
        </p:spPr>
        <p:txBody>
          <a:bodyPr wrap="none">
            <a:spAutoFit/>
          </a:bodyPr>
          <a:lstStyle/>
          <a:p>
            <a:pPr algn="ctr">
              <a:defRPr sz="1400" b="1">
                <a:solidFill>
                  <a:srgbClr val="64748B"/>
                </a:solidFill>
                <a:latin typeface="Times New Roman"/>
              </a:defRPr>
            </a:pPr>
            <a:r>
              <a:t>Nhóm 5 (Lớp GDQP-AN)   •   Khoa Giáo dục Quốc phòng &amp; An ninh   •   Trường Đại học Đại Nam</a:t>
            </a:r>
          </a:p>
          <a:p>
            <a:pPr algn="ctr">
              <a:defRPr sz="1400" b="1">
                <a:solidFill>
                  <a:srgbClr val="F37021"/>
                </a:solidFill>
                <a:latin typeface="Times New Roman"/>
              </a:defRPr>
            </a:pPr>
            <a:r>
              <a:t>HỌC ĐỂ THAY ĐỔI   •   http://dainam.edu.vn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457200"/>
          </a:xfrm>
          <a:prstGeom prst="rect">
            <a:avLst/>
          </a:prstGeom>
          <a:noFill/>
        </p:spPr>
        <p:txBody>
          <a:bodyPr wrap="none">
            <a:spAutoFit/>
          </a:bodyPr>
          <a:lstStyle/>
          <a:p>
            <a:pPr algn="ctr">
              <a:defRPr sz="1400" b="1">
                <a:solidFill>
                  <a:srgbClr val="F37021"/>
                </a:solidFill>
                <a:latin typeface="Times New Roman"/>
              </a:defRPr>
            </a:pPr>
            <a:r>
              <a:t>TRƯỜNG ĐẠI HỌC ĐẠI NAM  •  HỌC ĐỂ THAY ĐỔI</a:t>
            </a:r>
          </a:p>
        </p:txBody>
      </p:sp>
      <p:sp>
        <p:nvSpPr>
          <p:cNvPr id="4" name="TextBox 3"/>
          <p:cNvSpPr txBox="1"/>
          <p:nvPr/>
        </p:nvSpPr>
        <p:spPr>
          <a:xfrm>
            <a:off x="1371600" y="1371600"/>
            <a:ext cx="9448495" cy="548640"/>
          </a:xfrm>
          <a:prstGeom prst="rect">
            <a:avLst/>
          </a:prstGeom>
          <a:noFill/>
        </p:spPr>
        <p:txBody>
          <a:bodyPr wrap="none">
            <a:spAutoFit/>
          </a:bodyPr>
          <a:lstStyle/>
          <a:p>
            <a:pPr algn="ctr">
              <a:defRPr sz="1500" b="1">
                <a:solidFill>
                  <a:srgbClr val="FFFFFF"/>
                </a:solidFill>
                <a:latin typeface="Times New Roman"/>
              </a:defRPr>
            </a:pPr>
            <a:r>
              <a:t>GIÁO DỤC QUỐC PHÒNG &amp; AN NINH (HỌC PHẦN 2) • VẤN ĐỀ 06</a:t>
            </a:r>
          </a:p>
        </p:txBody>
      </p:sp>
      <p:sp>
        <p:nvSpPr>
          <p:cNvPr id="5" name="TextBox 4"/>
          <p:cNvSpPr txBox="1"/>
          <p:nvPr/>
        </p:nvSpPr>
        <p:spPr>
          <a:xfrm>
            <a:off x="914400" y="2103120"/>
            <a:ext cx="10362895" cy="2560320"/>
          </a:xfrm>
          <a:prstGeom prst="rect">
            <a:avLst/>
          </a:prstGeom>
          <a:noFill/>
        </p:spPr>
        <p:txBody>
          <a:bodyPr wrap="square">
            <a:spAutoFit/>
          </a:bodyPr>
          <a:lstStyle/>
          <a:p>
            <a:pPr algn="ctr">
              <a:defRPr sz="3000" b="1">
                <a:solidFill>
                  <a:srgbClr val="F37021"/>
                </a:solidFill>
                <a:latin typeface="Times New Roman"/>
              </a:defRPr>
            </a:pPr>
            <a:r>
              <a:t>ÂM MƯU, THỦ ĐOẠN LỢI DỤNG VẤN ĐỀ TÔN GIÁO VÀ CÁC GIẢI PHÁP CƠ BẢN PHÒNG, CHỐNG</a:t>
            </a:r>
          </a:p>
        </p:txBody>
      </p:sp>
      <p:sp>
        <p:nvSpPr>
          <p:cNvPr id="6" name="TextBox 5"/>
          <p:cNvSpPr txBox="1"/>
          <p:nvPr/>
        </p:nvSpPr>
        <p:spPr>
          <a:xfrm>
            <a:off x="914400" y="5303520"/>
            <a:ext cx="10362895" cy="731520"/>
          </a:xfrm>
          <a:prstGeom prst="rect">
            <a:avLst/>
          </a:prstGeom>
          <a:noFill/>
        </p:spPr>
        <p:txBody>
          <a:bodyPr wrap="none">
            <a:spAutoFit/>
          </a:bodyPr>
          <a:lstStyle/>
          <a:p>
            <a:pPr algn="ctr">
              <a:defRPr sz="1900" b="1">
                <a:solidFill>
                  <a:srgbClr val="FFFFFF"/>
                </a:solidFill>
                <a:latin typeface="Times New Roman"/>
              </a:defRPr>
            </a:pPr>
            <a:r>
              <a:t>Nhóm thực hiện: Nhóm 6 (Lớp GDQP-AN)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63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TỔNG QUAN BÀI HỌC</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Mục tiêu &amp; Khung nội dung thuyết trình</a:t>
            </a:r>
          </a:p>
        </p:txBody>
      </p:sp>
      <p:sp>
        <p:nvSpPr>
          <p:cNvPr id="11" name="Rounded Rectangle 10"/>
          <p:cNvSpPr/>
          <p:nvPr/>
        </p:nvSpPr>
        <p:spPr>
          <a:xfrm>
            <a:off x="548640" y="1572768"/>
            <a:ext cx="6217920" cy="1420368"/>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01. Âm mưu &amp; 4 Thủ đoạn</a:t>
            </a:r>
          </a:p>
          <a:p>
            <a:pPr>
              <a:defRPr sz="1700">
                <a:solidFill>
                  <a:srgbClr val="1E293B"/>
                </a:solidFill>
                <a:latin typeface="Times New Roman"/>
              </a:defRPr>
            </a:pPr>
            <a:r>
              <a:t>• Âm mưu: Biến tôn giáo thành 'lực lượng đối trọng chính trị', quốc tế hóa tự do tôn giáo.</a:t>
            </a:r>
          </a:p>
          <a:p>
            <a:pPr>
              <a:defRPr sz="1700">
                <a:solidFill>
                  <a:srgbClr val="1E293B"/>
                </a:solidFill>
                <a:latin typeface="Times New Roman"/>
              </a:defRPr>
            </a:pPr>
            <a:r>
              <a:t>• 4 thủ đoạn: Kích động khiếu kiện đất đai; gieo rắc tà đạo; móc nối cực đoan; lợi dụng sự cố xã hội.</a:t>
            </a:r>
          </a:p>
        </p:txBody>
      </p:sp>
      <p:sp>
        <p:nvSpPr>
          <p:cNvPr id="12" name="Rounded Rectangle 11"/>
          <p:cNvSpPr/>
          <p:nvPr/>
        </p:nvSpPr>
        <p:spPr>
          <a:xfrm>
            <a:off x="548640" y="3102864"/>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02. 4 Giải pháp Chiến lược</a:t>
            </a:r>
          </a:p>
          <a:p>
            <a:pPr>
              <a:defRPr sz="1700">
                <a:solidFill>
                  <a:srgbClr val="1E293B"/>
                </a:solidFill>
                <a:latin typeface="Times New Roman"/>
              </a:defRPr>
            </a:pPr>
            <a:r>
              <a:t>• GP1: Đẩy mạnh tuyên truyền Luật Tín ngưỡng, tôn giáo 2016.</a:t>
            </a:r>
          </a:p>
          <a:p>
            <a:pPr>
              <a:defRPr sz="1700">
                <a:solidFill>
                  <a:srgbClr val="1E293B"/>
                </a:solidFill>
                <a:latin typeface="Times New Roman"/>
              </a:defRPr>
            </a:pPr>
            <a:r>
              <a:t>• GP2: Củng cố khối đại đoàn kết Lương - Giáo vững chắc.</a:t>
            </a:r>
          </a:p>
          <a:p>
            <a:pPr>
              <a:defRPr sz="1700">
                <a:solidFill>
                  <a:srgbClr val="1E293B"/>
                </a:solidFill>
                <a:latin typeface="Times New Roman"/>
              </a:defRPr>
            </a:pPr>
            <a:r>
              <a:t>• GP3: Nâng cao năng lực quản lý nhà nước về tôn giáo (then chốt).</a:t>
            </a:r>
          </a:p>
          <a:p>
            <a:pPr>
              <a:defRPr sz="1700">
                <a:solidFill>
                  <a:srgbClr val="1E293B"/>
                </a:solidFill>
                <a:latin typeface="Times New Roman"/>
              </a:defRPr>
            </a:pPr>
            <a:r>
              <a:t>• GP4: Kiên quyết đấu tranh tư tưởng, vô hiệu hóa kẻ phản động.</a:t>
            </a:r>
          </a:p>
        </p:txBody>
      </p:sp>
      <p:sp>
        <p:nvSpPr>
          <p:cNvPr id="13" name="Rounded Rectangle 12"/>
          <p:cNvSpPr/>
          <p:nvPr/>
        </p:nvSpPr>
        <p:spPr>
          <a:xfrm>
            <a:off x="548640" y="4632960"/>
            <a:ext cx="6217920" cy="1420368"/>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03. Trách nhiệm Sinh viên DNU</a:t>
            </a:r>
          </a:p>
          <a:p>
            <a:pPr>
              <a:defRPr sz="1700">
                <a:solidFill>
                  <a:srgbClr val="1E293B"/>
                </a:solidFill>
                <a:latin typeface="Times New Roman"/>
              </a:defRPr>
            </a:pPr>
            <a:r>
              <a:t>• Tuyệt đối trung thành với Đảng, tu dưỡng đạo đức, cảnh giác trước tà đạo, xung kích bảo vệ Tổ quốc.</a:t>
            </a:r>
          </a:p>
        </p:txBody>
      </p:sp>
      <p:sp>
        <p:nvSpPr>
          <p:cNvPr id="14" name="Rounded Rectangle 13"/>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etnam_unity.jpg"/>
          <p:cNvPicPr>
            <a:picLocks noChangeAspect="1"/>
          </p:cNvPicPr>
          <p:nvPr/>
        </p:nvPicPr>
        <p:blipFill>
          <a:blip r:embed="rId3"/>
          <a:stretch>
            <a:fillRect/>
          </a:stretch>
        </p:blipFill>
        <p:spPr>
          <a:xfrm>
            <a:off x="7040880" y="1753210"/>
            <a:ext cx="4602175" cy="3068116"/>
          </a:xfrm>
          <a:prstGeom prst="rect">
            <a:avLst/>
          </a:prstGeom>
        </p:spPr>
      </p:pic>
      <p:sp>
        <p:nvSpPr>
          <p:cNvPr id="16" name="TextBox 15"/>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Thắt chặt đoàn kết Lương - Giáo: Chủ động nhận diện âm mưu thù địch và thực hiện tốt 4 giải pháp giúp bảo vệ tự do tín ngưỡng chân chính.</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64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NHẬN DIỆN ÂM MƯU</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Âm mưu thù địch: Biến tôn giáo thành “Lực lượng đối trọng chính trị”</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Biến Tôn giáo thành Lực lượng Đối kháng</a:t>
            </a:r>
          </a:p>
          <a:p>
            <a:pPr>
              <a:defRPr sz="1700">
                <a:solidFill>
                  <a:srgbClr val="1E293B"/>
                </a:solidFill>
                <a:latin typeface="Times New Roman"/>
              </a:defRPr>
            </a:pPr>
            <a:r>
              <a:t>• Kẻ địch tìm cách tách các tổ chức giáo hội khỏi sự quản lý của Nhà nước, biến thành 'tổ chức đối lập'.</a:t>
            </a:r>
          </a:p>
          <a:p>
            <a:pPr>
              <a:defRPr sz="1700">
                <a:solidFill>
                  <a:srgbClr val="1E293B"/>
                </a:solidFill>
                <a:latin typeface="Times New Roman"/>
              </a:defRPr>
            </a:pPr>
            <a:r>
              <a:t>• Xúi giục chức sắc và tín đồ chống đối chủ trương phát triển KT-XH của chính quyền địa phương.</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Chiêu bài 'Nhân quyền &amp; Tự do Tôn giáo'</a:t>
            </a:r>
          </a:p>
          <a:p>
            <a:pPr>
              <a:defRPr sz="1700">
                <a:solidFill>
                  <a:srgbClr val="1E293B"/>
                </a:solidFill>
                <a:latin typeface="Times New Roman"/>
              </a:defRPr>
            </a:pPr>
            <a:r>
              <a:t>• Vu cáo Việt Nam 'đàn áp tôn giáo, kỳ thị tín đồ' tại các diễn đàn quốc tế.</a:t>
            </a:r>
          </a:p>
          <a:p>
            <a:pPr>
              <a:defRPr sz="1700">
                <a:solidFill>
                  <a:srgbClr val="1E293B"/>
                </a:solidFill>
                <a:latin typeface="Times New Roman"/>
              </a:defRPr>
            </a:pPr>
            <a:r>
              <a:t>• Vận động đưa Việt Nam vào danh sách CPC để gây sức ép ngoại giao, kinh tế.</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church.jpg"/>
          <p:cNvPicPr>
            <a:picLocks noChangeAspect="1"/>
          </p:cNvPicPr>
          <p:nvPr/>
        </p:nvPicPr>
        <p:blipFill>
          <a:blip r:embed="rId3"/>
          <a:stretch>
            <a:fillRect/>
          </a:stretch>
        </p:blipFill>
        <p:spPr>
          <a:xfrm>
            <a:off x="8377411" y="1572768"/>
            <a:ext cx="1929113" cy="3429000"/>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Sự thật về tự do tôn giáo: Hàng triệu tín đồ tự do sinh hoạt tại gần 30.000 cơ sở thờ tự. Mọi luận điệu vu cáo chỉ là chiêu bài can thiệp nội bộ.</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65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THỦ ĐOẠN CHỐNG PHÁ</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Bốn thủ đoạn chống phá Trên lĩnh vực tôn giáo</a:t>
            </a:r>
          </a:p>
        </p:txBody>
      </p:sp>
      <p:sp>
        <p:nvSpPr>
          <p:cNvPr id="11" name="Rounded Rectangle 10"/>
          <p:cNvSpPr/>
          <p:nvPr/>
        </p:nvSpPr>
        <p:spPr>
          <a:xfrm>
            <a:off x="548640" y="1572768"/>
            <a:ext cx="6217920" cy="1037844"/>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Kích động khiếu kiện đất đai cơ sở thờ tự</a:t>
            </a:r>
          </a:p>
          <a:p>
            <a:pPr>
              <a:defRPr sz="1700">
                <a:solidFill>
                  <a:srgbClr val="1E293B"/>
                </a:solidFill>
                <a:latin typeface="Times New Roman"/>
              </a:defRPr>
            </a:pPr>
            <a:r>
              <a:t>• Lợi dụng việc đền bù, giải phóng mặt bằng để xúi giục tín đồ tụ tập đông người, chiếm giữ đất trái phép.</a:t>
            </a:r>
          </a:p>
        </p:txBody>
      </p:sp>
      <p:sp>
        <p:nvSpPr>
          <p:cNvPr id="12" name="Rounded Rectangle 11"/>
          <p:cNvSpPr/>
          <p:nvPr/>
        </p:nvSpPr>
        <p:spPr>
          <a:xfrm>
            <a:off x="548640" y="2720340"/>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Truyền bá 'tà đạo, đạo lạ' độc hại</a:t>
            </a:r>
          </a:p>
          <a:p>
            <a:pPr>
              <a:defRPr sz="1700">
                <a:solidFill>
                  <a:srgbClr val="1E293B"/>
                </a:solidFill>
                <a:latin typeface="Times New Roman"/>
              </a:defRPr>
            </a:pPr>
            <a:r>
              <a:t>• Gieo rắc các tà giáo phản khoa học (Hội thánh Đức Chúa Trời Mẹ, Hà Mòn) làm tan nát gia đình, trục lợi tiền bạc.</a:t>
            </a:r>
          </a:p>
        </p:txBody>
      </p:sp>
      <p:sp>
        <p:nvSpPr>
          <p:cNvPr id="13" name="Rounded Rectangle 12"/>
          <p:cNvSpPr/>
          <p:nvPr/>
        </p:nvSpPr>
        <p:spPr>
          <a:xfrm>
            <a:off x="548640" y="3867912"/>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3. Mua chuộc phần tử đội lốt tôn giáo</a:t>
            </a:r>
          </a:p>
          <a:p>
            <a:pPr>
              <a:defRPr sz="1700">
                <a:solidFill>
                  <a:srgbClr val="1E293B"/>
                </a:solidFill>
                <a:latin typeface="Times New Roman"/>
              </a:defRPr>
            </a:pPr>
            <a:r>
              <a:t>• Tài trợ tiền bạc, trao các danh hiệu nhân quyền rởm cho chức sắc biến chất để biến họ thành tay sai.</a:t>
            </a:r>
          </a:p>
        </p:txBody>
      </p:sp>
      <p:sp>
        <p:nvSpPr>
          <p:cNvPr id="14" name="Rounded Rectangle 13"/>
          <p:cNvSpPr/>
          <p:nvPr/>
        </p:nvSpPr>
        <p:spPr>
          <a:xfrm>
            <a:off x="548640" y="5015484"/>
            <a:ext cx="6217920" cy="1037844"/>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4. Lợi dụng sự cố xã hội kích động biểu tình</a:t>
            </a:r>
          </a:p>
          <a:p>
            <a:pPr>
              <a:defRPr sz="1700">
                <a:solidFill>
                  <a:srgbClr val="1E293B"/>
                </a:solidFill>
                <a:latin typeface="Times New Roman"/>
              </a:defRPr>
            </a:pPr>
            <a:r>
              <a:t>• Khai thác sự cố môi trường, thiên tai để thổi bùng bức xúc, biến mâu thuẫn dân sự thành bạo loạn.</a:t>
            </a:r>
          </a:p>
        </p:txBody>
      </p:sp>
      <p:sp>
        <p:nvSpPr>
          <p:cNvPr id="15" name="Rounded Rectangle 14"/>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vietnam_cyber.jpg"/>
          <p:cNvPicPr>
            <a:picLocks noChangeAspect="1"/>
          </p:cNvPicPr>
          <p:nvPr/>
        </p:nvPicPr>
        <p:blipFill>
          <a:blip r:embed="rId3"/>
          <a:stretch>
            <a:fillRect/>
          </a:stretch>
        </p:blipFill>
        <p:spPr>
          <a:xfrm>
            <a:off x="7040880" y="1751292"/>
            <a:ext cx="4602175" cy="3071951"/>
          </a:xfrm>
          <a:prstGeom prst="rect">
            <a:avLst/>
          </a:prstGeom>
        </p:spPr>
      </p:pic>
      <p:sp>
        <p:nvSpPr>
          <p:cNvPr id="17" name="TextBox 16"/>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Phòng ngừa tin giả kích động: Các thế lực xấu triệt để dùng mạng xã hội livestream kích động. Giữ vững cái đầu lạnh là tấm lá chắn tốt nhất.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66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BÀI HỌC THỰC TIỄN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Case Study: Lợi dụng sự cố Formosa &amp; Bài học cảnh giác</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Diễn biến Sự cố Formosa (Năm 2016)</a:t>
            </a:r>
          </a:p>
          <a:p>
            <a:pPr>
              <a:defRPr sz="1700">
                <a:solidFill>
                  <a:srgbClr val="1E293B"/>
                </a:solidFill>
                <a:latin typeface="Times New Roman"/>
              </a:defRPr>
            </a:pPr>
            <a:r>
              <a:t>• Sự cố ô nhiễm biển miền Trung đã được Chính phủ xử lý, buộc bồi thường 500 triệu USD.</a:t>
            </a:r>
          </a:p>
          <a:p>
            <a:pPr>
              <a:defRPr sz="1700">
                <a:solidFill>
                  <a:srgbClr val="1E293B"/>
                </a:solidFill>
                <a:latin typeface="Times New Roman"/>
              </a:defRPr>
            </a:pPr>
            <a:r>
              <a:t>• Tuy nhiên, một số đối tượng cực đoan đội lốt tôn giáo (Nguyễn Đình Thục, Đặng Hữu Nam) kích động giáo dân chặn Quốc lộ 1A, đập phá xe công vụ.</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Ba Bài học Cảnh giác Sâu sắc</a:t>
            </a:r>
          </a:p>
          <a:p>
            <a:pPr>
              <a:defRPr sz="1700">
                <a:solidFill>
                  <a:srgbClr val="1E293B"/>
                </a:solidFill>
                <a:latin typeface="Times New Roman"/>
              </a:defRPr>
            </a:pPr>
            <a:r>
              <a:t>• Minh bạch thông tin: Công khai tiến độ bồi thường thiệt hại để kẻ xấu không thể trục lợi niềm tin.</a:t>
            </a:r>
          </a:p>
          <a:p>
            <a:pPr>
              <a:defRPr sz="1700">
                <a:solidFill>
                  <a:srgbClr val="1E293B"/>
                </a:solidFill>
                <a:latin typeface="Times New Roman"/>
              </a:defRPr>
            </a:pPr>
            <a:r>
              <a:t>• Phân biệt rõ đối tượng: Xử lý nghiêm đối tượng cầm đầu; kiên trì tuyên truyền vận động giáo dân.</a:t>
            </a:r>
          </a:p>
          <a:p>
            <a:pPr>
              <a:defRPr sz="1700">
                <a:solidFill>
                  <a:srgbClr val="1E293B"/>
                </a:solidFill>
                <a:latin typeface="Times New Roman"/>
              </a:defRPr>
            </a:pPr>
            <a:r>
              <a:t>• Chăm lo sinh kế: Hỗ trợ ngư dân chuyển đổi nghề, làm sạch môi trường biển nhanh chóng.</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nature.jpg"/>
          <p:cNvPicPr>
            <a:picLocks noChangeAspect="1"/>
          </p:cNvPicPr>
          <p:nvPr/>
        </p:nvPicPr>
        <p:blipFill>
          <a:blip r:embed="rId3"/>
          <a:stretch>
            <a:fillRect/>
          </a:stretch>
        </p:blipFill>
        <p:spPr>
          <a:xfrm>
            <a:off x="7040880" y="1753210"/>
            <a:ext cx="4602175" cy="306811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Biển miền Trung bình yên: Âm mưu biến sự cố Formosa thành cuộc 'Cách mạng màu' hoàn toàn bị bẻ gãy. Ngư dân hôm nay lại vững tin vươn khơi bám biển.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67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GIẢI PHÁP CHIẾN LƯỢC</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Giải pháp 1 &amp; 2: Đẩy mạnh Tuyên truyền &amp; Đoàn kết Lương - Giáo</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1. Giải pháp 1: Đẩy mạnh Tuyên truyền Pháp luật</a:t>
            </a:r>
          </a:p>
          <a:p>
            <a:pPr>
              <a:defRPr sz="1700">
                <a:solidFill>
                  <a:srgbClr val="1E293B"/>
                </a:solidFill>
                <a:latin typeface="Times New Roman"/>
              </a:defRPr>
            </a:pPr>
            <a:r>
              <a:t>• Tuyên truyền sâu rộng Luật Tín ngưỡng, tôn giáo 2016 đến từng chức sắc, nhà tu hành và tín đồ.</a:t>
            </a:r>
          </a:p>
          <a:p>
            <a:pPr>
              <a:defRPr sz="1700">
                <a:solidFill>
                  <a:srgbClr val="1E293B"/>
                </a:solidFill>
                <a:latin typeface="Times New Roman"/>
              </a:defRPr>
            </a:pPr>
            <a:r>
              <a:t>• Làm cho đồng bào nhận thức rõ âm mưu thâm độc của các thế lực thù địch lợi dụng tôn giáo.</a:t>
            </a:r>
          </a:p>
          <a:p>
            <a:pPr>
              <a:defRPr sz="1700">
                <a:solidFill>
                  <a:srgbClr val="1E293B"/>
                </a:solidFill>
                <a:latin typeface="Times New Roman"/>
              </a:defRPr>
            </a:pPr>
            <a:r>
              <a:t>• Kịp thời biểu dương chức sắc, tín đồ tiêu biểu trong lao động sản xuất và bảo vệ an ninh.</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2. Giải pháp 2: Tăng cường Đoàn kết Lương - Giáo</a:t>
            </a:r>
          </a:p>
          <a:p>
            <a:pPr>
              <a:defRPr sz="1700">
                <a:solidFill>
                  <a:srgbClr val="1E293B"/>
                </a:solidFill>
                <a:latin typeface="Times New Roman"/>
              </a:defRPr>
            </a:pPr>
            <a:r>
              <a:t>• Thực hiện phương châm: 'Đạo gắn với Đời', 'Sống phúc âm giữa lòng dân tộc', 'Tốt đời đẹp đạo'.</a:t>
            </a:r>
          </a:p>
          <a:p>
            <a:pPr>
              <a:defRPr sz="1700">
                <a:solidFill>
                  <a:srgbClr val="1E293B"/>
                </a:solidFill>
                <a:latin typeface="Times New Roman"/>
              </a:defRPr>
            </a:pPr>
            <a:r>
              <a:t>• Tôn trọng quyền tự do tín ngưỡng; giải quyết kịp thời nhu cầu sinh hoạt tôn giáo hợp pháp.</a:t>
            </a:r>
          </a:p>
          <a:p>
            <a:pPr>
              <a:defRPr sz="1700">
                <a:solidFill>
                  <a:srgbClr val="1E293B"/>
                </a:solidFill>
                <a:latin typeface="Times New Roman"/>
              </a:defRPr>
            </a:pPr>
            <a:r>
              <a:t>• Huy động nguồn lực tôn giáo tham gia các phong trào thi đua yêu nước, xây dựng quê hương.</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pagoda.jpg"/>
          <p:cNvPicPr>
            <a:picLocks noChangeAspect="1"/>
          </p:cNvPicPr>
          <p:nvPr/>
        </p:nvPicPr>
        <p:blipFill>
          <a:blip r:embed="rId3"/>
          <a:stretch>
            <a:fillRect/>
          </a:stretch>
        </p:blipFill>
        <p:spPr>
          <a:xfrm>
            <a:off x="7040880" y="1753210"/>
            <a:ext cx="4602175" cy="306811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Đoàn kết Lương - Giáo là nền tảng: Chức sắc và tín đồ luôn là những công dân yêu nước mẫu mực. Thắt chặt đoàn kết là vũ khí mạnh nhất làm phá sản mưu toan chia rẽ.</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68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GIẢI PHÁP THEN CHỐT</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Giải pháp 3: Nâng cao năng lực quản lý nhà nước Về tôn giáo</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Vị trí Quyết định của Quản lý Nhà nước</a:t>
            </a:r>
          </a:p>
          <a:p>
            <a:pPr>
              <a:defRPr sz="1700">
                <a:solidFill>
                  <a:srgbClr val="1E293B"/>
                </a:solidFill>
                <a:latin typeface="Times New Roman"/>
              </a:defRPr>
            </a:pPr>
            <a:r>
              <a:t>• Nâng cao hiệu lực quản lý nhà nước là giải pháp then chốt giữ vững kỷ cương phép nước.</a:t>
            </a:r>
          </a:p>
          <a:p>
            <a:pPr>
              <a:defRPr sz="1700">
                <a:solidFill>
                  <a:srgbClr val="1E293B"/>
                </a:solidFill>
                <a:latin typeface="Times New Roman"/>
              </a:defRPr>
            </a:pPr>
            <a:r>
              <a:t>• Bảo đảm mọi hoạt động tôn giáo diễn ra lành mạnh, tuân thủ đúng hiến chương và pháp luật.</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3. Ba Nội dung Thực hiện Cốt lõi</a:t>
            </a:r>
          </a:p>
          <a:p>
            <a:pPr>
              <a:defRPr sz="1700">
                <a:solidFill>
                  <a:srgbClr val="1E293B"/>
                </a:solidFill>
                <a:latin typeface="Times New Roman"/>
              </a:defRPr>
            </a:pPr>
            <a:r>
              <a:t>• Thực thi nghiêm Luật TNTG: Hướng dẫn đăng ký hoạt động, phong phẩm theo đúng trình tự pháp luật.</a:t>
            </a:r>
          </a:p>
          <a:p>
            <a:pPr>
              <a:defRPr sz="1700">
                <a:solidFill>
                  <a:srgbClr val="1E293B"/>
                </a:solidFill>
                <a:latin typeface="Times New Roman"/>
              </a:defRPr>
            </a:pPr>
            <a:r>
              <a:t>• Đào tạo cán bộ chuyên trách: Bồi dưỡng phẩm chất đạo đức, lý luận và hiểu biết giáo lý cho cán bộ cơ sở.</a:t>
            </a:r>
          </a:p>
          <a:p>
            <a:pPr>
              <a:defRPr sz="1700">
                <a:solidFill>
                  <a:srgbClr val="1E293B"/>
                </a:solidFill>
                <a:latin typeface="Times New Roman"/>
              </a:defRPr>
            </a:pPr>
            <a:r>
              <a:t>• Ngăn chặn tà đạo từ sớm: Kịp thời phát hiện và kiên quyết xóa bỏ tà đạo hoạt động phi pháp, mê tín.</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law.jpg"/>
          <p:cNvPicPr>
            <a:picLocks noChangeAspect="1"/>
          </p:cNvPicPr>
          <p:nvPr/>
        </p:nvPicPr>
        <p:blipFill>
          <a:blip r:embed="rId3"/>
          <a:stretch>
            <a:fillRect/>
          </a:stretch>
        </p:blipFill>
        <p:spPr>
          <a:xfrm>
            <a:off x="7040880" y="1753210"/>
            <a:ext cx="4602175" cy="306811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Kỷ cương và minh bạch: Nhà nước pháp quyền bảo hộ quyền tự do tín ngưỡng chính đáng, đồng thời kiên quyết xử lý không có vùng cấm với hành vi vi phạm pháp luật.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69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ĐẤU TRANH &amp; VÔ HIỆU HÓA</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Giải pháp 4: Kiên quyết đấu tranh tư tưởng &amp; Vô hiệu hóa kẻ phản động</a:t>
            </a:r>
          </a:p>
        </p:txBody>
      </p:sp>
      <p:sp>
        <p:nvSpPr>
          <p:cNvPr id="11" name="Rounded Rectangle 10"/>
          <p:cNvSpPr/>
          <p:nvPr/>
        </p:nvSpPr>
        <p:spPr>
          <a:xfrm>
            <a:off x="548640" y="1572768"/>
            <a:ext cx="6217920" cy="2185416"/>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Đấu tranh Tư tưởng - Ngoại giao</a:t>
            </a:r>
          </a:p>
          <a:p>
            <a:pPr>
              <a:defRPr sz="1700">
                <a:solidFill>
                  <a:srgbClr val="1E293B"/>
                </a:solidFill>
                <a:latin typeface="Times New Roman"/>
              </a:defRPr>
            </a:pPr>
            <a:r>
              <a:t>• Chủ động thông tin đối ngoại, cung cấp tài liệu chính xác về đời sống tôn giáo phồn vinh tại VN.</a:t>
            </a:r>
          </a:p>
          <a:p>
            <a:pPr>
              <a:defRPr sz="1700">
                <a:solidFill>
                  <a:srgbClr val="1E293B"/>
                </a:solidFill>
                <a:latin typeface="Times New Roman"/>
              </a:defRPr>
            </a:pPr>
            <a:r>
              <a:t>• Vạch trần bộ mặt thật của các đối tượng đội lốt tôn giáo như BPSOS do Nguyễn Đình Thắng cầm đầu.</a:t>
            </a:r>
          </a:p>
        </p:txBody>
      </p:sp>
      <p:sp>
        <p:nvSpPr>
          <p:cNvPr id="12" name="Rounded Rectangle 11"/>
          <p:cNvSpPr/>
          <p:nvPr/>
        </p:nvSpPr>
        <p:spPr>
          <a:xfrm>
            <a:off x="548640" y="3867912"/>
            <a:ext cx="6217920" cy="2185416"/>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09728" bIns="109728"/>
          <a:lstStyle/>
          <a:p>
            <a:pPr algn="ctr">
              <a:defRPr sz="1800" b="1">
                <a:solidFill>
                  <a:srgbClr val="00254A"/>
                </a:solidFill>
                <a:latin typeface="Times New Roman"/>
              </a:defRPr>
            </a:pPr>
            <a:r>
              <a:t>🚨 Xử lý Kiên quyết theo Pháp luật</a:t>
            </a:r>
          </a:p>
          <a:p>
            <a:pPr>
              <a:defRPr sz="1700">
                <a:solidFill>
                  <a:srgbClr val="1E293B"/>
                </a:solidFill>
                <a:latin typeface="Times New Roman"/>
              </a:defRPr>
            </a:pPr>
            <a:r>
              <a:t>• Cô lập và bóc gỡ các đường dây móc nối tài trợ tiền bạc từ tổ chức phản động bên ngoài vào trong nước.</a:t>
            </a:r>
          </a:p>
          <a:p>
            <a:pPr>
              <a:defRPr sz="1700">
                <a:solidFill>
                  <a:srgbClr val="1E293B"/>
                </a:solidFill>
                <a:latin typeface="Times New Roman"/>
              </a:defRPr>
            </a:pPr>
            <a:r>
              <a:t>• Xử lý nghiêm minh theo Bộ luật Hình sự các hành vi 'Lợi dụng các quyền tự do dân chủ xâm phạm lợi ích của Nhà nước, quyền, lợi ích hợp pháp của tổ chức, cá nhân' (Điều 331).</a:t>
            </a:r>
          </a:p>
        </p:txBody>
      </p:sp>
      <p:sp>
        <p:nvSpPr>
          <p:cNvPr id="13" name="Rounded Rectangle 12"/>
          <p:cNvSpPr/>
          <p:nvPr/>
        </p:nvSpPr>
        <p:spPr>
          <a:xfrm>
            <a:off x="6986016" y="1517904"/>
            <a:ext cx="4711903" cy="3538728"/>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ietnam_defense.jpg"/>
          <p:cNvPicPr>
            <a:picLocks noChangeAspect="1"/>
          </p:cNvPicPr>
          <p:nvPr/>
        </p:nvPicPr>
        <p:blipFill>
          <a:blip r:embed="rId3"/>
          <a:stretch>
            <a:fillRect/>
          </a:stretch>
        </p:blipFill>
        <p:spPr>
          <a:xfrm>
            <a:off x="7040880" y="1630485"/>
            <a:ext cx="4602175" cy="3313566"/>
          </a:xfrm>
          <a:prstGeom prst="rect">
            <a:avLst/>
          </a:prstGeom>
        </p:spPr>
      </p:pic>
      <p:sp>
        <p:nvSpPr>
          <p:cNvPr id="15" name="TextBox 14"/>
          <p:cNvSpPr txBox="1"/>
          <p:nvPr/>
        </p:nvSpPr>
        <p:spPr>
          <a:xfrm>
            <a:off x="7040880" y="5138928"/>
            <a:ext cx="4602175" cy="1097280"/>
          </a:xfrm>
          <a:prstGeom prst="rect">
            <a:avLst/>
          </a:prstGeom>
          <a:noFill/>
        </p:spPr>
        <p:txBody>
          <a:bodyPr wrap="square">
            <a:spAutoFit/>
          </a:bodyPr>
          <a:lstStyle/>
          <a:p>
            <a:pPr algn="ctr">
              <a:defRPr sz="1500" i="1">
                <a:solidFill>
                  <a:srgbClr val="64748B"/>
                </a:solidFill>
                <a:latin typeface="Times New Roman"/>
              </a:defRPr>
            </a:pPr>
            <a:r>
              <a:t>Giữ vững an ninh quốc gia: Kết hợp chặt chẽ giữa biện pháp an ninh với vận động quần chúng là bí quyết bảo đảm môi trường xã hội ổn định, bình yên.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70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77240"/>
            <a:ext cx="11094415" cy="548640"/>
          </a:xfrm>
          <a:prstGeom prst="rect">
            <a:avLst/>
          </a:prstGeom>
          <a:noFill/>
        </p:spPr>
        <p:txBody>
          <a:bodyPr wrap="none">
            <a:spAutoFit/>
          </a:bodyPr>
          <a:lstStyle/>
          <a:p>
            <a:pPr>
              <a:defRPr sz="2300" b="1">
                <a:solidFill>
                  <a:srgbClr val="00254A"/>
                </a:solidFill>
                <a:latin typeface="Times New Roman"/>
              </a:defRPr>
            </a:pPr>
            <a:r>
              <a:t>Sơ đồ tư duy: Âm mưu của địch &amp; 4 Giải pháp phòng chống</a:t>
            </a:r>
          </a:p>
        </p:txBody>
      </p:sp>
      <p:sp>
        <p:nvSpPr>
          <p:cNvPr id="10" name="Rounded Rectangle 9"/>
          <p:cNvSpPr/>
          <p:nvPr/>
        </p:nvSpPr>
        <p:spPr>
          <a:xfrm>
            <a:off x="1294790" y="1389888"/>
            <a:ext cx="9601200" cy="777240"/>
          </a:xfrm>
          <a:prstGeom prst="roundRect">
            <a:avLst/>
          </a:prstGeom>
          <a:solidFill>
            <a:srgbClr val="00254A"/>
          </a:solidFill>
          <a:ln w="3175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latin typeface="Times New Roman"/>
              </a:defRPr>
            </a:pPr>
            <a:r>
              <a:t>PHÒNG CHỐNG ĐỊCH LỢI DỤNG VẤN ĐỀ TÔN GIÁO CHỐNG PHÁ VIỆT NAM</a:t>
            </a:r>
          </a:p>
        </p:txBody>
      </p:sp>
      <p:sp>
        <p:nvSpPr>
          <p:cNvPr id="11" name="Rounded Rectangle 10"/>
          <p:cNvSpPr/>
          <p:nvPr/>
        </p:nvSpPr>
        <p:spPr>
          <a:xfrm>
            <a:off x="548640" y="2377440"/>
            <a:ext cx="2560320" cy="297180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1. ÂM MƯU CỦA ĐỊCH</a:t>
            </a:r>
          </a:p>
          <a:p>
            <a:pPr>
              <a:defRPr sz="1600">
                <a:solidFill>
                  <a:srgbClr val="1E293B"/>
                </a:solidFill>
                <a:latin typeface="Times New Roman"/>
              </a:defRPr>
            </a:pPr>
            <a:r>
              <a:t>• Tạo lực lượng đối trọng chính trị</a:t>
            </a:r>
          </a:p>
          <a:p>
            <a:pPr>
              <a:defRPr sz="1600">
                <a:solidFill>
                  <a:srgbClr val="1E293B"/>
                </a:solidFill>
                <a:latin typeface="Times New Roman"/>
              </a:defRPr>
            </a:pPr>
            <a:r>
              <a:t>• Kích động khiếu kiện đất đai</a:t>
            </a:r>
          </a:p>
          <a:p>
            <a:pPr>
              <a:defRPr sz="1600">
                <a:solidFill>
                  <a:srgbClr val="1E293B"/>
                </a:solidFill>
                <a:latin typeface="Times New Roman"/>
              </a:defRPr>
            </a:pPr>
            <a:r>
              <a:t>• Gieo rắc tà đạo độc hại</a:t>
            </a:r>
          </a:p>
          <a:p>
            <a:pPr>
              <a:defRPr sz="1600">
                <a:solidFill>
                  <a:srgbClr val="1E293B"/>
                </a:solidFill>
                <a:latin typeface="Times New Roman"/>
              </a:defRPr>
            </a:pPr>
            <a:r>
              <a:t>• Quốc tế hóa vu cáo đàn áp</a:t>
            </a:r>
          </a:p>
        </p:txBody>
      </p:sp>
      <p:sp>
        <p:nvSpPr>
          <p:cNvPr id="12" name="Rounded Rectangle 11"/>
          <p:cNvSpPr/>
          <p:nvPr/>
        </p:nvSpPr>
        <p:spPr>
          <a:xfrm>
            <a:off x="3392424" y="2377440"/>
            <a:ext cx="2560320" cy="29718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2. GP 1 &amp; 2 (NỀN TẢNG)</a:t>
            </a:r>
          </a:p>
          <a:p>
            <a:pPr>
              <a:defRPr sz="1600">
                <a:solidFill>
                  <a:srgbClr val="1E293B"/>
                </a:solidFill>
                <a:latin typeface="Times New Roman"/>
              </a:defRPr>
            </a:pPr>
            <a:r>
              <a:t>• GP1: Tuyên truyền Luật TNTG 2016</a:t>
            </a:r>
          </a:p>
          <a:p>
            <a:pPr>
              <a:defRPr sz="1600">
                <a:solidFill>
                  <a:srgbClr val="1E293B"/>
                </a:solidFill>
                <a:latin typeface="Times New Roman"/>
              </a:defRPr>
            </a:pPr>
            <a:r>
              <a:t>• GP2: Thắt chặt đoàn kết Lương - Giáo</a:t>
            </a:r>
          </a:p>
          <a:p>
            <a:pPr>
              <a:defRPr sz="1600">
                <a:solidFill>
                  <a:srgbClr val="1E293B"/>
                </a:solidFill>
                <a:latin typeface="Times New Roman"/>
              </a:defRPr>
            </a:pPr>
            <a:r>
              <a:t>• Phát huy 'Tốt đời đẹp đạo'</a:t>
            </a:r>
          </a:p>
        </p:txBody>
      </p:sp>
      <p:sp>
        <p:nvSpPr>
          <p:cNvPr id="13" name="Rounded Rectangle 12"/>
          <p:cNvSpPr/>
          <p:nvPr/>
        </p:nvSpPr>
        <p:spPr>
          <a:xfrm>
            <a:off x="6236208" y="2377440"/>
            <a:ext cx="2560320" cy="297180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3. GP 3 (THEN CHỐT)</a:t>
            </a:r>
          </a:p>
          <a:p>
            <a:pPr>
              <a:defRPr sz="1600">
                <a:solidFill>
                  <a:srgbClr val="1E293B"/>
                </a:solidFill>
                <a:latin typeface="Times New Roman"/>
              </a:defRPr>
            </a:pPr>
            <a:r>
              <a:t>• Nâng cao năng lực quản lý nhà nước</a:t>
            </a:r>
          </a:p>
          <a:p>
            <a:pPr>
              <a:defRPr sz="1600">
                <a:solidFill>
                  <a:srgbClr val="1E293B"/>
                </a:solidFill>
                <a:latin typeface="Times New Roman"/>
              </a:defRPr>
            </a:pPr>
            <a:r>
              <a:t>• Đào tạo cán bộ chuyên trách tôn giáo</a:t>
            </a:r>
          </a:p>
          <a:p>
            <a:pPr>
              <a:defRPr sz="1600">
                <a:solidFill>
                  <a:srgbClr val="1E293B"/>
                </a:solidFill>
                <a:latin typeface="Times New Roman"/>
              </a:defRPr>
            </a:pPr>
            <a:r>
              <a:t>• Ngăn chặn tà đạo, đạo lạ từ sớm</a:t>
            </a:r>
          </a:p>
        </p:txBody>
      </p:sp>
      <p:sp>
        <p:nvSpPr>
          <p:cNvPr id="14" name="Rounded Rectangle 13"/>
          <p:cNvSpPr/>
          <p:nvPr/>
        </p:nvSpPr>
        <p:spPr>
          <a:xfrm>
            <a:off x="9079992" y="2377440"/>
            <a:ext cx="2560320" cy="297180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37160"/>
          <a:lstStyle/>
          <a:p>
            <a:pPr algn="ctr">
              <a:defRPr sz="1700" b="1">
                <a:solidFill>
                  <a:srgbClr val="00254A"/>
                </a:solidFill>
                <a:latin typeface="Times New Roman"/>
              </a:defRPr>
            </a:pPr>
            <a:r>
              <a:t>4. GP 4 (ĐẤU TRANH)</a:t>
            </a:r>
          </a:p>
          <a:p>
            <a:pPr>
              <a:defRPr sz="1600">
                <a:solidFill>
                  <a:srgbClr val="1E293B"/>
                </a:solidFill>
                <a:latin typeface="Times New Roman"/>
              </a:defRPr>
            </a:pPr>
            <a:r>
              <a:t>• Kiên quyết đấu tranh tư tưởng</a:t>
            </a:r>
          </a:p>
          <a:p>
            <a:pPr>
              <a:defRPr sz="1600">
                <a:solidFill>
                  <a:srgbClr val="1E293B"/>
                </a:solidFill>
                <a:latin typeface="Times New Roman"/>
              </a:defRPr>
            </a:pPr>
            <a:r>
              <a:t>• Vô hiệu hóa kẻ đội lốt tôn giáo</a:t>
            </a:r>
          </a:p>
          <a:p>
            <a:pPr>
              <a:defRPr sz="1600">
                <a:solidFill>
                  <a:srgbClr val="1E293B"/>
                </a:solidFill>
                <a:latin typeface="Times New Roman"/>
              </a:defRPr>
            </a:pPr>
            <a:r>
              <a:t>• Chủ động thông tin đối ngoại chính xác</a:t>
            </a:r>
          </a:p>
        </p:txBody>
      </p:sp>
      <p:sp>
        <p:nvSpPr>
          <p:cNvPr id="15" name="Rounded Rectangle 14"/>
          <p:cNvSpPr/>
          <p:nvPr/>
        </p:nvSpPr>
        <p:spPr>
          <a:xfrm>
            <a:off x="548640" y="5532120"/>
            <a:ext cx="11094415" cy="640080"/>
          </a:xfrm>
          <a:prstGeom prst="roundRect">
            <a:avLst/>
          </a:prstGeom>
          <a:solidFill>
            <a:srgbClr val="EBF3FA"/>
          </a:solidFill>
          <a:ln w="1905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3B70"/>
                </a:solidFill>
                <a:latin typeface="Times New Roman"/>
              </a:defRPr>
            </a:pPr>
            <a:r>
              <a:t>★ Tôn trọng tự do tín ngưỡng chân chính - Kiên quyết không để tôn giáo bị lợi dụng làm công cụ chống phá Tổ quốc.</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71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13232"/>
            <a:ext cx="5486400" cy="292608"/>
          </a:xfrm>
          <a:prstGeom prst="rect">
            <a:avLst/>
          </a:prstGeom>
          <a:noFill/>
        </p:spPr>
        <p:txBody>
          <a:bodyPr wrap="none">
            <a:spAutoFit/>
          </a:bodyPr>
          <a:lstStyle/>
          <a:p>
            <a:pPr>
              <a:defRPr sz="1200" b="1">
                <a:solidFill>
                  <a:srgbClr val="003B70"/>
                </a:solidFill>
                <a:latin typeface="Times New Roman"/>
              </a:defRPr>
            </a:pPr>
            <a:r>
              <a:t>TRÁCH NHIỆM CÔNG DÂN - SINH VIÊN</a:t>
            </a:r>
          </a:p>
        </p:txBody>
      </p:sp>
      <p:sp>
        <p:nvSpPr>
          <p:cNvPr id="10" name="TextBox 9"/>
          <p:cNvSpPr txBox="1"/>
          <p:nvPr/>
        </p:nvSpPr>
        <p:spPr>
          <a:xfrm>
            <a:off x="548640" y="960120"/>
            <a:ext cx="11094415" cy="548640"/>
          </a:xfrm>
          <a:prstGeom prst="rect">
            <a:avLst/>
          </a:prstGeom>
          <a:noFill/>
        </p:spPr>
        <p:txBody>
          <a:bodyPr wrap="none">
            <a:spAutoFit/>
          </a:bodyPr>
          <a:lstStyle/>
          <a:p>
            <a:pPr>
              <a:defRPr sz="2300" b="1">
                <a:solidFill>
                  <a:srgbClr val="00254A"/>
                </a:solidFill>
                <a:latin typeface="Times New Roman"/>
              </a:defRPr>
            </a:pPr>
            <a:r>
              <a:t>Trách nhiệm của sinh viên Đại học Đại Nam (DNU)</a:t>
            </a:r>
          </a:p>
        </p:txBody>
      </p:sp>
      <p:sp>
        <p:nvSpPr>
          <p:cNvPr id="11" name="Rounded Rectangle 10"/>
          <p:cNvSpPr/>
          <p:nvPr/>
        </p:nvSpPr>
        <p:spPr>
          <a:xfrm>
            <a:off x="548640" y="1572768"/>
            <a:ext cx="5394960" cy="224028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1. Tuyệt đối Trung thành với Đảng, Nhà nước &amp; Tổ quốc</a:t>
            </a:r>
          </a:p>
          <a:p>
            <a:pPr>
              <a:defRPr sz="1700">
                <a:solidFill>
                  <a:srgbClr val="1E293B"/>
                </a:solidFill>
                <a:latin typeface="Times New Roman"/>
              </a:defRPr>
            </a:pPr>
            <a:r>
              <a:t>Kiên định mục tiêu độc lập dân tộc gắn liền với Chủ nghĩa xã hội; chấp hành nghiêm chỉnh đường lối của Đảng, chính sách và pháp luật của Nhà nước.</a:t>
            </a:r>
          </a:p>
        </p:txBody>
      </p:sp>
      <p:sp>
        <p:nvSpPr>
          <p:cNvPr id="12" name="Rounded Rectangle 11"/>
          <p:cNvSpPr/>
          <p:nvPr/>
        </p:nvSpPr>
        <p:spPr>
          <a:xfrm>
            <a:off x="6248095" y="1572768"/>
            <a:ext cx="5394960" cy="224028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2. Tích cực Học tập, Tu dưỡng Đạo đức Cách mạng</a:t>
            </a:r>
          </a:p>
          <a:p>
            <a:pPr>
              <a:defRPr sz="1700">
                <a:solidFill>
                  <a:srgbClr val="1E293B"/>
                </a:solidFill>
                <a:latin typeface="Times New Roman"/>
              </a:defRPr>
            </a:pPr>
            <a:r>
              <a:t>Rèn luyện bản lĩnh chính trị vững vàng, trau dồi tri thức khoa học, nâng cao trình độ chuyên môn; hoàn thành xuất sắc nhiệm vụ rèn luyện tại Nhà trường.</a:t>
            </a:r>
          </a:p>
        </p:txBody>
      </p:sp>
      <p:sp>
        <p:nvSpPr>
          <p:cNvPr id="13" name="Rounded Rectangle 12"/>
          <p:cNvSpPr/>
          <p:nvPr/>
        </p:nvSpPr>
        <p:spPr>
          <a:xfrm>
            <a:off x="548640" y="3977639"/>
            <a:ext cx="5394960" cy="2240280"/>
          </a:xfrm>
          <a:prstGeom prst="roundRect">
            <a:avLst/>
          </a:prstGeom>
          <a:solidFill>
            <a:srgbClr val="FFFFFF"/>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3. Nêu cao Tinh thần Cảnh giác Cách mạng</a:t>
            </a:r>
          </a:p>
          <a:p>
            <a:pPr>
              <a:defRPr sz="1700">
                <a:solidFill>
                  <a:srgbClr val="1E293B"/>
                </a:solidFill>
                <a:latin typeface="Times New Roman"/>
              </a:defRPr>
            </a:pPr>
            <a:r>
              <a:t>Chủ động phòng ngừa và kiên quyết đấu tranh phản bác các quan điểm sai trái, thù địch; không chia sẻ thông tin xấu độc kích động chia rẽ dân tộc.</a:t>
            </a:r>
          </a:p>
        </p:txBody>
      </p:sp>
      <p:sp>
        <p:nvSpPr>
          <p:cNvPr id="14" name="Rounded Rectangle 13"/>
          <p:cNvSpPr/>
          <p:nvPr/>
        </p:nvSpPr>
        <p:spPr>
          <a:xfrm>
            <a:off x="6248095" y="3977639"/>
            <a:ext cx="5394960" cy="2240280"/>
          </a:xfrm>
          <a:prstGeom prst="roundRect">
            <a:avLst/>
          </a:prstGeom>
          <a:solidFill>
            <a:srgbClr val="FFFFFF"/>
          </a:solidFill>
          <a:ln w="254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bIns="164592"/>
          <a:lstStyle/>
          <a:p>
            <a:pPr algn="ctr">
              <a:defRPr sz="1800" b="1">
                <a:solidFill>
                  <a:srgbClr val="00254A"/>
                </a:solidFill>
                <a:latin typeface="Times New Roman"/>
              </a:defRPr>
            </a:pPr>
            <a:r>
              <a:t>4. Xung kích Tham gia Bảo vệ An ninh Tổ quốc</a:t>
            </a:r>
          </a:p>
          <a:p>
            <a:pPr>
              <a:defRPr sz="1700">
                <a:solidFill>
                  <a:srgbClr val="1E293B"/>
                </a:solidFill>
                <a:latin typeface="Times New Roman"/>
              </a:defRPr>
            </a:pPr>
            <a:r>
              <a:t>Gương mẫu trong phong trào toàn dân bảo vệ an ninh Tổ quốc tại học đường và nơi cư trú; sẵn sàng thực hiện nghĩa vụ quân sự bảo vệ vững chắc Tổ quốc.</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658368"/>
            <a:ext cx="11094415" cy="22860"/>
          </a:xfrm>
          <a:prstGeom prst="rect">
            <a:avLst/>
          </a:prstGeom>
          <a:solidFill>
            <a:srgbClr val="F37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4114800" cy="438912"/>
          </a:xfrm>
          <a:prstGeom prst="rect">
            <a:avLst/>
          </a:prstGeom>
          <a:noFill/>
        </p:spPr>
        <p:txBody>
          <a:bodyPr wrap="square">
            <a:spAutoFit/>
          </a:bodyPr>
          <a:lstStyle/>
          <a:p>
            <a:pPr>
              <a:defRPr sz="1300" b="1">
                <a:solidFill>
                  <a:srgbClr val="F37021"/>
                </a:solidFill>
                <a:latin typeface="Times New Roman"/>
              </a:defRPr>
            </a:pPr>
            <a:r>
              <a:t>HỌC ĐỂ THAY ĐỔI</a:t>
            </a:r>
          </a:p>
        </p:txBody>
      </p:sp>
      <p:pic>
        <p:nvPicPr>
          <p:cNvPr id="5" name="Picture 4" descr="dai-nam-logo.png"/>
          <p:cNvPicPr>
            <a:picLocks noChangeAspect="1"/>
          </p:cNvPicPr>
          <p:nvPr/>
        </p:nvPicPr>
        <p:blipFill>
          <a:blip r:embed="rId2"/>
          <a:stretch>
            <a:fillRect/>
          </a:stretch>
        </p:blipFill>
        <p:spPr>
          <a:xfrm>
            <a:off x="10027858" y="137160"/>
            <a:ext cx="1615196" cy="438912"/>
          </a:xfrm>
          <a:prstGeom prst="rect">
            <a:avLst/>
          </a:prstGeom>
        </p:spPr>
      </p:pic>
      <p:sp>
        <p:nvSpPr>
          <p:cNvPr id="6" name="Rectangle 5"/>
          <p:cNvSpPr/>
          <p:nvPr/>
        </p:nvSpPr>
        <p:spPr>
          <a:xfrm>
            <a:off x="548640" y="6419088"/>
            <a:ext cx="11094415" cy="1371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55664"/>
            <a:ext cx="5486400" cy="347472"/>
          </a:xfrm>
          <a:prstGeom prst="rect">
            <a:avLst/>
          </a:prstGeom>
          <a:noFill/>
        </p:spPr>
        <p:txBody>
          <a:bodyPr wrap="none">
            <a:spAutoFit/>
          </a:bodyPr>
          <a:lstStyle/>
          <a:p>
            <a:pPr>
              <a:defRPr sz="1100">
                <a:solidFill>
                  <a:srgbClr val="64748B"/>
                </a:solidFill>
                <a:latin typeface="Times New Roman"/>
              </a:defRPr>
            </a:pPr>
            <a:r>
              <a:t>Trang 72 / 73   |   http://dainam.edu.vn</a:t>
            </a:r>
          </a:p>
        </p:txBody>
      </p:sp>
      <p:sp>
        <p:nvSpPr>
          <p:cNvPr id="8" name="TextBox 7"/>
          <p:cNvSpPr txBox="1"/>
          <p:nvPr/>
        </p:nvSpPr>
        <p:spPr>
          <a:xfrm>
            <a:off x="6217920" y="6455664"/>
            <a:ext cx="5425135" cy="347472"/>
          </a:xfrm>
          <a:prstGeom prst="rect">
            <a:avLst/>
          </a:prstGeom>
          <a:noFill/>
        </p:spPr>
        <p:txBody>
          <a:bodyPr wrap="none">
            <a:spAutoFit/>
          </a:bodyPr>
          <a:lstStyle/>
          <a:p>
            <a:pPr algn="r">
              <a:defRPr sz="1100">
                <a:solidFill>
                  <a:srgbClr val="64748B"/>
                </a:solidFill>
                <a:latin typeface="Times New Roman"/>
              </a:defRPr>
            </a:pPr>
            <a:r>
              <a:t>Giáo dục Quốc phòng &amp; An ninh (Học phần 2) - Đại học Đại Nam</a:t>
            </a:r>
          </a:p>
        </p:txBody>
      </p:sp>
      <p:sp>
        <p:nvSpPr>
          <p:cNvPr id="9" name="TextBox 8"/>
          <p:cNvSpPr txBox="1"/>
          <p:nvPr/>
        </p:nvSpPr>
        <p:spPr>
          <a:xfrm>
            <a:off x="548640" y="777240"/>
            <a:ext cx="11094415" cy="548640"/>
          </a:xfrm>
          <a:prstGeom prst="rect">
            <a:avLst/>
          </a:prstGeom>
          <a:noFill/>
        </p:spPr>
        <p:txBody>
          <a:bodyPr wrap="none">
            <a:spAutoFit/>
          </a:bodyPr>
          <a:lstStyle/>
          <a:p>
            <a:pPr>
              <a:defRPr sz="2300" b="1">
                <a:solidFill>
                  <a:srgbClr val="00254A"/>
                </a:solidFill>
                <a:latin typeface="Times New Roman"/>
              </a:defRPr>
            </a:pPr>
            <a:r>
              <a:t>Mini Game: Đố vui củng cố kiến thức Vấn đề 6</a:t>
            </a:r>
          </a:p>
        </p:txBody>
      </p:sp>
      <p:sp>
        <p:nvSpPr>
          <p:cNvPr id="10" name="Rounded Rectangle 9"/>
          <p:cNvSpPr/>
          <p:nvPr/>
        </p:nvSpPr>
        <p:spPr>
          <a:xfrm>
            <a:off x="548640" y="1508760"/>
            <a:ext cx="11094415" cy="1051560"/>
          </a:xfrm>
          <a:prstGeom prst="roundRect">
            <a:avLst/>
          </a:prstGeom>
          <a:solidFill>
            <a:srgbClr val="EBF3FA"/>
          </a:solidFill>
          <a:ln w="2540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0254A"/>
                </a:solidFill>
                <a:latin typeface="Times New Roman"/>
              </a:defRPr>
            </a:pPr>
            <a:r>
              <a:t>CÂU HỎI: Thủ đoạn nào sau đây của các thế lực thù địch nhằm biến tôn giáo thành lực lượng đối trọng chính trị?</a:t>
            </a:r>
          </a:p>
        </p:txBody>
      </p:sp>
      <p:sp>
        <p:nvSpPr>
          <p:cNvPr id="11" name="Rounded Rectangle 10"/>
          <p:cNvSpPr/>
          <p:nvPr/>
        </p:nvSpPr>
        <p:spPr>
          <a:xfrm>
            <a:off x="548640" y="278892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A. Khuyến khích đồng bào tham gia các hoạt động từ thiện</a:t>
            </a:r>
          </a:p>
        </p:txBody>
      </p:sp>
      <p:sp>
        <p:nvSpPr>
          <p:cNvPr id="12" name="Rounded Rectangle 11"/>
          <p:cNvSpPr/>
          <p:nvPr/>
        </p:nvSpPr>
        <p:spPr>
          <a:xfrm>
            <a:off x="6248095" y="278892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B. Kích động tranh chấp đất đai cơ sở thờ tự và đòi ly khai</a:t>
            </a:r>
          </a:p>
        </p:txBody>
      </p:sp>
      <p:sp>
        <p:nvSpPr>
          <p:cNvPr id="13" name="Rounded Rectangle 12"/>
          <p:cNvSpPr/>
          <p:nvPr/>
        </p:nvSpPr>
        <p:spPr>
          <a:xfrm>
            <a:off x="548640" y="397764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C. Hỗ trợ in ấn kinh sách theo đúng quy định pháp luật</a:t>
            </a:r>
          </a:p>
        </p:txBody>
      </p:sp>
      <p:sp>
        <p:nvSpPr>
          <p:cNvPr id="14" name="Rounded Rectangle 13"/>
          <p:cNvSpPr/>
          <p:nvPr/>
        </p:nvSpPr>
        <p:spPr>
          <a:xfrm>
            <a:off x="6248095" y="3977640"/>
            <a:ext cx="539496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E293B"/>
                </a:solidFill>
                <a:latin typeface="Times New Roman"/>
              </a:defRPr>
            </a:pPr>
            <a:r>
              <a:t>D. Đóng góp kinh phí xây dựng trường mầm non</a:t>
            </a:r>
          </a:p>
        </p:txBody>
      </p:sp>
      <p:sp>
        <p:nvSpPr>
          <p:cNvPr id="15" name="Rounded Rectangle 14"/>
          <p:cNvSpPr/>
          <p:nvPr/>
        </p:nvSpPr>
        <p:spPr>
          <a:xfrm>
            <a:off x="548640" y="5257800"/>
            <a:ext cx="11094415" cy="960120"/>
          </a:xfrm>
          <a:prstGeom prst="roundRect">
            <a:avLst/>
          </a:prstGeom>
          <a:solidFill>
            <a:srgbClr val="ECFDF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65F46"/>
                </a:solidFill>
                <a:latin typeface="Times New Roman"/>
              </a:defRPr>
            </a:pPr>
            <a:r>
              <a:t>ĐÁP ÁN ĐÚNG &amp; GIẢI THÍCH: B. Kích động khiếu kiện đất đai, đòi lại cơ sở thờ tự trái luật là thủ đoạn thâm độc nhằm kích động tâm lý đối kháng giữa tôn giáo và chính quyền.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548640"/>
            <a:ext cx="10911535" cy="5760720"/>
          </a:xfrm>
          <a:prstGeom prst="roundRect">
            <a:avLst/>
          </a:prstGeom>
          <a:solidFill>
            <a:srgbClr val="FFFFFF"/>
          </a:solidFill>
          <a:ln w="38100">
            <a:solidFill>
              <a:srgbClr val="F3702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ai-nam-logo.png"/>
          <p:cNvPicPr>
            <a:picLocks noChangeAspect="1"/>
          </p:cNvPicPr>
          <p:nvPr/>
        </p:nvPicPr>
        <p:blipFill>
          <a:blip r:embed="rId2"/>
          <a:stretch>
            <a:fillRect/>
          </a:stretch>
        </p:blipFill>
        <p:spPr>
          <a:xfrm>
            <a:off x="9396374" y="777240"/>
            <a:ext cx="1850745" cy="502920"/>
          </a:xfrm>
          <a:prstGeom prst="rect">
            <a:avLst/>
          </a:prstGeom>
        </p:spPr>
      </p:pic>
      <p:sp>
        <p:nvSpPr>
          <p:cNvPr id="5" name="TextBox 4"/>
          <p:cNvSpPr txBox="1"/>
          <p:nvPr/>
        </p:nvSpPr>
        <p:spPr>
          <a:xfrm>
            <a:off x="1005840" y="777240"/>
            <a:ext cx="5486400" cy="411480"/>
          </a:xfrm>
          <a:prstGeom prst="rect">
            <a:avLst/>
          </a:prstGeom>
          <a:noFill/>
        </p:spPr>
        <p:txBody>
          <a:bodyPr wrap="none">
            <a:spAutoFit/>
          </a:bodyPr>
          <a:lstStyle/>
          <a:p>
            <a:pPr>
              <a:defRPr sz="1300" b="1">
                <a:solidFill>
                  <a:srgbClr val="F37021"/>
                </a:solidFill>
                <a:latin typeface="Times New Roman"/>
              </a:defRPr>
            </a:pPr>
            <a:r>
              <a:t>TRƯỜNG ĐẠI HỌC ĐẠI NAM  •  HỌC ĐỂ THAY ĐỔI</a:t>
            </a:r>
          </a:p>
        </p:txBody>
      </p:sp>
      <p:sp>
        <p:nvSpPr>
          <p:cNvPr id="6" name="TextBox 5"/>
          <p:cNvSpPr txBox="1"/>
          <p:nvPr/>
        </p:nvSpPr>
        <p:spPr>
          <a:xfrm>
            <a:off x="1005840" y="1371600"/>
            <a:ext cx="10180015" cy="731520"/>
          </a:xfrm>
          <a:prstGeom prst="rect">
            <a:avLst/>
          </a:prstGeom>
          <a:noFill/>
        </p:spPr>
        <p:txBody>
          <a:bodyPr wrap="none">
            <a:spAutoFit/>
          </a:bodyPr>
          <a:lstStyle/>
          <a:p>
            <a:pPr algn="ctr">
              <a:defRPr sz="3600" b="1">
                <a:solidFill>
                  <a:srgbClr val="F37021"/>
                </a:solidFill>
                <a:latin typeface="Times New Roman"/>
              </a:defRPr>
            </a:pPr>
            <a:r>
              <a:t>XIN TRÂN TRỌNG CẢM ƠN!</a:t>
            </a:r>
          </a:p>
        </p:txBody>
      </p:sp>
      <p:sp>
        <p:nvSpPr>
          <p:cNvPr id="7" name="TextBox 6"/>
          <p:cNvSpPr txBox="1"/>
          <p:nvPr/>
        </p:nvSpPr>
        <p:spPr>
          <a:xfrm>
            <a:off x="1005840" y="2148840"/>
            <a:ext cx="10180015" cy="548640"/>
          </a:xfrm>
          <a:prstGeom prst="rect">
            <a:avLst/>
          </a:prstGeom>
          <a:noFill/>
        </p:spPr>
        <p:txBody>
          <a:bodyPr wrap="none">
            <a:spAutoFit/>
          </a:bodyPr>
          <a:lstStyle/>
          <a:p>
            <a:pPr algn="ctr">
              <a:defRPr sz="2000" b="1">
                <a:solidFill>
                  <a:srgbClr val="00254A"/>
                </a:solidFill>
                <a:latin typeface="Times New Roman"/>
              </a:defRPr>
            </a:pPr>
            <a:r>
              <a:t>Kính chúc Thầy/Cô và các bạn sinh viên luôn dồi dào sức khỏe, hạnh phúc và thành công!</a:t>
            </a:r>
          </a:p>
        </p:txBody>
      </p:sp>
      <p:sp>
        <p:nvSpPr>
          <p:cNvPr id="8" name="TextBox 7"/>
          <p:cNvSpPr txBox="1"/>
          <p:nvPr/>
        </p:nvSpPr>
        <p:spPr>
          <a:xfrm>
            <a:off x="1371600" y="2697480"/>
            <a:ext cx="9448495" cy="868680"/>
          </a:xfrm>
          <a:prstGeom prst="rect">
            <a:avLst/>
          </a:prstGeom>
          <a:noFill/>
        </p:spPr>
        <p:txBody>
          <a:bodyPr wrap="square">
            <a:spAutoFit/>
          </a:bodyPr>
          <a:lstStyle/>
          <a:p>
            <a:pPr algn="ctr">
              <a:defRPr sz="1700">
                <a:solidFill>
                  <a:srgbClr val="1E293B"/>
                </a:solidFill>
                <a:latin typeface="Times New Roman"/>
              </a:defRPr>
            </a:pPr>
            <a:r>
              <a:t>Nhóm 6 xin chân thành cảm ơn Thầy/Cô giảng viên bộ môn Giáo dục Quốc phòng &amp; An ninh cùng toàn thể các bạn sinh viên lớp học phần đã chú ý theo dõi và lắng nghe bài thuyết trình của nhóm.</a:t>
            </a:r>
          </a:p>
        </p:txBody>
      </p:sp>
      <p:sp>
        <p:nvSpPr>
          <p:cNvPr id="9" name="Rounded Rectangle 8"/>
          <p:cNvSpPr/>
          <p:nvPr/>
        </p:nvSpPr>
        <p:spPr>
          <a:xfrm>
            <a:off x="1280160" y="3657600"/>
            <a:ext cx="9631375" cy="1417320"/>
          </a:xfrm>
          <a:prstGeom prst="roundRect">
            <a:avLst/>
          </a:prstGeom>
          <a:solidFill>
            <a:srgbClr val="EBF3FA"/>
          </a:solidFill>
          <a:ln w="31750">
            <a:solidFill>
              <a:srgbClr val="003B7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37160" bIns="137160"/>
          <a:lstStyle/>
          <a:p>
            <a:pPr algn="ctr">
              <a:defRPr sz="1400" b="1">
                <a:solidFill>
                  <a:srgbClr val="003B70"/>
                </a:solidFill>
                <a:latin typeface="Times New Roman"/>
              </a:defRPr>
            </a:pPr>
            <a:r>
              <a:t>★ THÔNG ĐIỆP BẾ MẠC:</a:t>
            </a:r>
          </a:p>
          <a:p>
            <a:pPr>
              <a:defRPr sz="1700" b="1" i="1">
                <a:solidFill>
                  <a:srgbClr val="00254A"/>
                </a:solidFill>
                <a:latin typeface="Times New Roman"/>
              </a:defRPr>
            </a:pPr>
            <a:r>
              <a:t>"Giữ vững thế trận lòng dân, thắt chặt tình đoàn kết lương - giáo, kiên quyết đấu tranh phản bác luận điệu sai trái, bảo vệ cuộc sống bình yên của nhân dân!"</a:t>
            </a:r>
          </a:p>
        </p:txBody>
      </p:sp>
      <p:sp>
        <p:nvSpPr>
          <p:cNvPr id="10" name="TextBox 9"/>
          <p:cNvSpPr txBox="1"/>
          <p:nvPr/>
        </p:nvSpPr>
        <p:spPr>
          <a:xfrm>
            <a:off x="1005840" y="5303520"/>
            <a:ext cx="10180015" cy="502920"/>
          </a:xfrm>
          <a:prstGeom prst="rect">
            <a:avLst/>
          </a:prstGeom>
          <a:noFill/>
        </p:spPr>
        <p:txBody>
          <a:bodyPr wrap="none">
            <a:spAutoFit/>
          </a:bodyPr>
          <a:lstStyle/>
          <a:p>
            <a:pPr algn="ctr">
              <a:defRPr sz="1400" b="1">
                <a:solidFill>
                  <a:srgbClr val="64748B"/>
                </a:solidFill>
                <a:latin typeface="Times New Roman"/>
              </a:defRPr>
            </a:pPr>
            <a:r>
              <a:t>Nhóm 6 (Lớp GDQP-AN)   •   Khoa Giáo dục Quốc phòng &amp; An ninh   •   Trường Đại học Đại Nam</a:t>
            </a:r>
          </a:p>
          <a:p>
            <a:pPr algn="ctr">
              <a:defRPr sz="1400" b="1">
                <a:solidFill>
                  <a:srgbClr val="F37021"/>
                </a:solidFill>
                <a:latin typeface="Times New Roman"/>
              </a:defRPr>
            </a:pPr>
            <a:r>
              <a:t>HỌC ĐỂ THAY ĐỔI   •   http://dainam.edu.vn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