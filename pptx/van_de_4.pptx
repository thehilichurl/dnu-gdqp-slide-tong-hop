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Times New Roman"/>
              </a:defRPr>
            </a:pPr>
            <a:r>
              <a:t>TRƯỜNG ĐẠI HỌC ĐẠI NAM  •  HỌC ĐỂ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GIÁO DỤC QUỐC PHÒNG &amp; AN NINH (HỌC PHẦN 2) • VẤN ĐỀ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37021"/>
                </a:solidFill>
                <a:latin typeface="Times New Roman"/>
              </a:defRPr>
            </a:pPr>
            <a:r>
              <a:t>TÌNH HÌNH TÔN GIÁO Ở VIỆT NAM, ÂM MƯU THỦ ĐOẠN CỦA ĐỊCH VÀ CHÍNH SÁCH CỦA ĐẢNG, NHÀ NƯỚC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Nhóm thực hiện: Nhóm 4 (Lớp GDQP-AN)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02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TỔNG QUAN BÀI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Mục tiêu &amp; Khung nội dung thuyết trình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01. Thực trạng Tôn giáo VN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Bức tranh đa dạng: 16 tôn giáo, 43 tổ chức hợp pháp, 27 triệu tín đồ.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Đặc điểm nổi bật: Chung sống hòa bình; tín đồ là nhân dân lao động; đồng hành cùng dân tộc.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2864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02. Âm mưu &amp; Thủ đoạn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Âm mưu: Dùng tôn giáo làm 'lực lượng đối trọng chính trị', quốc tế hóa tự do tôn giáo.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Thủ đoạn: Dựng tà đạo, kích động khiếu kiện đất đai, móc nối phần tử cực đoan.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32960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03. Chính sách &amp; Nguyên tắc Xây - Chống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Quan điểm Đảng &amp; Pháp luật: Điều 24 Hiến pháp 2013; Luật Tín ngưỡng, tôn giáo 2016.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Trách nhiệm công dân - sinh viên: Tuyệt đối trung thành, học tập đạo đức, bài trừ tà đạo.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etnam_pago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Không gian tôn giáo hòa bình: Việt Nam là quốc gia đa tôn giáo nhưng chưa từng xảy ra xung đột hay chiến tranh tôn giáo.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03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BỨC TRANH TOÀN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Thực trạng Tôn giáo Việt Nam hiện nay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Các Tôn giáo Lớn tại Việt Nam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Tôn giáo du nhập: Phật giáo (tín đồ đông nhất), Công giáo, Tin lành, Hồi giáo.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Tôn giáo nội sinh: Cao Đài, Phật giáo Hòa Hảo, Tịnh độ Cư sĩ Phật hội...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Sinh hoạt Tôn giáo Sôi động &amp; Tự do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Hàng năm diễn ra hàng ngàn lễ hội tôn giáo lớn (Phật đản, Giáng sinh, Vu Lan).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Đăng cai thành công Đại lễ Vesak Liên Hợp Quốc (2008, 2014, 2019).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Gần 30.000 cơ sở thờ tự được xây dựng, tu bổ khang trang trên khắp cả nước.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chu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11" y="1572768"/>
            <a:ext cx="1929113" cy="3429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Minh chứng tự do tôn giáo: Kinh sách tôn giáo được in ấn, phát hành rộng rãi bằng tiếng Việt và ngôn ngữ các dân tộc thiểu số.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04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ĐẶC ĐIỂM TÔN GIÁO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Bốn đặc điểm nổi bật của Tôn giáo tại Việt Nam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Đa tôn giáo, chung sống hòa thuận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Không có tôn giáo nào là 'quốc giáo'. Các tôn giáo bình đẳng, giao lưu và tôn trọng lẫn nhau.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20340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Tín đồ là nhân dân lao động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Đồng bào có đạo trước hết là người công dân yêu nước, gắn bó mật thiết với Tổ quốc.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67912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Truyền thống đồng hành cùng Dân tộc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Gắn bó máu thịt với sự nghiệp giải phóng dân tộc; tích cực tham gia thi đua yêu nước.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15484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4. Có mối liên hệ quốc tế rộng rãi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Nhiều tôn giáo có tổ chức quốc tế, dễ bị các thế lực xấu nhòm ngó, tác động can thiệp.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etnam_un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Sức mạnh hòa hợp: Nét đẹp văn hóa hòa hợp tôn giáo là bức tường thành vô hiệu hóa mọi toan tính chia rẽ của ngoại bang.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05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ÂM MƯU CỦA ĐỊCH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Âm mưu &amp; Thủ đoạn lợi dụng tôn giáo Chống phá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! Âm mưu Chiến lược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Biến tôn giáo thành 'lực lượng đối trọng chính trị' đối lập với Đảng và Nhà nước.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Lợi dụng chiêu bài 'tự do tôn giáo' gây sức ép quốc tế can thiệp nội bộ Việt Nam.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⚡ Bốn Thủ đoạn Nguy hiểm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Kích động tranh chấp: Xúi giục khiếu kiện đòi lại đất đai cơ sở thờ tự trái luật.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Dựng 'tà đạo, đạo lạ': Lập hội nhóm phi pháp (Hà Mòn, Tin lành Đề Ga, Pháp Luân Công...).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Lợi dụng sự cố xã hội: Kích động tuần hành trái phép, gây rối an ninh (vụ Formosa 2016).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Móc nối phần tử cực đoan: Tài trợ kinh phí cho đối tượng đội lốt tôn giáo chống phá.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cyb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1292"/>
            <a:ext cx="4602175" cy="30719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Đấu tranh trên mặt trận tư tưởng: Các thế lực xấu triệt để dùng mạng xã hội phát tán tin giả vu cáo 'đàn áp tôn giáo'.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06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QUAN ĐIỂM &amp; PHÁP LUẬT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Quan điểm của Đảng &amp; Pháp luật Nhà nước về Tôn giáo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⚖ Cơ sở Hiến định: Điều 24 Hiến pháp 2013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'Mọi người có quyền tự do tín ngưỡng, tôn giáo, theo hoặc không theo một tôn giáo nào.'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'Các tôn giáo bình đẳng trước pháp luật. Nhà nước tôn trọng và bảo hộ quyền tự do tín ngưỡng.'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'Không ai được lợi dụng tín ngưỡng, tôn giáo để vi phạm pháp luật.'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★ Quan điểm Nhất quán của Đảng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Tín ngưỡng, tôn giáo là nhu cầu tinh thần của một bộ phận nhân dân, tồn tại lâu dài.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Đồng bào các tôn giáo là bộ phận không thể tách rời của khối đại đoàn kết toàn dân tộc.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Nội dung cốt lõi của công tác tôn giáo là công tác vận động quần chúng.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la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Hành lang pháp lý minh bạch: Luật Tín ngưỡng, tôn giáo 2016 bảo vệ tối đa quyền và lợi ích hợp pháp của các tổ chức tôn giáo và tín đồ.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07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NGUYÊN TẮC THỰC 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Nguyên tắc: Kết hợp chặt chẽ giữa “XÂY” và “CHỐNG”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✓ Mặt 'XÂY' (Nhiệm vụ cơ bản, lâu dài)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Tạo điều kiện thuận lợi cho các tổ chức tôn giáo hoạt động theo hiến chương và pháp luật.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Chăm lo phát triển kinh tế, nâng cao đời sống vật chất và văn hóa vùng đồng bào có đạo.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Phát huy giá trị đạo đức tốt đẹp và nguồn lực tôn giáo tham gia các hoạt động xã hội.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✕ Mặt 'CHỐNG' (Nhiệm vụ cấp bách, thường xuyên)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Kiên quyết đấu tranh vạch trần âm mưu, thủ đoạn lợi dụng tôn giáo chống phá của địch.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Xử lý nghiêm minh theo pháp luật các hành vi lợi dụng tôn giáo để chia rẽ dân tộc.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defen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30485"/>
            <a:ext cx="4602175" cy="33135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Hài hòa tự do và pháp trị: 'Xây' để bồi đắp lòng tin và sức đề kháng; 'Chống' để giữ vững kỷ cương phép nước, bảo vệ bình yên xã hội.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08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THỰC TIỄN SINH ĐỘNG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Đồng bào các tôn giáo Đồng hành cùng Dân tộc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❤ Đóng góp To lớn trong An sinh Xã hội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Các tổ chức tôn giáo điều hành hàng trăm cơ sở bảo trợ xã hội, trường mầm non, phòng khám.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Quyên góp hàng ngàn tỷ đồng hỗ trợ người nghèo, cứu trợ bão lũ thiên tai hàng năm.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★ Tinh thần Dấn thân trong Biến cố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Trong đại dịch COVID-19, hàng ngàn tu sĩ, linh mục, tăng ni tình nguyện 'cởi áo cà sa, khoác áo blouse' xung phong vào tuyến đầu chống dịch tại tâm dịch miền Nam.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cul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49088"/>
            <a:ext cx="4602175" cy="28763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Tốt đời đẹp đạo: Những nghĩa cử nhân ái là minh chứng cho truyền thống bác ái, từ bi hòa quyện cùng lòng yêu nước của dân tộc Việt Nam.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09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Sơ đồ tư duy: Tình hình tôn giáo &amp; Chính sách Đảng, Nhà nước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4790" y="1389888"/>
            <a:ext cx="9601200" cy="777240"/>
          </a:xfrm>
          <a:prstGeom prst="roundRect">
            <a:avLst/>
          </a:prstGeom>
          <a:solidFill>
            <a:srgbClr val="00254A"/>
          </a:solidFill>
          <a:ln w="317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TÌNH HÌNH TÔN GIÁO &amp; CHÍNH SÁCH TÔN GIÁO CỦA ĐẢNG, NHÀ NƯỚC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1. THỰC TRẠNG &amp; ĐẶC ĐIỂM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16 tôn giáo, 27 triệu tín đồ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Chung sống hòa thuận, không xung đột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Tín đồ là nhân dân lao động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Đồng hành cùng dân tộc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2. ÂM MƯU CỦA ĐỊCH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Tạo lực lượng đối trọng chính trị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Kích động khiếu kiện đất đai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Dựng tà đạo phi pháp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Quốc tế hóa vu cáo đàn áp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3. QUAN ĐIỂM &amp; LUẬT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Điều 24 Hiến pháp 2013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Luật Tín ngưỡng, tôn giáo 2016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Nhu cầu tinh thần tồn tại lâu dài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Cốt lõi là vận động quần chúng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4. NGUYÊN TẮC THỰC THI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Mặt XÂY: Tạo điều kiện hợp pháp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Mặt CHỐNG: Xử nghiêm kẻ lợi dụng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Đoàn kết Lương - Giáo keo sơn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94415" cy="6400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B70"/>
                </a:solidFill>
                <a:latin typeface="Times New Roman"/>
              </a:defRPr>
            </a:pPr>
            <a:r>
              <a:t>★ Tôn trọng tự do tín ngưỡng chân chính - Kiên quyết trừng trị hành vi lợi dụng tôn giáo chống phá đất nước.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10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TRÁCH NHIỆM CÔNG DÂN - SINH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Trách nhiệm của sinh viên Đại học Đại Nam (DNU)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Tuyệt đối Trung thành với Đảng, Nhà nước &amp; Tổ quốc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Kiên định mục tiêu độc lập dân tộc gắn liền với Chủ nghĩa xã hội; chấp hành nghiêm chỉnh đường lối của Đảng, chính sách và pháp luật của Nhà nước.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572768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Tích cực Học tập, Tu dưỡng Đạo đức Cách mạng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Rèn luyện bản lĩnh chính trị vững vàng, trau dồi tri thức khoa học, nâng cao trình độ chuyên môn; hoàn thành xuất sắc nhiệm vụ rèn luyện tại Nhà trường.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Nêu cao Tinh thần Cảnh giác Cách mạng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Chủ động phòng ngừa và kiên quyết đấu tranh phản bác các quan điểm sai trái, thù địch; không chia sẻ thông tin xấu độc kích động chia rẽ dân tộc.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977639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4. Xung kích Tham gia Bảo vệ An ninh Tổ quốc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Gương mẫu trong phong trào toàn dân bảo vệ an ninh Tổ quốc tại học đường và nơi cư trú; sẵn sàng thực hiện nghĩa vụ quân sự bảo vệ vững chắc Tổ quốc.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11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Mini Game: Đố vui củng cố kiến thức Vấn đề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94415" cy="105156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CÂU HỎI: Điều 24 Hiến pháp năm 2013 của nước ta quy định quyền gì đối với mọi công dân?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A. Quyền tự do cư trú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78892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B. Quyền tự do tín ngưỡng, tôn giáo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C. Quyền tự do kinh doanh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97764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D. Quyền lao động và học tập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4415" cy="9601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5F46"/>
                </a:solidFill>
                <a:latin typeface="Times New Roman"/>
              </a:defRPr>
            </a:pPr>
            <a:r>
              <a:t>ĐÁP ÁN ĐÚNG &amp; GIẢI THÍCH: B. Điều 24 khẳng định: Mọi người có quyền tự do tín ngưỡng, tôn giáo, theo hoặc không theo một tôn giáo nào. Các tôn giáo bình đẳng trước pháp luật.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0911535" cy="5760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374" y="777240"/>
            <a:ext cx="1850745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7772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TRƯỜNG ĐẠI HỌC ĐẠI NAM  •  HỌC ĐỂ THAY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7021"/>
                </a:solidFill>
                <a:latin typeface="Times New Roman"/>
              </a:defRPr>
            </a:pPr>
            <a:r>
              <a:t>XIN TRÂN TRỌNG CẢM ƠN!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800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54A"/>
                </a:solidFill>
                <a:latin typeface="Times New Roman"/>
              </a:defRPr>
            </a:pPr>
            <a:r>
              <a:t>Kính chúc Thầy/Cô và các bạn sinh viên luôn dồi dào sức khỏe, hạnh phúc và thành công!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Nhóm 4 xin chân thành cảm ơn Thầy/Cô giảng viên bộ môn Giáo dục Quốc phòng &amp; An ninh cùng toàn thể các bạn sinh viên lớp học phần đã chú ý theo dõi và lắng nghe bài thuyết trình của nhóm.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657600"/>
            <a:ext cx="9631375" cy="1417320"/>
          </a:xfrm>
          <a:prstGeom prst="roundRect">
            <a:avLst/>
          </a:prstGeom>
          <a:solidFill>
            <a:srgbClr val="EBF3FA"/>
          </a:solidFill>
          <a:ln w="3175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400" b="1">
                <a:solidFill>
                  <a:srgbClr val="003B70"/>
                </a:solidFill>
                <a:latin typeface="Times New Roman"/>
              </a:defRPr>
            </a:pPr>
            <a:r>
              <a:t>★ THÔNG ĐIỆP BẾ MẠC:</a:t>
            </a:r>
          </a:p>
          <a:p>
            <a:pPr>
              <a:defRPr sz="1700" b="1" i="1">
                <a:solidFill>
                  <a:srgbClr val="00254A"/>
                </a:solidFill>
                <a:latin typeface="Times New Roman"/>
              </a:defRPr>
            </a:pPr>
            <a:r>
              <a:t>"Đạo đời hòa quyện, đồng hành cùng dân tộc - Đồng bào các tôn giáo chung tay xây dựng nước Việt Nam dân giàu, nước mạnh, dân chủ, công bằng, văn minh!"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101800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t>Nhóm 4 (Lớp GDQP-AN)   •   Khoa Giáo dục Quốc phòng &amp; An ninh   •   Trường Đại học Đại Nam</a:t>
            </a:r>
          </a:p>
          <a:p>
            <a:pPr algn="ctr">
              <a:defRPr sz="1400" b="1">
                <a:solidFill>
                  <a:srgbClr val="F37021"/>
                </a:solidFill>
                <a:latin typeface="Times New Roman"/>
              </a:defRPr>
            </a:pPr>
            <a:r>
              <a:t>HỌC ĐỂ THAY ĐỔI   •   http://dainam.edu.vn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