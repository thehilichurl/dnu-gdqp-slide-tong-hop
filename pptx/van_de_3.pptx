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03</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TÌNH HÌNH DÂN TỘC Ở VIỆT NAM, ÂM MƯU THỦ ĐOẠN CỦA ĐỊCH VÀ CHÍNH SÁCH CỦA ĐẢNG, NHÀ NƯỚC</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3 (Lớp GDQP-AN)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02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Đặc điểm Dân tộc VN</a:t>
            </a:r>
          </a:p>
          <a:p>
            <a:pPr>
              <a:defRPr sz="1700">
                <a:solidFill>
                  <a:srgbClr val="1E293B"/>
                </a:solidFill>
                <a:latin typeface="Times New Roman"/>
              </a:defRPr>
            </a:pPr>
            <a:r>
              <a:t>• 54 dân tộc anh em; dân tộc Kinh chiếm 85,3%, 53 dân tộc thiểu số chiếm 14,7% dân số.</a:t>
            </a:r>
          </a:p>
          <a:p>
            <a:pPr>
              <a:defRPr sz="1700">
                <a:solidFill>
                  <a:srgbClr val="1E293B"/>
                </a:solidFill>
                <a:latin typeface="Times New Roman"/>
              </a:defRPr>
            </a:pPr>
            <a:r>
              <a:t>• 4 đặc điểm nổi bật: Đoàn kết keo sơn; địa bàn chiến lược biên giới; chênh lệch trình độ; văn hóa đa dạng.</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Âm mưu &amp; Thủ đoạn</a:t>
            </a:r>
          </a:p>
          <a:p>
            <a:pPr>
              <a:defRPr sz="1700">
                <a:solidFill>
                  <a:srgbClr val="1E293B"/>
                </a:solidFill>
                <a:latin typeface="Times New Roman"/>
              </a:defRPr>
            </a:pPr>
            <a:r>
              <a:t>• Âm mưu thù địch: Dùng dân tộc làm 'ngòi nổ' Diễn biến hòa bình, kích động ly khai, tự trị.</a:t>
            </a:r>
          </a:p>
          <a:p>
            <a:pPr>
              <a:defRPr sz="1700">
                <a:solidFill>
                  <a:srgbClr val="1E293B"/>
                </a:solidFill>
                <a:latin typeface="Times New Roman"/>
              </a:defRPr>
            </a:pPr>
            <a:r>
              <a:t>• Thủ đoạn: Dựng tổ chức phản động (Đề Ga, Chămpa); gây bạo loạn Tây Nguyên.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Chính sách &amp; Trách nhiệm</a:t>
            </a:r>
          </a:p>
          <a:p>
            <a:pPr>
              <a:defRPr sz="1700">
                <a:solidFill>
                  <a:srgbClr val="1E293B"/>
                </a:solidFill>
                <a:latin typeface="Times New Roman"/>
              </a:defRPr>
            </a:pPr>
            <a:r>
              <a:t>• Đường lối Đảng, Nhà nước: Hiến pháp 2013; nguyên tắc bình đẳng, đoàn kết, tôn trọng, tương trợ.</a:t>
            </a:r>
          </a:p>
          <a:p>
            <a:pPr>
              <a:defRPr sz="1700">
                <a:solidFill>
                  <a:srgbClr val="1E293B"/>
                </a:solidFill>
                <a:latin typeface="Times New Roman"/>
              </a:defRPr>
            </a:pPr>
            <a:r>
              <a:t>• Trách nhiệm công dân - sinh viên: Tuyệt đối trung thành, học tập rèn luyện, bảo vệ biên cương.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Vị trí chiến lược: Vùng đồng bào DTTS chiếm 3/4 diện tích tự nhiên, án ngữ địa bàn phòng thủ xung yếu dọc biên giới, giữ vai trò đặc biệt trọng yếu đối với quốc phòng an ninh.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03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BỨC TRANH TOÀN CẢNH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Bức tranh toàn cảnh Dân tộc tại Việt Nam</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Quy mô &amp; Cơ cấu dân cư</a:t>
            </a:r>
          </a:p>
          <a:p>
            <a:pPr>
              <a:defRPr sz="1700">
                <a:solidFill>
                  <a:srgbClr val="1E293B"/>
                </a:solidFill>
                <a:latin typeface="Times New Roman"/>
              </a:defRPr>
            </a:pPr>
            <a:r>
              <a:t>• 54 Dân tộc anh em: Người Kinh phân bố chủ yếu ở đồng bằng, duyên hải và đô thị.</a:t>
            </a:r>
          </a:p>
          <a:p>
            <a:pPr>
              <a:defRPr sz="1700">
                <a:solidFill>
                  <a:srgbClr val="1E293B"/>
                </a:solidFill>
                <a:latin typeface="Times New Roman"/>
              </a:defRPr>
            </a:pPr>
            <a:r>
              <a:t>• 53 Dân tộc thiểu số (14,4+ triệu người) cư trú ở miền núi phía Bắc, Tây Nguyên, Tây Nam Bộ.</a:t>
            </a:r>
          </a:p>
          <a:p>
            <a:pPr>
              <a:defRPr sz="1700">
                <a:solidFill>
                  <a:srgbClr val="1E293B"/>
                </a:solidFill>
                <a:latin typeface="Times New Roman"/>
              </a:defRPr>
            </a:pPr>
            <a:r>
              <a:t>• Các dân tộc trên 1 triệu người: Tày, Thái, Mường, H'Mông, Khmer, Nùng.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Truyền thống gắn kết keo sơn</a:t>
            </a:r>
          </a:p>
          <a:p>
            <a:pPr>
              <a:defRPr sz="1700">
                <a:solidFill>
                  <a:srgbClr val="1E293B"/>
                </a:solidFill>
                <a:latin typeface="Times New Roman"/>
              </a:defRPr>
            </a:pPr>
            <a:r>
              <a:t>• Các dân tộc cùng chia ngọt sẻ bùi, kề vai sát cánh chống giặc ngoại xâm suốt chiều dài lịch sử.</a:t>
            </a:r>
          </a:p>
          <a:p>
            <a:pPr>
              <a:defRPr sz="1700">
                <a:solidFill>
                  <a:srgbClr val="1E293B"/>
                </a:solidFill>
                <a:latin typeface="Times New Roman"/>
              </a:defRPr>
            </a:pPr>
            <a:r>
              <a:t>• Không có hận thù sắc tộc; chung một cội nguồn và ý thức tự hào Tổ quốc Việt Nam.</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ethnic_people_real.jpg"/>
          <p:cNvPicPr>
            <a:picLocks noChangeAspect="1"/>
          </p:cNvPicPr>
          <p:nvPr/>
        </p:nvPicPr>
        <p:blipFill>
          <a:blip r:embed="rId3"/>
          <a:stretch>
            <a:fillRect/>
          </a:stretch>
        </p:blipFill>
        <p:spPr>
          <a:xfrm>
            <a:off x="8044179" y="1572768"/>
            <a:ext cx="2595576"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54 Dân tộc - Một ý chí Việt Nam: Dù tiếng nói và trang phục mang nét đặc trưng riêng, đồng bào các dân tộc luôn một lòng son sắt đi theo Đảng và Bác Hồ.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04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ĐẶC ĐIỂM DÂN TỘC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đặc điểm nổi bật của Dân tộc ở Việt Nam</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Chênh lệch trình độ phát triển</a:t>
            </a:r>
          </a:p>
          <a:p>
            <a:pPr>
              <a:defRPr sz="1700">
                <a:solidFill>
                  <a:srgbClr val="1E293B"/>
                </a:solidFill>
                <a:latin typeface="Times New Roman"/>
              </a:defRPr>
            </a:pPr>
            <a:r>
              <a:t>• Do địa hình hiểm trở, xuất phát điểm thấp, tỷ lệ hộ nghèo vùng DTTS còn cao hơn bình quân cả nước.</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Cư trú xen kẽ, phân tán</a:t>
            </a:r>
          </a:p>
          <a:p>
            <a:pPr>
              <a:defRPr sz="1700">
                <a:solidFill>
                  <a:srgbClr val="1E293B"/>
                </a:solidFill>
                <a:latin typeface="Times New Roman"/>
              </a:defRPr>
            </a:pPr>
            <a:r>
              <a:t>• Không có lãnh thổ tộc người riêng biệt; các dân tộc sinh sống xen kẽ trong bản làng, giao lưu văn hóa mật thiết.</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Án ngữ địa bàn chiến lược xung yếu</a:t>
            </a:r>
          </a:p>
          <a:p>
            <a:pPr>
              <a:defRPr sz="1700">
                <a:solidFill>
                  <a:srgbClr val="1E293B"/>
                </a:solidFill>
                <a:latin typeface="Times New Roman"/>
              </a:defRPr>
            </a:pPr>
            <a:r>
              <a:t>• Vùng DTTS nắm giữ vị trí 'phên dậu' biên giới quốc gia, có tài nguyên rừng và khoáng sản vô cùng to lớn.</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Bản sắc văn hóa đa dạng, thống nhất</a:t>
            </a:r>
          </a:p>
          <a:p>
            <a:pPr>
              <a:defRPr sz="1700">
                <a:solidFill>
                  <a:srgbClr val="1E293B"/>
                </a:solidFill>
                <a:latin typeface="Times New Roman"/>
              </a:defRPr>
            </a:pPr>
            <a:r>
              <a:t>• Mỗi dân tộc sở hữu kho tàng văn hóa độc đáo nhưng hòa quyện trong nền văn hóa Việt Nam tiên tiến.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Địa bàn xung yếu: Vấn đề dân tộc có vị trí chiến lược đặc biệt. Chăm lo cho đồng bào chính là củng cố vững chắc quốc phòng và an ninh Tổ quốc.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05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ÂM MƯU CỦA ĐỊCH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&amp; Thủ đoạn lợi dụng vấn đề dân tộc Chống phá</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Âm mưu Thâm độc</a:t>
            </a:r>
          </a:p>
          <a:p>
            <a:pPr>
              <a:defRPr sz="1700">
                <a:solidFill>
                  <a:srgbClr val="1E293B"/>
                </a:solidFill>
                <a:latin typeface="Times New Roman"/>
              </a:defRPr>
            </a:pPr>
            <a:r>
              <a:t>• Lấy vấn đề dân tộc làm 'ngòi nổ' kích động bạo loạn, phá vỡ khối đại đoàn kết toàn dân.</a:t>
            </a:r>
          </a:p>
          <a:p>
            <a:pPr>
              <a:defRPr sz="1700">
                <a:solidFill>
                  <a:srgbClr val="1E293B"/>
                </a:solidFill>
                <a:latin typeface="Times New Roman"/>
              </a:defRPr>
            </a:pPr>
            <a:r>
              <a:t>• Quốc tế hóa vấn đề dân tộc, vu cáo vi phạm nhân quyền để tạo cớ can thiệp ngoại giao, quân sự.</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Bốn Thủ đoạn Nguy hiểm</a:t>
            </a:r>
          </a:p>
          <a:p>
            <a:pPr>
              <a:defRPr sz="1700">
                <a:solidFill>
                  <a:srgbClr val="1E293B"/>
                </a:solidFill>
                <a:latin typeface="Times New Roman"/>
              </a:defRPr>
            </a:pPr>
            <a:r>
              <a:t>• Kích động ly khai: Đòi lập 'Nhà nước Đề Ga', 'Nhà nước Mông', 'Nhà nước Chămpa'.</a:t>
            </a:r>
          </a:p>
          <a:p>
            <a:pPr>
              <a:defRPr sz="1700">
                <a:solidFill>
                  <a:srgbClr val="1E293B"/>
                </a:solidFill>
                <a:latin typeface="Times New Roman"/>
              </a:defRPr>
            </a:pPr>
            <a:r>
              <a:t>• Xuyên tạc lịch sử: Kích động hằn thù quá khứ, vu cáo người Kinh 'cướp đất'.</a:t>
            </a:r>
          </a:p>
          <a:p>
            <a:pPr>
              <a:defRPr sz="1700">
                <a:solidFill>
                  <a:srgbClr val="1E293B"/>
                </a:solidFill>
                <a:latin typeface="Times New Roman"/>
              </a:defRPr>
            </a:pPr>
            <a:r>
              <a:t>• Lợi dụng truyền đạo trái phép: Dựng tà đạo tập hợp lực lượng biểu tình chống chính quyền.</a:t>
            </a:r>
          </a:p>
          <a:p>
            <a:pPr>
              <a:defRPr sz="1700">
                <a:solidFill>
                  <a:srgbClr val="1E293B"/>
                </a:solidFill>
                <a:latin typeface="Times New Roman"/>
              </a:defRPr>
            </a:pPr>
            <a:r>
              <a:t>• Mua chuộc cán bộ: Lôi kéo phần tử cơ hội, biến chất làm tay sai.</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Cảnh giác giữ vững biên cương: Lực lượng vũ trang cùng đồng bào luôn nêu cao tinh thần cảnh giác, đập tan mọi âm mưu chia rẽ.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06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QUAN ĐIỂM &amp; PHÁP LUẬT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Quan điểm của Đảng &amp; Pháp luật Nhà nước về Dân tộc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Cơ sở Hiến định: Điều 5 Hiến pháp 2013</a:t>
            </a:r>
          </a:p>
          <a:p>
            <a:pPr>
              <a:defRPr sz="1700">
                <a:solidFill>
                  <a:srgbClr val="1E293B"/>
                </a:solidFill>
                <a:latin typeface="Times New Roman"/>
              </a:defRPr>
            </a:pPr>
            <a:r>
              <a:t>• 'Nước CHXHCN Việt Nam là quốc gia thống nhất của các dân tộc cùng sinh sống trên đất nước Việt Nam.'</a:t>
            </a:r>
          </a:p>
          <a:p>
            <a:pPr>
              <a:defRPr sz="1700">
                <a:solidFill>
                  <a:srgbClr val="1E293B"/>
                </a:solidFill>
                <a:latin typeface="Times New Roman"/>
              </a:defRPr>
            </a:pPr>
            <a:r>
              <a:t>• 'Các dân tộc bình đẳng, đoàn kết, tôn trọng và giúp nhau cùng phát triển; nghiêm cấm mọi hành vi kỳ thị, chia rẽ dân tộc.'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Quan điểm Nhất quán của Đảng</a:t>
            </a:r>
          </a:p>
          <a:p>
            <a:pPr>
              <a:defRPr sz="1700">
                <a:solidFill>
                  <a:srgbClr val="1E293B"/>
                </a:solidFill>
                <a:latin typeface="Times New Roman"/>
              </a:defRPr>
            </a:pPr>
            <a:r>
              <a:t>• Vấn đề dân tộc và công tác dân tộc có vị trí chiến lược lâu dài trong sự nghiệp cách mạng.</a:t>
            </a:r>
          </a:p>
          <a:p>
            <a:pPr>
              <a:defRPr sz="1700">
                <a:solidFill>
                  <a:srgbClr val="1E293B"/>
                </a:solidFill>
                <a:latin typeface="Times New Roman"/>
              </a:defRPr>
            </a:pPr>
            <a:r>
              <a:t>• Phát triển toàn diện chính trị, kinh tế, văn hóa, xã hội và quốc phòng, an ninh trên địa bàn.</a:t>
            </a:r>
          </a:p>
          <a:p>
            <a:pPr>
              <a:defRPr sz="1700">
                <a:solidFill>
                  <a:srgbClr val="1E293B"/>
                </a:solidFill>
                <a:latin typeface="Times New Roman"/>
              </a:defRPr>
            </a:pPr>
            <a:r>
              <a:t>• Ưu tiên đầu tư nguồn lực phát triển kết cấu hạ tầng, xóa đói giảm nghèo bền vững.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Pháp quyền Xã hội Chủ nghĩa: Bảo đảm quyền bình đẳng tuyệt đối giữa các dân tộc; nghiêm trị mọi hành vi phân biệt đối xử và chia rẽ khối đoàn kết.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07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CHÍNH SÁCH DÂN TỘC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Chính sách dân tộc trên Các lĩnh vực trọng yếu</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Chính trị &amp; Văn hóa</a:t>
            </a:r>
          </a:p>
          <a:p>
            <a:pPr>
              <a:defRPr sz="1700">
                <a:solidFill>
                  <a:srgbClr val="1E293B"/>
                </a:solidFill>
                <a:latin typeface="Times New Roman"/>
              </a:defRPr>
            </a:pPr>
            <a:r>
              <a:t>• Chính trị: Thực hiện quyền làm chủ; quy hoạch, đào tạo và bố trí cán bộ là người DTTS.</a:t>
            </a:r>
          </a:p>
          <a:p>
            <a:pPr>
              <a:defRPr sz="1700">
                <a:solidFill>
                  <a:srgbClr val="1E293B"/>
                </a:solidFill>
                <a:latin typeface="Times New Roman"/>
              </a:defRPr>
            </a:pPr>
            <a:r>
              <a:t>• Văn hóa: Giữ gìn và phát huy bản sắc; bảo tồn tiếng nói, chữ viết, lễ hội truyền thống; bài trừ hủ tục.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Kinh tế &amp; Quốc phòng</a:t>
            </a:r>
          </a:p>
          <a:p>
            <a:pPr>
              <a:defRPr sz="1700">
                <a:solidFill>
                  <a:srgbClr val="1E293B"/>
                </a:solidFill>
                <a:latin typeface="Times New Roman"/>
              </a:defRPr>
            </a:pPr>
            <a:r>
              <a:t>• Kinh tế: Triển khai Chương trình Mục tiêu Quốc gia phát triển KT-XH vùng đồng bào DTTS (2021-2030).</a:t>
            </a:r>
          </a:p>
          <a:p>
            <a:pPr>
              <a:defRPr sz="1700">
                <a:solidFill>
                  <a:srgbClr val="1E293B"/>
                </a:solidFill>
                <a:latin typeface="Times New Roman"/>
              </a:defRPr>
            </a:pPr>
            <a:r>
              <a:t>• Quốc phòng - An ninh: Xây dựng 'thế trận lòng dân', củng cố phòng thủ biên giới, bảo vệ chủ quyền.</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Nông thôn miền núi đổi mới: Tỷ lệ hộ nghèo giảm nhanh, trường học, trạm y tế, đường bê tông vươn tới 100% các xã vùng cao, củng cố niềm tin với Đảng.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08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Bài học thực tiễn: Đập tan âm mưu tại Tây Nguyên</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Các Vụ việc Gây rối Bạo loạn Điển hình</a:t>
            </a:r>
          </a:p>
          <a:p>
            <a:pPr>
              <a:defRPr sz="1700">
                <a:solidFill>
                  <a:srgbClr val="1E293B"/>
                </a:solidFill>
                <a:latin typeface="Times New Roman"/>
              </a:defRPr>
            </a:pPr>
            <a:r>
              <a:t>• Bạo loạn 2001, 2004: FULRO lưu vong (Ksor Kơk) kích động biểu tình đòi lập 'Nhà nước Đề Ga'.</a:t>
            </a:r>
          </a:p>
          <a:p>
            <a:pPr>
              <a:defRPr sz="1700">
                <a:solidFill>
                  <a:srgbClr val="1E293B"/>
                </a:solidFill>
                <a:latin typeface="Times New Roman"/>
              </a:defRPr>
            </a:pPr>
            <a:r>
              <a:t>• Khủng bố tại Đắk Lắk (11/6/2023): Nhóm vũ trang tấn công trụ sở xã, sát hại cán bộ và nhân dân dã man.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Xương máu</a:t>
            </a:r>
          </a:p>
          <a:p>
            <a:pPr>
              <a:defRPr sz="1700">
                <a:solidFill>
                  <a:srgbClr val="1E293B"/>
                </a:solidFill>
                <a:latin typeface="Times New Roman"/>
              </a:defRPr>
            </a:pPr>
            <a:r>
              <a:t>• Bám sát cơ sở: Nắm chắc tâm tư, giải quyết kịp thời nguyện vọng chính đáng của bà con.</a:t>
            </a:r>
          </a:p>
          <a:p>
            <a:pPr>
              <a:defRPr sz="1700">
                <a:solidFill>
                  <a:srgbClr val="1E293B"/>
                </a:solidFill>
                <a:latin typeface="Times New Roman"/>
              </a:defRPr>
            </a:pPr>
            <a:r>
              <a:t>• Củng cố thế trận lòng dân: Đẩy mạnh dân vận, dựa vào Già làng, Trưởng bản có uy tín.</a:t>
            </a:r>
          </a:p>
          <a:p>
            <a:pPr>
              <a:defRPr sz="1700">
                <a:solidFill>
                  <a:srgbClr val="1E293B"/>
                </a:solidFill>
                <a:latin typeface="Times New Roman"/>
              </a:defRPr>
            </a:pPr>
            <a:r>
              <a:t>• Xử lý kiên quyết, nhân văn: Trừng trị nghiêm kẻ cầm đầu; khoan hồng người bị lừa phỉnh.</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Tây Nguyên bình yên: Nhờ cả hệ thống chính trị vào cuộc và sự đồng lòng của đồng bào, âm mưu lập 'Nhà nước Đề Ga' hoàn toàn bị đập tan.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09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Tình hình dân tộc &amp; Chính sách Đảng, Nhà nước</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TÌNH HÌNH DÂN TỘC &amp; CHÍNH SÁCH DÂN TỘC CỦA ĐẢNG, NHÀ NƯỚC</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BỐN ĐẶC ĐIỂM</a:t>
            </a:r>
          </a:p>
          <a:p>
            <a:pPr>
              <a:defRPr sz="1600">
                <a:solidFill>
                  <a:srgbClr val="1E293B"/>
                </a:solidFill>
                <a:latin typeface="Times New Roman"/>
              </a:defRPr>
            </a:pPr>
            <a:r>
              <a:t>• Chênh lệch trình độ phát triển</a:t>
            </a:r>
          </a:p>
          <a:p>
            <a:pPr>
              <a:defRPr sz="1600">
                <a:solidFill>
                  <a:srgbClr val="1E293B"/>
                </a:solidFill>
                <a:latin typeface="Times New Roman"/>
              </a:defRPr>
            </a:pPr>
            <a:r>
              <a:t>• Cư trú xen kẽ, phân tán</a:t>
            </a:r>
          </a:p>
          <a:p>
            <a:pPr>
              <a:defRPr sz="1600">
                <a:solidFill>
                  <a:srgbClr val="1E293B"/>
                </a:solidFill>
                <a:latin typeface="Times New Roman"/>
              </a:defRPr>
            </a:pPr>
            <a:r>
              <a:t>• Địa bàn xung yếu biên cương</a:t>
            </a:r>
          </a:p>
          <a:p>
            <a:pPr>
              <a:defRPr sz="1600">
                <a:solidFill>
                  <a:srgbClr val="1E293B"/>
                </a:solidFill>
                <a:latin typeface="Times New Roman"/>
              </a:defRPr>
            </a:pPr>
            <a:r>
              <a:t>• Văn hóa đa dạng, thống nhất</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ÂM MƯU CỦA ĐỊCH</a:t>
            </a:r>
          </a:p>
          <a:p>
            <a:pPr>
              <a:defRPr sz="1600">
                <a:solidFill>
                  <a:srgbClr val="1E293B"/>
                </a:solidFill>
                <a:latin typeface="Times New Roman"/>
              </a:defRPr>
            </a:pPr>
            <a:r>
              <a:t>• Lấy dân tộc làm 'ngòi nổ'</a:t>
            </a:r>
          </a:p>
          <a:p>
            <a:pPr>
              <a:defRPr sz="1600">
                <a:solidFill>
                  <a:srgbClr val="1E293B"/>
                </a:solidFill>
                <a:latin typeface="Times New Roman"/>
              </a:defRPr>
            </a:pPr>
            <a:r>
              <a:t>• Dựng 'Nhà nước Đề Ga, Chămpa'</a:t>
            </a:r>
          </a:p>
          <a:p>
            <a:pPr>
              <a:defRPr sz="1600">
                <a:solidFill>
                  <a:srgbClr val="1E293B"/>
                </a:solidFill>
                <a:latin typeface="Times New Roman"/>
              </a:defRPr>
            </a:pPr>
            <a:r>
              <a:t>• Kích động ly khai, tự trị</a:t>
            </a:r>
          </a:p>
          <a:p>
            <a:pPr>
              <a:defRPr sz="1600">
                <a:solidFill>
                  <a:srgbClr val="1E293B"/>
                </a:solidFill>
                <a:latin typeface="Times New Roman"/>
              </a:defRPr>
            </a:pPr>
            <a:r>
              <a:t>• Quốc tế hóa vu cáo nhân quyền</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QUAN ĐIỂM &amp; LUẬT</a:t>
            </a:r>
          </a:p>
          <a:p>
            <a:pPr>
              <a:defRPr sz="1600">
                <a:solidFill>
                  <a:srgbClr val="1E293B"/>
                </a:solidFill>
                <a:latin typeface="Times New Roman"/>
              </a:defRPr>
            </a:pPr>
            <a:r>
              <a:t>• Điều 5 Hiến pháp 2013</a:t>
            </a:r>
          </a:p>
          <a:p>
            <a:pPr>
              <a:defRPr sz="1600">
                <a:solidFill>
                  <a:srgbClr val="1E293B"/>
                </a:solidFill>
                <a:latin typeface="Times New Roman"/>
              </a:defRPr>
            </a:pPr>
            <a:r>
              <a:t>• Bình đẳng, đoàn kết, tương trợ</a:t>
            </a:r>
          </a:p>
          <a:p>
            <a:pPr>
              <a:defRPr sz="1600">
                <a:solidFill>
                  <a:srgbClr val="1E293B"/>
                </a:solidFill>
                <a:latin typeface="Times New Roman"/>
              </a:defRPr>
            </a:pPr>
            <a:r>
              <a:t>• Nghiêm cấm kỳ thị, chia rẽ</a:t>
            </a:r>
          </a:p>
          <a:p>
            <a:pPr>
              <a:defRPr sz="1600">
                <a:solidFill>
                  <a:srgbClr val="1E293B"/>
                </a:solidFill>
                <a:latin typeface="Times New Roman"/>
              </a:defRPr>
            </a:pPr>
            <a:r>
              <a:t>• Phát triển toàn diện các mặt</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CHÍNH SÁCH 4 LĨNH VỰC</a:t>
            </a:r>
          </a:p>
          <a:p>
            <a:pPr>
              <a:defRPr sz="1600">
                <a:solidFill>
                  <a:srgbClr val="1E293B"/>
                </a:solidFill>
                <a:latin typeface="Times New Roman"/>
              </a:defRPr>
            </a:pPr>
            <a:r>
              <a:t>• Chính trị: Đào tạo cán bộ DTTS</a:t>
            </a:r>
          </a:p>
          <a:p>
            <a:pPr>
              <a:defRPr sz="1600">
                <a:solidFill>
                  <a:srgbClr val="1E293B"/>
                </a:solidFill>
                <a:latin typeface="Times New Roman"/>
              </a:defRPr>
            </a:pPr>
            <a:r>
              <a:t>• Kinh tế: Đầu tư kết cấu hạ tầng</a:t>
            </a:r>
          </a:p>
          <a:p>
            <a:pPr>
              <a:defRPr sz="1600">
                <a:solidFill>
                  <a:srgbClr val="1E293B"/>
                </a:solidFill>
                <a:latin typeface="Times New Roman"/>
              </a:defRPr>
            </a:pPr>
            <a:r>
              <a:t>• Văn hóa: Bảo tồn bản sắc tốt đẹp</a:t>
            </a:r>
          </a:p>
          <a:p>
            <a:pPr>
              <a:defRPr sz="1600">
                <a:solidFill>
                  <a:srgbClr val="1E293B"/>
                </a:solidFill>
                <a:latin typeface="Times New Roman"/>
              </a:defRPr>
            </a:pPr>
            <a:r>
              <a:t>• Quốc phòng: Xây dựng lòng dân</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Giữ vững thế trận lòng dân vùng biên giới là chìa khóa bảo vệ vững chắc độc lập, chủ quyền Tổ quốc.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10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11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3</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Hiến pháp năm 2013 của nước CHXHCN Việt Nam quy định về nguyên tắc quan hệ giữa các dân tộc tại Điều mấy?</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Điều 2</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Điều 5</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Điều 24</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Điều 68</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B. Điều 5 khẳng định: Nước CHXHCN Việt Nam là quốc gia thống nhất của các dân tộc; các dân tộc bình đẳng, đoàn kết, tôn trọng và giúp nhau cùng phát triển.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3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"Chăm lo phát triển toàn diện và bảo vệ vững chắc vùng đồng bào các dân tộc thiểu số là củng cố nền tảng quốc phòng, an ninh và tương lai giàu mạnh của Tổ quốc!"</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3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